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063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09-d2nfap98bjvh7rlj0ieg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rot="5400000">
            <a:off x="3017799" y="-3017800"/>
            <a:ext cx="6156401" cy="1219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609578"/>
            <a:ext cx="12192000" cy="2357278"/>
          </a:xfrm>
          <a:prstGeom prst="rect">
            <a:avLst/>
          </a:prstGeom>
          <a:solidFill>
            <a:srgbClr val="161616"/>
          </a:solidFill>
          <a:ln w="12700">
            <a:solidFill>
              <a:srgbClr val="09111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4609578"/>
            <a:ext cx="12192000" cy="235727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30466" y="5184885"/>
            <a:ext cx="6077403" cy="7078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Day 5 GROUP BY &amp; Aggs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959231" y="5662019"/>
            <a:ext cx="2254685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Sean Wong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83268" y="6038379"/>
            <a:ext cx="4208732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2025/08/04</a:t>
            </a:r>
            <a:endParaRPr lang="en-US" sz="1600" dirty="0"/>
          </a:p>
        </p:txBody>
      </p:sp>
      <p:pic>
        <p:nvPicPr>
          <p:cNvPr id="8" name="Image 1" descr="https://kimi-img.moonshot.cn/pub/slides/slides_tmpl/image/25-08-27-20:09:02-d2nfanh8bjvh7rlj0h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8741" y="5110209"/>
            <a:ext cx="1323439" cy="1323439"/>
          </a:xfrm>
          <a:prstGeom prst="rect">
            <a:avLst/>
          </a:prstGeom>
        </p:spPr>
      </p:pic>
      <p:pic>
        <p:nvPicPr>
          <p:cNvPr id="9" name="Image 2" descr="https://kimi-img.moonshot.cn/pub/slides/slides_tmpl/image/25-08-27-20:09:02-d2nfanh8bjvh7rlj0hu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387" y="5136798"/>
            <a:ext cx="463139" cy="463139"/>
          </a:xfrm>
          <a:prstGeom prst="rect">
            <a:avLst/>
          </a:prstGeom>
        </p:spPr>
      </p:pic>
      <p:pic>
        <p:nvPicPr>
          <p:cNvPr id="10" name="Image 3" descr="https://kimi-img.moonshot.cn/pub/slides/slides_tmpl/image/25-08-27-20:09:02-d2nfanh8bjvh7rlj0hu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70" y="3069032"/>
            <a:ext cx="2420888" cy="2420888"/>
          </a:xfrm>
          <a:prstGeom prst="rect">
            <a:avLst/>
          </a:prstGeom>
        </p:spPr>
      </p:pic>
      <p:pic>
        <p:nvPicPr>
          <p:cNvPr id="11" name="Image 4" descr="https://kimi-img.moonshot.cn/pub/slides/slides_tmpl/image/25-08-27-20:09:02-d2nfanh8bjvh7rlj0hv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0216" y="5231637"/>
            <a:ext cx="635000" cy="3683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39263" y="0"/>
            <a:ext cx="3271228" cy="6858000"/>
          </a:xfrm>
          <a:custGeom>
            <a:avLst/>
            <a:gdLst/>
            <a:ahLst/>
            <a:cxnLst/>
            <a:rect l="l" t="t" r="r" b="b"/>
            <a:pathLst>
              <a:path w="3271228" h="6858000">
                <a:moveTo>
                  <a:pt x="0" y="0"/>
                </a:moveTo>
                <a:lnTo>
                  <a:pt x="1486409" y="0"/>
                </a:lnTo>
                <a:lnTo>
                  <a:pt x="1646151" y="125533"/>
                </a:lnTo>
                <a:cubicBezTo>
                  <a:pt x="2638627" y="944596"/>
                  <a:pt x="3271228" y="2184140"/>
                  <a:pt x="3271228" y="3571436"/>
                </a:cubicBezTo>
                <a:cubicBezTo>
                  <a:pt x="3271228" y="4804588"/>
                  <a:pt x="2771395" y="5920998"/>
                  <a:pt x="1963273" y="6729119"/>
                </a:cubicBezTo>
                <a:lnTo>
                  <a:pt x="1828094" y="6858000"/>
                </a:lnTo>
                <a:lnTo>
                  <a:pt x="815048" y="6858000"/>
                </a:lnTo>
                <a:lnTo>
                  <a:pt x="895225" y="6806600"/>
                </a:lnTo>
                <a:cubicBezTo>
                  <a:pt x="1915452" y="6117348"/>
                  <a:pt x="2586222" y="4950115"/>
                  <a:pt x="2586222" y="3626215"/>
                </a:cubicBezTo>
                <a:cubicBezTo>
                  <a:pt x="2586222" y="1971340"/>
                  <a:pt x="1538143" y="561257"/>
                  <a:pt x="69553" y="23534"/>
                </a:cubicBezTo>
                <a:close/>
              </a:path>
            </a:pathLst>
          </a:custGeom>
          <a:solidFill>
            <a:srgbClr val="F3F3F7"/>
          </a:solidFill>
          <a:ln/>
        </p:spPr>
      </p:sp>
      <p:sp>
        <p:nvSpPr>
          <p:cNvPr id="3" name="Text 1"/>
          <p:cNvSpPr/>
          <p:nvPr/>
        </p:nvSpPr>
        <p:spPr>
          <a:xfrm>
            <a:off x="2339263" y="0"/>
            <a:ext cx="3271228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58283" y="4784098"/>
            <a:ext cx="231418" cy="231418"/>
          </a:xfrm>
          <a:prstGeom prst="rect">
            <a:avLst/>
          </a:prstGeom>
          <a:solidFill>
            <a:srgbClr val="D2F9E9"/>
          </a:solidFill>
          <a:ln/>
        </p:spPr>
      </p:sp>
      <p:sp>
        <p:nvSpPr>
          <p:cNvPr id="5" name="Text 3"/>
          <p:cNvSpPr/>
          <p:nvPr/>
        </p:nvSpPr>
        <p:spPr>
          <a:xfrm>
            <a:off x="958283" y="478409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58283" y="3070930"/>
            <a:ext cx="231418" cy="231418"/>
          </a:xfrm>
          <a:prstGeom prst="rect">
            <a:avLst/>
          </a:prstGeom>
          <a:solidFill>
            <a:srgbClr val="8FABDB"/>
          </a:solidFill>
          <a:ln/>
        </p:spPr>
      </p:sp>
      <p:sp>
        <p:nvSpPr>
          <p:cNvPr id="7" name="Text 5"/>
          <p:cNvSpPr/>
          <p:nvPr/>
        </p:nvSpPr>
        <p:spPr>
          <a:xfrm>
            <a:off x="958283" y="3070930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58283" y="3508088"/>
            <a:ext cx="231418" cy="231418"/>
          </a:xfrm>
          <a:prstGeom prst="rect">
            <a:avLst/>
          </a:prstGeom>
          <a:solidFill>
            <a:srgbClr val="B3C5E6"/>
          </a:solidFill>
          <a:ln/>
        </p:spPr>
      </p:sp>
      <p:sp>
        <p:nvSpPr>
          <p:cNvPr id="9" name="Text 7"/>
          <p:cNvSpPr/>
          <p:nvPr/>
        </p:nvSpPr>
        <p:spPr>
          <a:xfrm>
            <a:off x="958283" y="350808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58283" y="3736938"/>
            <a:ext cx="231418" cy="231418"/>
          </a:xfrm>
          <a:prstGeom prst="rect">
            <a:avLst/>
          </a:prstGeom>
          <a:solidFill>
            <a:srgbClr val="B2D0E3"/>
          </a:solidFill>
          <a:ln/>
        </p:spPr>
      </p:sp>
      <p:sp>
        <p:nvSpPr>
          <p:cNvPr id="11" name="Text 9"/>
          <p:cNvSpPr/>
          <p:nvPr/>
        </p:nvSpPr>
        <p:spPr>
          <a:xfrm>
            <a:off x="958283" y="373693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58283" y="3944784"/>
            <a:ext cx="231418" cy="231418"/>
          </a:xfrm>
          <a:prstGeom prst="rect">
            <a:avLst/>
          </a:prstGeom>
          <a:solidFill>
            <a:srgbClr val="B7DBE3"/>
          </a:solidFill>
          <a:ln/>
        </p:spPr>
      </p:sp>
      <p:sp>
        <p:nvSpPr>
          <p:cNvPr id="13" name="Text 11"/>
          <p:cNvSpPr/>
          <p:nvPr/>
        </p:nvSpPr>
        <p:spPr>
          <a:xfrm>
            <a:off x="958283" y="3944784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58283" y="4173384"/>
            <a:ext cx="231418" cy="231418"/>
          </a:xfrm>
          <a:prstGeom prst="rect">
            <a:avLst/>
          </a:prstGeom>
          <a:solidFill>
            <a:srgbClr val="BAE3E1"/>
          </a:solidFill>
          <a:ln/>
        </p:spPr>
      </p:sp>
      <p:sp>
        <p:nvSpPr>
          <p:cNvPr id="15" name="Text 13"/>
          <p:cNvSpPr/>
          <p:nvPr/>
        </p:nvSpPr>
        <p:spPr>
          <a:xfrm>
            <a:off x="958283" y="4173384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58283" y="4372618"/>
            <a:ext cx="231418" cy="231418"/>
          </a:xfrm>
          <a:prstGeom prst="rect">
            <a:avLst/>
          </a:prstGeom>
          <a:solidFill>
            <a:srgbClr val="BEEDE1"/>
          </a:solidFill>
          <a:ln/>
        </p:spPr>
      </p:sp>
      <p:sp>
        <p:nvSpPr>
          <p:cNvPr id="17" name="Text 15"/>
          <p:cNvSpPr/>
          <p:nvPr/>
        </p:nvSpPr>
        <p:spPr>
          <a:xfrm>
            <a:off x="958283" y="437261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58283" y="4589788"/>
            <a:ext cx="231418" cy="231418"/>
          </a:xfrm>
          <a:prstGeom prst="rect">
            <a:avLst/>
          </a:prstGeom>
          <a:solidFill>
            <a:srgbClr val="C9F7E4"/>
          </a:solidFill>
          <a:ln/>
        </p:spPr>
      </p:sp>
      <p:sp>
        <p:nvSpPr>
          <p:cNvPr id="19" name="Text 17"/>
          <p:cNvSpPr/>
          <p:nvPr/>
        </p:nvSpPr>
        <p:spPr>
          <a:xfrm>
            <a:off x="958283" y="458978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58283" y="5001268"/>
            <a:ext cx="231418" cy="231418"/>
          </a:xfrm>
          <a:prstGeom prst="rect">
            <a:avLst/>
          </a:prstGeom>
          <a:solidFill>
            <a:srgbClr val="DEFAEF"/>
          </a:solidFill>
          <a:ln/>
        </p:spPr>
      </p:sp>
      <p:sp>
        <p:nvSpPr>
          <p:cNvPr id="21" name="Text 19"/>
          <p:cNvSpPr/>
          <p:nvPr/>
        </p:nvSpPr>
        <p:spPr>
          <a:xfrm>
            <a:off x="958283" y="500126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58283" y="5195578"/>
            <a:ext cx="231418" cy="231418"/>
          </a:xfrm>
          <a:prstGeom prst="rect">
            <a:avLst/>
          </a:prstGeom>
          <a:solidFill>
            <a:srgbClr val="E2FAF1"/>
          </a:solidFill>
          <a:ln/>
        </p:spPr>
      </p:sp>
      <p:sp>
        <p:nvSpPr>
          <p:cNvPr id="23" name="Text 21"/>
          <p:cNvSpPr/>
          <p:nvPr/>
        </p:nvSpPr>
        <p:spPr>
          <a:xfrm>
            <a:off x="958283" y="519557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58283" y="5424178"/>
            <a:ext cx="231418" cy="231418"/>
          </a:xfrm>
          <a:prstGeom prst="rect">
            <a:avLst/>
          </a:prstGeom>
          <a:solidFill>
            <a:srgbClr val="EBFDF5"/>
          </a:solidFill>
          <a:ln/>
        </p:spPr>
      </p:sp>
      <p:sp>
        <p:nvSpPr>
          <p:cNvPr id="25" name="Text 23"/>
          <p:cNvSpPr/>
          <p:nvPr/>
        </p:nvSpPr>
        <p:spPr>
          <a:xfrm>
            <a:off x="958283" y="542417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58283" y="5641348"/>
            <a:ext cx="231418" cy="231418"/>
          </a:xfrm>
          <a:prstGeom prst="rect">
            <a:avLst/>
          </a:prstGeom>
          <a:solidFill>
            <a:srgbClr val="F1FEF8"/>
          </a:solidFill>
          <a:ln/>
        </p:spPr>
      </p:sp>
      <p:sp>
        <p:nvSpPr>
          <p:cNvPr id="27" name="Text 25"/>
          <p:cNvSpPr/>
          <p:nvPr/>
        </p:nvSpPr>
        <p:spPr>
          <a:xfrm>
            <a:off x="958283" y="564134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58283" y="5858518"/>
            <a:ext cx="231418" cy="231418"/>
          </a:xfrm>
          <a:prstGeom prst="rect">
            <a:avLst/>
          </a:prstGeom>
          <a:solidFill>
            <a:srgbClr val="F7FFFB"/>
          </a:solidFill>
          <a:ln/>
        </p:spPr>
      </p:sp>
      <p:sp>
        <p:nvSpPr>
          <p:cNvPr id="29" name="Text 27"/>
          <p:cNvSpPr/>
          <p:nvPr/>
        </p:nvSpPr>
        <p:spPr>
          <a:xfrm>
            <a:off x="958283" y="585851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58283" y="3299530"/>
            <a:ext cx="231418" cy="231418"/>
          </a:xfrm>
          <a:prstGeom prst="rect">
            <a:avLst/>
          </a:prstGeom>
          <a:solidFill>
            <a:srgbClr val="9DB4E0"/>
          </a:solidFill>
          <a:ln/>
        </p:spPr>
      </p:sp>
      <p:sp>
        <p:nvSpPr>
          <p:cNvPr id="31" name="Text 29"/>
          <p:cNvSpPr/>
          <p:nvPr/>
        </p:nvSpPr>
        <p:spPr>
          <a:xfrm>
            <a:off x="958283" y="3299530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32" name="Image 0" descr="https://kimi-img.moonshot.cn/pub/slides/slides_tmpl/image/25-08-27-20:09:03-d2nfanp8bjvh7rlj0i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032" y="270952"/>
            <a:ext cx="3276600" cy="5918200"/>
          </a:xfrm>
          <a:prstGeom prst="rect">
            <a:avLst/>
          </a:prstGeom>
        </p:spPr>
      </p:pic>
      <p:pic>
        <p:nvPicPr>
          <p:cNvPr id="33" name="Image 1" descr="https://kimi-img.moonshot.cn/pub/slides/slides_tmpl/image/25-08-27-20:09:03-d2nfanp8bjvh7rlj0i00.png"/>
          <p:cNvPicPr>
            <a:picLocks noChangeAspect="1"/>
          </p:cNvPicPr>
          <p:nvPr/>
        </p:nvPicPr>
        <p:blipFill>
          <a:blip r:embed="rId4"/>
          <a:srcRect b="95767"/>
          <a:stretch/>
        </p:blipFill>
        <p:spPr>
          <a:xfrm>
            <a:off x="263525" y="741045"/>
            <a:ext cx="3962400" cy="95696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055370" y="1233805"/>
            <a:ext cx="4064000" cy="8299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6782663" y="1701989"/>
            <a:ext cx="4360787" cy="6771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Core Concepts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7292621" y="3846796"/>
            <a:ext cx="4793036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Refine &amp; Connect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6836515" y="5909940"/>
            <a:ext cx="4002611" cy="6771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Practice &amp; Next Steps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9531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Core Concepts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11-d2nfapp8bjvh7rlj0in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9987" y="0"/>
            <a:ext cx="4672013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519987" cy="6872844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4" name="Text 1"/>
          <p:cNvSpPr/>
          <p:nvPr/>
        </p:nvSpPr>
        <p:spPr>
          <a:xfrm>
            <a:off x="0" y="0"/>
            <a:ext cx="7519987" cy="6872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553773" y="691737"/>
            <a:ext cx="5870202" cy="54745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5553773" y="691737"/>
            <a:ext cx="5870202" cy="54745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9768" y="1856646"/>
            <a:ext cx="4118258" cy="14773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What GROUP BY Really Does</a:t>
            </a:r>
            <a:endParaRPr lang="en-US" sz="1600" dirty="0"/>
          </a:p>
        </p:txBody>
      </p:sp>
      <p:pic>
        <p:nvPicPr>
          <p:cNvPr id="8" name="Image 1" descr="https://kimi-img.moonshot.cn/pub/slides/slides_tmpl/image/25-08-27-20:09:10-d2nfaph8bjvh7rlj0ih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2257" y="1286340"/>
            <a:ext cx="635000" cy="368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3100" y="3244850"/>
            <a:ext cx="421259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72843" y="3592270"/>
            <a:ext cx="3613829" cy="18148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GROUP BY categorizes rows with identical values into summary groups, enabling collective calculations like counts, sums, or averages in a single query. It transforms raw data into meaningful insights.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309995" y="1484630"/>
            <a:ext cx="4384675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Purpose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310009" y="1807120"/>
            <a:ext cx="4710824" cy="15684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The primary purpose of GROUP BY is to aggregate data, making it ideal for generating reports and performing data analysis. It simplifies complex datasets into digestible summaries.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309995" y="3911600"/>
            <a:ext cx="4678045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Common Use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310009" y="4233929"/>
            <a:ext cx="4710824" cy="15684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GROUP BY is commonly used in business intelligence to summarize sales data, track inventory levels, or analyze customer behavior. It helps in making data-driven decisions.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41728"/>
          </a:xfrm>
          <a:prstGeom prst="rect">
            <a:avLst/>
          </a:prstGeom>
          <a:gradFill flip="none" rotWithShape="1">
            <a:gsLst>
              <a:gs pos="0">
                <a:srgbClr val="2F5596"/>
              </a:gs>
              <a:gs pos="27000">
                <a:srgbClr val="7095BC"/>
              </a:gs>
              <a:gs pos="72000">
                <a:srgbClr val="B0D5E1"/>
              </a:gs>
              <a:gs pos="100000">
                <a:srgbClr val="C2F5E1"/>
              </a:gs>
            </a:gsLst>
            <a:lin ang="4800000" scaled="1"/>
          </a:gradFill>
          <a:ln w="12700">
            <a:solidFill>
              <a:srgbClr val="0911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2000" cy="684172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9:10-d2nfaph8bjvh7rlj0ii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16202"/>
            <a:ext cx="12192000" cy="26255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5960" y="738505"/>
            <a:ext cx="9124950" cy="645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Live GROUP BY Example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056440" y="983258"/>
            <a:ext cx="1106564" cy="0"/>
          </a:xfrm>
          <a:prstGeom prst="straightConnector1">
            <a:avLst/>
          </a:prstGeom>
          <a:noFill/>
          <a:ln w="15875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7" name="Text 4"/>
          <p:cNvSpPr/>
          <p:nvPr/>
        </p:nvSpPr>
        <p:spPr>
          <a:xfrm>
            <a:off x="695960" y="1735455"/>
            <a:ext cx="5632450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Example Scenario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95960" y="2493010"/>
            <a:ext cx="5067935" cy="17532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Consider an employees table with columns for employee ID, name, department ID, and salary. We want to count the number of employees in each department.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56045" y="1749425"/>
            <a:ext cx="5152390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Query Execution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56045" y="2493010"/>
            <a:ext cx="5067935" cy="17532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The query SELECT department_id, COUNT(*) AS num_employees FROM employees GROUP BY department_id; groups rows by department and counts employees, demonstrating how GROUP BY simplifies data aggregation.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17-d2nfar98bjvh7rlj0iug.jpg"/>
          <p:cNvPicPr>
            <a:picLocks noChangeAspect="1"/>
          </p:cNvPicPr>
          <p:nvPr/>
        </p:nvPicPr>
        <p:blipFill>
          <a:blip r:embed="rId3">
            <a:alphaModFix amt="52000"/>
          </a:blip>
          <a:srcRect/>
          <a:stretch/>
        </p:blipFill>
        <p:spPr>
          <a:xfrm flipH="1">
            <a:off x="0" y="0"/>
            <a:ext cx="12192000" cy="685800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24680" y="3733171"/>
            <a:ext cx="12232332" cy="2837808"/>
          </a:xfrm>
          <a:prstGeom prst="rect">
            <a:avLst/>
          </a:prstGeom>
          <a:solidFill>
            <a:srgbClr val="404040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-24680" y="3733171"/>
            <a:ext cx="12232332" cy="2837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75293" y="1486555"/>
            <a:ext cx="236131" cy="236144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B5C7E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5293" y="1486555"/>
            <a:ext cx="236131" cy="236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62305" y="485140"/>
            <a:ext cx="10487025" cy="8858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Essential Aggregate Arsenal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1270532"/>
            <a:ext cx="12232331" cy="2247372"/>
          </a:xfrm>
          <a:prstGeom prst="rect">
            <a:avLst/>
          </a:prstGeom>
          <a:solidFill>
            <a:srgbClr val="FFFFFF">
              <a:alpha val="47843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0" y="1270532"/>
            <a:ext cx="12232331" cy="224737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651957" y="1486555"/>
            <a:ext cx="236131" cy="236144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B5C7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51957" y="1486555"/>
            <a:ext cx="236131" cy="236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2" name="Image 1" descr="https://kimi-img.moonshot.cn/pub/slides/slides_tmpl/image/25-08-27-20:09:12-d2nfaq18bjvh7rlj0ir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10" y="1386524"/>
            <a:ext cx="6985000" cy="33020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67409" y="3725815"/>
            <a:ext cx="360039" cy="6373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0"/>
          <p:cNvSpPr/>
          <p:nvPr/>
        </p:nvSpPr>
        <p:spPr>
          <a:xfrm>
            <a:off x="767409" y="3725815"/>
            <a:ext cx="360039" cy="637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767409" y="5807035"/>
            <a:ext cx="360039" cy="63731"/>
          </a:xfrm>
          <a:prstGeom prst="rect">
            <a:avLst/>
          </a:prstGeom>
          <a:solidFill>
            <a:srgbClr val="C2F5E0"/>
          </a:solidFill>
          <a:ln/>
        </p:spPr>
      </p:sp>
      <p:sp>
        <p:nvSpPr>
          <p:cNvPr id="16" name="Text 12"/>
          <p:cNvSpPr/>
          <p:nvPr/>
        </p:nvSpPr>
        <p:spPr>
          <a:xfrm>
            <a:off x="767409" y="5807035"/>
            <a:ext cx="360039" cy="637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789973" y="5807035"/>
            <a:ext cx="360039" cy="63731"/>
          </a:xfrm>
          <a:prstGeom prst="rect">
            <a:avLst/>
          </a:prstGeom>
          <a:solidFill>
            <a:srgbClr val="C2F5E0"/>
          </a:solidFill>
          <a:ln/>
        </p:spPr>
      </p:sp>
      <p:sp>
        <p:nvSpPr>
          <p:cNvPr id="18" name="Text 14"/>
          <p:cNvSpPr/>
          <p:nvPr/>
        </p:nvSpPr>
        <p:spPr>
          <a:xfrm>
            <a:off x="6789973" y="5807035"/>
            <a:ext cx="360039" cy="637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776915" y="3725815"/>
            <a:ext cx="360039" cy="6373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6"/>
          <p:cNvSpPr/>
          <p:nvPr/>
        </p:nvSpPr>
        <p:spPr>
          <a:xfrm>
            <a:off x="6776915" y="3725815"/>
            <a:ext cx="360039" cy="637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47700" y="1935480"/>
            <a:ext cx="5483860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COUNT()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62169" y="2305820"/>
            <a:ext cx="5073791" cy="13220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0D0D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COUNT() returns the number of rows in a group, making it ideal for counting records. For example, counting employees in each department provides a quick headcount.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47700" y="4386580"/>
            <a:ext cx="5464810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SUM()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662169" y="4756920"/>
            <a:ext cx="5073791" cy="13220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SUM() calculates the total of a numeric column. Summing salaries for each department gives a clear view of payroll expenses, aiding financial analysis.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650355" y="1935480"/>
            <a:ext cx="548386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AVG()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6665325" y="2305820"/>
            <a:ext cx="5073791" cy="13220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0D0D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AVG() computes the average of a numeric column. Finding the average salary in each department helps in understanding compensation levels and identifying disparities.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6670040" y="4386580"/>
            <a:ext cx="546481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MIN() and MAX()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6684733" y="4756920"/>
            <a:ext cx="5073791" cy="13220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MIN() and MAX() identify the minimum and maximum values in a group. These functions are useful for finding the lowest and highest salaries, providing insights into pay ranges.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2455" y="1383665"/>
            <a:ext cx="7461250" cy="13220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Putting Aggregates to Work</a:t>
            </a:r>
            <a:endParaRPr lang="en-US" sz="1600" dirty="0"/>
          </a:p>
        </p:txBody>
      </p:sp>
      <p:pic>
        <p:nvPicPr>
          <p:cNvPr id="3" name="Image 0" descr="https://kimi-img.moonshot.cn/pub/slides/slides_tmpl/image/25-08-27-20:09:06-d2nfaoh8bjvh7rlj0i7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0222" y="1230728"/>
            <a:ext cx="3429629" cy="464231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95325" y="3455035"/>
            <a:ext cx="1270635" cy="2350135"/>
          </a:xfrm>
          <a:prstGeom prst="rect">
            <a:avLst/>
          </a:prstGeom>
          <a:solidFill>
            <a:srgbClr val="9DB4E1"/>
          </a:solidFill>
          <a:ln/>
        </p:spPr>
      </p:sp>
      <p:sp>
        <p:nvSpPr>
          <p:cNvPr id="5" name="Text 2"/>
          <p:cNvSpPr/>
          <p:nvPr/>
        </p:nvSpPr>
        <p:spPr>
          <a:xfrm>
            <a:off x="695325" y="3455035"/>
            <a:ext cx="1270635" cy="23501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135505" y="3455035"/>
            <a:ext cx="606996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Practical Application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135505" y="4076700"/>
            <a:ext cx="5220335" cy="13887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Using COUNT and SUM with GROUP BY, we can produce head-count and payroll totals per department. This combination provides a comprehensive overview of departmental resources and expenses.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9531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Refine &amp; Connect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536" y="1196752"/>
            <a:ext cx="2042939" cy="2426331"/>
          </a:xfrm>
          <a:prstGeom prst="rect">
            <a:avLst/>
          </a:prstGeom>
          <a:solidFill>
            <a:srgbClr val="000000">
              <a:alpha val="0"/>
            </a:srgbClr>
          </a:solidFill>
          <a:ln w="85725">
            <a:gradFill flip="none" rotWithShape="1">
              <a:gsLst>
                <a:gs pos="0">
                  <a:srgbClr val="C2F5E1"/>
                </a:gs>
                <a:gs pos="20000">
                  <a:srgbClr val="AAC0E5"/>
                </a:gs>
                <a:gs pos="100000">
                  <a:srgbClr val="9DB4E1"/>
                </a:gs>
              </a:gsLst>
              <a:lin ang="7200000" scaled="1"/>
            </a:gra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77536" y="1196752"/>
            <a:ext cx="2042939" cy="24263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9:08-d2nfap18bjvh7rlj0ib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873" y="1407713"/>
            <a:ext cx="3092012" cy="46774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62830" y="764540"/>
            <a:ext cx="6449060" cy="1198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HAVING Filters Groups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06070" y="2719643"/>
            <a:ext cx="6450272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HAVING vs WHERE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742815" y="3141980"/>
            <a:ext cx="6713220" cy="1198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HAVING filters groups after aggregation, while WHERE filters rows before grouping. HAVING is essential for conditions that apply to aggregated results, such as departments with more than three employees.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06070" y="4444266"/>
            <a:ext cx="6450272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Example Query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742815" y="4866640"/>
            <a:ext cx="6713220" cy="1198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The query SELECT department_id, COUNT(*) AS num_employees FROM employees GROUP BY department_id HAVING COUNT(*) &gt; 3; filters departments with more than three employees, demonstrating the power of HAVING.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F2F3F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3212976"/>
            <a:ext cx="12192000" cy="364502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231221"/>
            <a:ext cx="911424" cy="637939"/>
          </a:xfrm>
          <a:prstGeom prst="rect">
            <a:avLst/>
          </a:prstGeom>
          <a:solidFill>
            <a:srgbClr val="9DB4E0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231221"/>
            <a:ext cx="911424" cy="637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08342" y="5594566"/>
            <a:ext cx="802312" cy="475550"/>
          </a:xfrm>
          <a:prstGeom prst="rect">
            <a:avLst/>
          </a:prstGeom>
          <a:solidFill>
            <a:srgbClr val="9DB4E0"/>
          </a:solidFill>
          <a:ln/>
        </p:spPr>
      </p:sp>
      <p:sp>
        <p:nvSpPr>
          <p:cNvPr id="7" name="Text 5"/>
          <p:cNvSpPr/>
          <p:nvPr/>
        </p:nvSpPr>
        <p:spPr>
          <a:xfrm>
            <a:off x="10908342" y="5594566"/>
            <a:ext cx="802312" cy="4755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5460" y="713740"/>
            <a:ext cx="6583045" cy="9220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Join Then Aggregate</a:t>
            </a:r>
            <a:endParaRPr lang="en-US" sz="1600" dirty="0"/>
          </a:p>
        </p:txBody>
      </p:sp>
      <p:pic>
        <p:nvPicPr>
          <p:cNvPr id="9" name="Image 0" descr="https://kimi-img.moonshot.cn/pub/slides/slides_tmpl/image/25-08-27-20:09:10-d2nfaph8bjvh7rlj0iig.png"/>
          <p:cNvPicPr>
            <a:picLocks noChangeAspect="1"/>
          </p:cNvPicPr>
          <p:nvPr/>
        </p:nvPicPr>
        <p:blipFill>
          <a:blip r:embed="rId3"/>
          <a:srcRect l="127" r="127"/>
          <a:stretch/>
        </p:blipFill>
        <p:spPr>
          <a:xfrm>
            <a:off x="4254348" y="1660800"/>
            <a:ext cx="3802640" cy="48416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91160" y="3639971"/>
            <a:ext cx="3904615" cy="5645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Combining Joins and GROUP BY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91160" y="4231221"/>
            <a:ext cx="3627120" cy="18148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By joining employees to departments and grouping on department_name, we calculate total salary while displaying human-readable labels. This approach enhances data readability and utility.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000240" y="1004570"/>
            <a:ext cx="4710430" cy="4756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 algn="r"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Example Query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066844" y="1475294"/>
            <a:ext cx="3643810" cy="18148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The query SELECT departments.department_name, SUM(employees.salary) AS total_salary FROM employees INNER JOIN departments ON employees.department_id = departments.department_id GROUP BY departments.department_name; combines data from multiple tables.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326120" y="3621556"/>
            <a:ext cx="3522980" cy="511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Benefits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386047" y="4231221"/>
            <a:ext cx="3324607" cy="20612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This method allows for cross-table summaries without manual data consolidation, saving time and reducing errors. It provides a seamless way to aggregate data across related entities.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3904" y="406688"/>
            <a:ext cx="5512096" cy="14773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Million-Dollar Sales Report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757545" y="836930"/>
            <a:ext cx="5850890" cy="741045"/>
          </a:xfrm>
          <a:prstGeom prst="rect">
            <a:avLst/>
          </a:prstGeom>
          <a:solidFill>
            <a:srgbClr val="DAE3F3"/>
          </a:solidFill>
          <a:ln/>
        </p:spPr>
      </p:sp>
      <p:sp>
        <p:nvSpPr>
          <p:cNvPr id="4" name="Text 2"/>
          <p:cNvSpPr/>
          <p:nvPr/>
        </p:nvSpPr>
        <p:spPr>
          <a:xfrm>
            <a:off x="5757545" y="836930"/>
            <a:ext cx="5850890" cy="7410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5" name="Image 0" descr="https://kimi-img.moonshot.cn/pub/slides/slides_tmpl/image/25-08-27-20:09:09-d2nfap98bjvh7rlj0icg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7408" y="3133931"/>
            <a:ext cx="10840688" cy="315393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35955" y="954405"/>
            <a:ext cx="5760720" cy="4997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Real-World Application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35955" y="1628775"/>
            <a:ext cx="5897245" cy="13303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A sales table is grouped by region and filtered with HAVING SUM(sales_amount) &gt; 1000000, demonstrating how GROUP BY and HAVING can identify top-performing regions in a sales dataset.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9531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Practice &amp; Next Steps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15680" y="1182980"/>
            <a:ext cx="1584176" cy="3060160"/>
          </a:xfrm>
          <a:custGeom>
            <a:avLst/>
            <a:gdLst/>
            <a:ahLst/>
            <a:cxnLst/>
            <a:rect l="l" t="t" r="r" b="b"/>
            <a:pathLst>
              <a:path w="1584176" h="3060160">
                <a:moveTo>
                  <a:pt x="0" y="0"/>
                </a:moveTo>
                <a:lnTo>
                  <a:pt x="1584176" y="0"/>
                </a:lnTo>
                <a:lnTo>
                  <a:pt x="1584176" y="115069"/>
                </a:lnTo>
                <a:lnTo>
                  <a:pt x="1584176" y="249136"/>
                </a:lnTo>
                <a:lnTo>
                  <a:pt x="1584176" y="3060160"/>
                </a:lnTo>
                <a:lnTo>
                  <a:pt x="1160548" y="3060160"/>
                </a:lnTo>
                <a:lnTo>
                  <a:pt x="1160548" y="249136"/>
                </a:lnTo>
                <a:lnTo>
                  <a:pt x="0" y="249136"/>
                </a:lnTo>
                <a:close/>
              </a:path>
            </a:pathLst>
          </a:custGeom>
          <a:gradFill flip="none" rotWithShape="1">
            <a:gsLst>
              <a:gs pos="0">
                <a:srgbClr val="3A4F72"/>
              </a:gs>
              <a:gs pos="67000">
                <a:srgbClr val="7EA2AA"/>
              </a:gs>
              <a:gs pos="100000">
                <a:srgbClr val="C2F5E1"/>
              </a:gs>
            </a:gsLst>
            <a:lin ang="540000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3215680" y="1182980"/>
            <a:ext cx="1584176" cy="3060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3392" y="4659597"/>
            <a:ext cx="4425189" cy="14773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Key Takeaways Snapshot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44272" y="843214"/>
            <a:ext cx="252602" cy="252616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B5C7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44272" y="843214"/>
            <a:ext cx="252602" cy="252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9" name="Image 0" descr="https://kimi-img.moonshot.cn/pub/slides/slides_tmpl/image/25-08-27-20:09:12-d2nfaq18bjvh7rlj0ip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36" y="1429732"/>
            <a:ext cx="1812087" cy="1180827"/>
          </a:xfrm>
          <a:prstGeom prst="rect">
            <a:avLst/>
          </a:prstGeom>
        </p:spPr>
      </p:pic>
      <p:pic>
        <p:nvPicPr>
          <p:cNvPr id="10" name="Image 1" descr="https://kimi-img.moonshot.cn/pub/slides/slides_tmpl/image/25-08-27-20:09:12-d2nfaq18bjvh7rlj0ip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9736" y="1418626"/>
            <a:ext cx="1812088" cy="1177204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8-27-20:09:12-d2nfaq18bjvh7rlj0iq0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2895" y="2889263"/>
            <a:ext cx="3828929" cy="1353877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82895" y="3843470"/>
            <a:ext cx="423820" cy="399670"/>
          </a:xfrm>
          <a:prstGeom prst="rect">
            <a:avLst/>
          </a:prstGeom>
          <a:solidFill>
            <a:srgbClr val="9DB4E0"/>
          </a:solidFill>
          <a:ln/>
        </p:spPr>
      </p:sp>
      <p:sp>
        <p:nvSpPr>
          <p:cNvPr id="13" name="Text 8"/>
          <p:cNvSpPr/>
          <p:nvPr/>
        </p:nvSpPr>
        <p:spPr>
          <a:xfrm>
            <a:off x="682895" y="3843470"/>
            <a:ext cx="423820" cy="399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8544272" y="3804009"/>
            <a:ext cx="252602" cy="252616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B5C7E7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544272" y="3804009"/>
            <a:ext cx="252602" cy="252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268637" y="843214"/>
            <a:ext cx="252602" cy="252616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B5C7E7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268637" y="843214"/>
            <a:ext cx="252602" cy="252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268637" y="3799372"/>
            <a:ext cx="252602" cy="252616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B5C7E7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268637" y="3799372"/>
            <a:ext cx="252602" cy="252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767408" y="4066765"/>
            <a:ext cx="288032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21" name="Text 16"/>
          <p:cNvSpPr/>
          <p:nvPr/>
        </p:nvSpPr>
        <p:spPr>
          <a:xfrm>
            <a:off x="5340644" y="901706"/>
            <a:ext cx="2983571" cy="7078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GROUP BY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5340350" y="1605280"/>
            <a:ext cx="3172460" cy="20612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GROUP BY reshapes rows into categories, enabling collective calculations and summarizing data efficiently. It forms the backbone of data aggregation in SQL.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616279" y="901706"/>
            <a:ext cx="2983571" cy="7078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Aggregate Functions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616315" y="1605280"/>
            <a:ext cx="3162300" cy="20612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Aggregate functions like COUNT, SUM, AVG, MIN, and MAX compute metrics within each group, providing insights into data size, value, central tendency, and range.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5340644" y="3857864"/>
            <a:ext cx="2983571" cy="7078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HAVING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5340350" y="4561840"/>
            <a:ext cx="3204210" cy="20612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HAVING filters aggregated results, allowing for conditions that apply to groups. It complements WHERE by refining summaries after grouping.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8616279" y="3862501"/>
            <a:ext cx="2983571" cy="7078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Joins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8616315" y="4566285"/>
            <a:ext cx="3131820" cy="20612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Joins extend GROUP BY across related tables, enabling cross-table summaries. This combination provides a powerful way to analyze data from multiple sources.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7105" y="5513705"/>
            <a:ext cx="7889240" cy="11220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Hands-On Lab Checklist</a:t>
            </a:r>
            <a:endParaRPr lang="en-US" sz="1600" dirty="0"/>
          </a:p>
        </p:txBody>
      </p:sp>
      <p:pic>
        <p:nvPicPr>
          <p:cNvPr id="5" name="Image 0" descr="https://kimi-img.moonshot.cn/pub/slides/slides_tmpl/image/25-08-27-20:09:08-d2nfap18bjvh7rlj0ic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913" y="1053031"/>
            <a:ext cx="3472004" cy="3151189"/>
          </a:xfrm>
          <a:prstGeom prst="rect">
            <a:avLst/>
          </a:prstGeom>
        </p:spPr>
      </p:pic>
      <p:pic>
        <p:nvPicPr>
          <p:cNvPr id="6" name="Image 1" descr="https://kimi-img.moonshot.cn/pub/slides/slides_tmpl/image/25-08-27-20:09:08-d2nfap18bjvh7rlj0i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529590"/>
            <a:ext cx="1064260" cy="941070"/>
          </a:xfrm>
          <a:prstGeom prst="rect">
            <a:avLst/>
          </a:prstGeom>
        </p:spPr>
      </p:pic>
      <p:pic>
        <p:nvPicPr>
          <p:cNvPr id="7" name="Image 2" descr="https://kimi-img.moonshot.cn/pub/slides/slides_tmpl/image/25-08-27-20:09:08-d2nfap18bjvh7rlj0ib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2661920"/>
            <a:ext cx="1064260" cy="94107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99856" y="1185108"/>
            <a:ext cx="6482735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Lab Tasks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4799965" y="1590040"/>
            <a:ext cx="6997065" cy="10763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Learners will count employees, sum salaries, filter departments exceeding five staff, and join to department names for readable totals. Each task reinforces GROUP BY and aggregate functions.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4799855" y="3292048"/>
            <a:ext cx="6482735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Practice Tips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4799965" y="3696970"/>
            <a:ext cx="6996430" cy="10763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Practice these tasks on your own datasets to solidify understanding. Experiment with different aggregate functions and filters to explore various analytical scenarios.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10-d2nfaph8bjvh7rlj0igg.png"/>
          <p:cNvPicPr>
            <a:picLocks noChangeAspect="1"/>
          </p:cNvPicPr>
          <p:nvPr/>
        </p:nvPicPr>
        <p:blipFill>
          <a:blip r:embed="rId3"/>
          <a:srcRect r="51634"/>
          <a:stretch/>
        </p:blipFill>
        <p:spPr>
          <a:xfrm>
            <a:off x="637540" y="4911725"/>
            <a:ext cx="11061065" cy="21837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7685" y="617855"/>
            <a:ext cx="9599930" cy="9220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Tomorrow Subqueries Deep Dive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629349" y="1499631"/>
            <a:ext cx="359844" cy="359864"/>
          </a:xfrm>
          <a:prstGeom prst="ellipse">
            <a:avLst/>
          </a:prstGeom>
          <a:solidFill>
            <a:srgbClr val="000000">
              <a:alpha val="0"/>
            </a:srgbClr>
          </a:solidFill>
          <a:ln w="107950">
            <a:solidFill>
              <a:srgbClr val="9DB4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9349" y="1499631"/>
            <a:ext cx="359844" cy="35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6" name="Image 1" descr="https://kimi-img.moonshot.cn/pub/slides/slides_tmpl/image/25-08-27-20:09:10-d2nfaph8bjvh7rlj0ih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350" y="4361149"/>
            <a:ext cx="2157390" cy="195757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367808" y="1499631"/>
            <a:ext cx="359844" cy="359864"/>
          </a:xfrm>
          <a:prstGeom prst="ellipse">
            <a:avLst/>
          </a:prstGeom>
          <a:solidFill>
            <a:srgbClr val="000000">
              <a:alpha val="0"/>
            </a:srgbClr>
          </a:solidFill>
          <a:ln w="107950">
            <a:solidFill>
              <a:srgbClr val="9DB4E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367808" y="1499631"/>
            <a:ext cx="359844" cy="35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8122968" y="1499631"/>
            <a:ext cx="359844" cy="359864"/>
          </a:xfrm>
          <a:prstGeom prst="ellipse">
            <a:avLst/>
          </a:prstGeom>
          <a:solidFill>
            <a:srgbClr val="000000">
              <a:alpha val="0"/>
            </a:srgbClr>
          </a:solidFill>
          <a:ln w="107950">
            <a:solidFill>
              <a:srgbClr val="9DB4E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122968" y="1499631"/>
            <a:ext cx="359844" cy="35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23392" y="1609265"/>
            <a:ext cx="3542747" cy="8299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Preview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37750" y="2405563"/>
            <a:ext cx="3384373" cy="20612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In the next session, we will explore correlated subqueries and complex joins. These advanced topics build on today’s concepts, enhancing your SQL skills.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411330" y="1609265"/>
            <a:ext cx="3542747" cy="8299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Preparation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425688" y="2405563"/>
            <a:ext cx="3384373" cy="20612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Review today’s material on GROUP BY and aggregates to prepare for subqueries. Mastery of these foundational concepts will make advanced topics more accessible.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155340" y="1609265"/>
            <a:ext cx="3542747" cy="8299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Practice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169698" y="2405563"/>
            <a:ext cx="3384373" cy="20612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Keep practicing with real-world datasets to solidify your understanding of GROUP BY and aggregates. This practice will make the next session’s content easier to grasp.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941127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2192000" cy="694112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9:12-d2nfaq18bjvh7rlj0is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617" y="1561401"/>
            <a:ext cx="4553512" cy="3552547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12-d2nfaq18bjvh7rlj0isg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03121" y="1561401"/>
            <a:ext cx="2434092" cy="240862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884213" y="3119957"/>
            <a:ext cx="363255" cy="36325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884213" y="3119957"/>
            <a:ext cx="363255" cy="3632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2147610" y="3138745"/>
            <a:ext cx="325677" cy="325677"/>
          </a:xfrm>
          <a:prstGeom prst="ellipse">
            <a:avLst/>
          </a:prstGeom>
          <a:solidFill>
            <a:srgbClr val="C2F4E0"/>
          </a:solidFill>
          <a:ln/>
        </p:spPr>
      </p:sp>
      <p:sp>
        <p:nvSpPr>
          <p:cNvPr id="9" name="Text 5"/>
          <p:cNvSpPr/>
          <p:nvPr/>
        </p:nvSpPr>
        <p:spPr>
          <a:xfrm>
            <a:off x="2147610" y="3138745"/>
            <a:ext cx="325677" cy="32567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2209989" y="3287890"/>
            <a:ext cx="225819" cy="1819"/>
          </a:xfrm>
          <a:prstGeom prst="straightConnector1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pic>
        <p:nvPicPr>
          <p:cNvPr id="11" name="Image 2" descr="https://kimi-img.moonshot.cn/pub/slides/slides_tmpl/image/25-08-27-20:09:13-d2nfaq98bjvh7rlj0it0.png"/>
          <p:cNvPicPr>
            <a:picLocks noChangeAspect="1"/>
          </p:cNvPicPr>
          <p:nvPr/>
        </p:nvPicPr>
        <p:blipFill>
          <a:blip r:embed="rId5"/>
          <a:srcRect r="29701" b="29746"/>
          <a:stretch/>
        </p:blipFill>
        <p:spPr>
          <a:xfrm>
            <a:off x="654685" y="1670685"/>
            <a:ext cx="8178063" cy="370274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4237" y="5373975"/>
            <a:ext cx="2254685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Sean Wong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548274" y="5750335"/>
            <a:ext cx="4323764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2025/08/04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894</Words>
  <Application>Microsoft Office PowerPoint</Application>
  <PresentationFormat>Widescreen</PresentationFormat>
  <Paragraphs>88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Source Han Sans SC</vt:lpstr>
      <vt:lpstr>Source Han Sans SC Light</vt:lpstr>
      <vt:lpstr>Source Han Sans SC Medium</vt:lpstr>
      <vt:lpstr>Source Han Sans SC Normal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GROUP BY &amp; Aggs</dc:title>
  <dc:subject>Master GROUP BY &amp; Aggs</dc:subject>
  <dc:creator>Kimi</dc:creator>
  <cp:lastModifiedBy>Sean</cp:lastModifiedBy>
  <cp:revision>2</cp:revision>
  <dcterms:created xsi:type="dcterms:W3CDTF">2025-12-05T05:26:16Z</dcterms:created>
  <dcterms:modified xsi:type="dcterms:W3CDTF">2025-12-05T05:26:58Z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{"Label":"Master GROUP BY &amp; Aggs","ContentProducer":"001191110108MACG2KBH8F10000","ProduceID":"d4p6op5gsoabu5nm3pdg","ReservedCode1":"","ContentPropagator":"001191110108MACG2KBH8F20000","PropagateID":"d4p6op5gsoabu5nm3pdg","ReservedCode2":""}</vt:lpwstr>
  </property>
</Properties>
</file>