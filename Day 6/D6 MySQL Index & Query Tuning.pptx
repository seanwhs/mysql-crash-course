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76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15.xml.rels><?xml version="1.0" encoding="UTF-8" standalone="yes"?>
<Relationships xmlns="http://schemas.openxmlformats.org/package/2006/relationships"><Relationship Id="rId8" Type="http://schemas.openxmlformats.org/officeDocument/2006/relationships/image" Target="../media/image28.jpg"/><Relationship Id="rId3" Type="http://schemas.openxmlformats.org/officeDocument/2006/relationships/image" Target="../media/image23.jpeg"/><Relationship Id="rId7" Type="http://schemas.openxmlformats.org/officeDocument/2006/relationships/image" Target="../media/image27.jp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33.jpg"/><Relationship Id="rId7"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09-d2nfap98bjvh7rlj0ieg.jpg"/>
          <p:cNvPicPr>
            <a:picLocks noChangeAspect="1"/>
          </p:cNvPicPr>
          <p:nvPr/>
        </p:nvPicPr>
        <p:blipFill>
          <a:blip r:embed="rId3"/>
          <a:srcRect/>
          <a:stretch/>
        </p:blipFill>
        <p:spPr>
          <a:xfrm rot="5400000">
            <a:off x="3017799" y="-3017800"/>
            <a:ext cx="6156401" cy="12192000"/>
          </a:xfrm>
          <a:prstGeom prst="rect">
            <a:avLst/>
          </a:prstGeom>
        </p:spPr>
      </p:pic>
      <p:sp>
        <p:nvSpPr>
          <p:cNvPr id="3" name="Shape 0"/>
          <p:cNvSpPr/>
          <p:nvPr/>
        </p:nvSpPr>
        <p:spPr>
          <a:xfrm>
            <a:off x="0" y="4609578"/>
            <a:ext cx="12192000" cy="2357278"/>
          </a:xfrm>
          <a:prstGeom prst="rect">
            <a:avLst/>
          </a:prstGeom>
          <a:solidFill>
            <a:srgbClr val="161616"/>
          </a:solidFill>
          <a:ln w="12700">
            <a:solidFill>
              <a:srgbClr val="09111E"/>
            </a:solidFill>
            <a:prstDash val="solid"/>
          </a:ln>
        </p:spPr>
      </p:sp>
      <p:sp>
        <p:nvSpPr>
          <p:cNvPr id="4" name="Text 1"/>
          <p:cNvSpPr/>
          <p:nvPr/>
        </p:nvSpPr>
        <p:spPr>
          <a:xfrm>
            <a:off x="0" y="4609578"/>
            <a:ext cx="12192000" cy="2357278"/>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2"/>
          <p:cNvSpPr/>
          <p:nvPr/>
        </p:nvSpPr>
        <p:spPr>
          <a:xfrm>
            <a:off x="930466" y="5184885"/>
            <a:ext cx="6077403" cy="1323439"/>
          </a:xfrm>
          <a:prstGeom prst="rect">
            <a:avLst/>
          </a:prstGeom>
          <a:noFill/>
          <a:ln/>
        </p:spPr>
        <p:txBody>
          <a:bodyPr wrap="square" lIns="91440" tIns="45720" rIns="91440" bIns="45720" rtlCol="0" anchor="t">
            <a:spAutoFit/>
          </a:bodyPr>
          <a:lstStyle/>
          <a:p>
            <a:pPr>
              <a:lnSpc>
                <a:spcPct val="100000"/>
              </a:lnSpc>
            </a:pPr>
            <a:r>
              <a:rPr lang="en-US" sz="4000" dirty="0">
                <a:solidFill>
                  <a:srgbClr val="FFFFFF"/>
                </a:solidFill>
                <a:latin typeface="Source Han Sans SC Medium" pitchFamily="34" charset="0"/>
                <a:ea typeface="Source Han Sans SC Medium" pitchFamily="34" charset="-122"/>
                <a:cs typeface="Source Han Sans SC Medium" pitchFamily="34" charset="-120"/>
              </a:rPr>
              <a:t>Day 6 MySQL Index &amp; Query Tuning</a:t>
            </a:r>
            <a:endParaRPr lang="en-US" sz="1600" dirty="0"/>
          </a:p>
        </p:txBody>
      </p:sp>
      <p:sp>
        <p:nvSpPr>
          <p:cNvPr id="6" name="Text 3"/>
          <p:cNvSpPr/>
          <p:nvPr/>
        </p:nvSpPr>
        <p:spPr>
          <a:xfrm>
            <a:off x="7959231" y="5662019"/>
            <a:ext cx="2254685" cy="40011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Sean Wong</a:t>
            </a:r>
            <a:endParaRPr lang="en-US" sz="1600" dirty="0"/>
          </a:p>
        </p:txBody>
      </p:sp>
      <p:sp>
        <p:nvSpPr>
          <p:cNvPr id="7" name="Text 4"/>
          <p:cNvSpPr/>
          <p:nvPr/>
        </p:nvSpPr>
        <p:spPr>
          <a:xfrm>
            <a:off x="7983268" y="6038379"/>
            <a:ext cx="4208732"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2025/08/04</a:t>
            </a:r>
            <a:endParaRPr lang="en-US" sz="1600" dirty="0"/>
          </a:p>
        </p:txBody>
      </p:sp>
      <p:pic>
        <p:nvPicPr>
          <p:cNvPr id="8" name="Image 1" descr="https://kimi-img.moonshot.cn/pub/slides/slides_tmpl/image/25-08-27-20:09:02-d2nfanh8bjvh7rlj0hvg.png"/>
          <p:cNvPicPr>
            <a:picLocks noChangeAspect="1"/>
          </p:cNvPicPr>
          <p:nvPr/>
        </p:nvPicPr>
        <p:blipFill>
          <a:blip r:embed="rId4"/>
          <a:stretch>
            <a:fillRect/>
          </a:stretch>
        </p:blipFill>
        <p:spPr>
          <a:xfrm>
            <a:off x="10528741" y="5110209"/>
            <a:ext cx="1323439" cy="1323439"/>
          </a:xfrm>
          <a:prstGeom prst="rect">
            <a:avLst/>
          </a:prstGeom>
        </p:spPr>
      </p:pic>
      <p:pic>
        <p:nvPicPr>
          <p:cNvPr id="9" name="Image 2" descr="https://kimi-img.moonshot.cn/pub/slides/slides_tmpl/image/25-08-27-20:09:02-d2nfanh8bjvh7rlj0hu0.png"/>
          <p:cNvPicPr>
            <a:picLocks noChangeAspect="1"/>
          </p:cNvPicPr>
          <p:nvPr/>
        </p:nvPicPr>
        <p:blipFill>
          <a:blip r:embed="rId5"/>
          <a:stretch>
            <a:fillRect/>
          </a:stretch>
        </p:blipFill>
        <p:spPr>
          <a:xfrm>
            <a:off x="411387" y="5136798"/>
            <a:ext cx="463139" cy="463139"/>
          </a:xfrm>
          <a:prstGeom prst="rect">
            <a:avLst/>
          </a:prstGeom>
        </p:spPr>
      </p:pic>
      <p:pic>
        <p:nvPicPr>
          <p:cNvPr id="10" name="Image 3" descr="https://kimi-img.moonshot.cn/pub/slides/slides_tmpl/image/25-08-27-20:09:02-d2nfanh8bjvh7rlj0hug.png"/>
          <p:cNvPicPr>
            <a:picLocks noChangeAspect="1"/>
          </p:cNvPicPr>
          <p:nvPr/>
        </p:nvPicPr>
        <p:blipFill>
          <a:blip r:embed="rId6"/>
          <a:stretch>
            <a:fillRect/>
          </a:stretch>
        </p:blipFill>
        <p:spPr>
          <a:xfrm>
            <a:off x="47770" y="3069032"/>
            <a:ext cx="2420888" cy="2420888"/>
          </a:xfrm>
          <a:prstGeom prst="rect">
            <a:avLst/>
          </a:prstGeom>
        </p:spPr>
      </p:pic>
      <p:pic>
        <p:nvPicPr>
          <p:cNvPr id="11" name="Image 4" descr="https://kimi-img.moonshot.cn/pub/slides/slides_tmpl/image/25-08-27-20:09:02-d2nfanh8bjvh7rlj0hv0.png"/>
          <p:cNvPicPr>
            <a:picLocks noChangeAspect="1"/>
          </p:cNvPicPr>
          <p:nvPr/>
        </p:nvPicPr>
        <p:blipFill>
          <a:blip r:embed="rId7"/>
          <a:stretch>
            <a:fillRect/>
          </a:stretch>
        </p:blipFill>
        <p:spPr>
          <a:xfrm>
            <a:off x="8040216" y="5231637"/>
            <a:ext cx="635000" cy="36830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101764" y="0"/>
            <a:ext cx="2916401" cy="6858000"/>
          </a:xfrm>
          <a:custGeom>
            <a:avLst/>
            <a:gdLst/>
            <a:ahLst/>
            <a:cxnLst/>
            <a:rect l="l" t="t" r="r" b="b"/>
            <a:pathLst>
              <a:path w="2916401" h="6858000">
                <a:moveTo>
                  <a:pt x="0" y="0"/>
                </a:moveTo>
                <a:lnTo>
                  <a:pt x="1310838" y="0"/>
                </a:lnTo>
                <a:lnTo>
                  <a:pt x="1453357" y="123454"/>
                </a:lnTo>
                <a:cubicBezTo>
                  <a:pt x="2352136" y="940343"/>
                  <a:pt x="2916401" y="2118776"/>
                  <a:pt x="2916401" y="3429000"/>
                </a:cubicBezTo>
                <a:cubicBezTo>
                  <a:pt x="2916401" y="4739224"/>
                  <a:pt x="2352136" y="5917657"/>
                  <a:pt x="1453357" y="6734546"/>
                </a:cubicBezTo>
                <a:lnTo>
                  <a:pt x="1310838" y="6858000"/>
                </a:lnTo>
                <a:lnTo>
                  <a:pt x="220806" y="6858000"/>
                </a:lnTo>
                <a:lnTo>
                  <a:pt x="224168" y="6856279"/>
                </a:lnTo>
                <a:cubicBezTo>
                  <a:pt x="1419763" y="6206792"/>
                  <a:pt x="2231395" y="4940069"/>
                  <a:pt x="2231395" y="3483779"/>
                </a:cubicBezTo>
                <a:cubicBezTo>
                  <a:pt x="2231395" y="1961294"/>
                  <a:pt x="1344301" y="646001"/>
                  <a:pt x="58792" y="26579"/>
                </a:cubicBezTo>
                <a:close/>
              </a:path>
            </a:pathLst>
          </a:custGeom>
          <a:solidFill>
            <a:srgbClr val="F3F3F7"/>
          </a:solidFill>
          <a:ln/>
        </p:spPr>
      </p:sp>
      <p:sp>
        <p:nvSpPr>
          <p:cNvPr id="3" name="Text 1"/>
          <p:cNvSpPr/>
          <p:nvPr/>
        </p:nvSpPr>
        <p:spPr>
          <a:xfrm>
            <a:off x="2101764" y="0"/>
            <a:ext cx="2916401"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958283" y="4784098"/>
            <a:ext cx="231418" cy="231418"/>
          </a:xfrm>
          <a:prstGeom prst="rect">
            <a:avLst/>
          </a:prstGeom>
          <a:solidFill>
            <a:srgbClr val="D2F9E9"/>
          </a:solidFill>
          <a:ln/>
        </p:spPr>
      </p:sp>
      <p:sp>
        <p:nvSpPr>
          <p:cNvPr id="5" name="Text 3"/>
          <p:cNvSpPr/>
          <p:nvPr/>
        </p:nvSpPr>
        <p:spPr>
          <a:xfrm>
            <a:off x="958283" y="478409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958283" y="3070930"/>
            <a:ext cx="231418" cy="231418"/>
          </a:xfrm>
          <a:prstGeom prst="rect">
            <a:avLst/>
          </a:prstGeom>
          <a:solidFill>
            <a:srgbClr val="8FABDB"/>
          </a:solidFill>
          <a:ln/>
        </p:spPr>
      </p:sp>
      <p:sp>
        <p:nvSpPr>
          <p:cNvPr id="7" name="Text 5"/>
          <p:cNvSpPr/>
          <p:nvPr/>
        </p:nvSpPr>
        <p:spPr>
          <a:xfrm>
            <a:off x="958283" y="3070930"/>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958283" y="3508088"/>
            <a:ext cx="231418" cy="231418"/>
          </a:xfrm>
          <a:prstGeom prst="rect">
            <a:avLst/>
          </a:prstGeom>
          <a:solidFill>
            <a:srgbClr val="B3C5E6"/>
          </a:solidFill>
          <a:ln/>
        </p:spPr>
      </p:sp>
      <p:sp>
        <p:nvSpPr>
          <p:cNvPr id="9" name="Text 7"/>
          <p:cNvSpPr/>
          <p:nvPr/>
        </p:nvSpPr>
        <p:spPr>
          <a:xfrm>
            <a:off x="958283" y="350808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958283" y="3736938"/>
            <a:ext cx="231418" cy="231418"/>
          </a:xfrm>
          <a:prstGeom prst="rect">
            <a:avLst/>
          </a:prstGeom>
          <a:solidFill>
            <a:srgbClr val="B2D0E3"/>
          </a:solidFill>
          <a:ln/>
        </p:spPr>
      </p:sp>
      <p:sp>
        <p:nvSpPr>
          <p:cNvPr id="11" name="Text 9"/>
          <p:cNvSpPr/>
          <p:nvPr/>
        </p:nvSpPr>
        <p:spPr>
          <a:xfrm>
            <a:off x="958283" y="373693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958283" y="3944784"/>
            <a:ext cx="231418" cy="231418"/>
          </a:xfrm>
          <a:prstGeom prst="rect">
            <a:avLst/>
          </a:prstGeom>
          <a:solidFill>
            <a:srgbClr val="B7DBE3"/>
          </a:solidFill>
          <a:ln/>
        </p:spPr>
      </p:sp>
      <p:sp>
        <p:nvSpPr>
          <p:cNvPr id="13" name="Text 11"/>
          <p:cNvSpPr/>
          <p:nvPr/>
        </p:nvSpPr>
        <p:spPr>
          <a:xfrm>
            <a:off x="958283" y="3944784"/>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958283" y="4173384"/>
            <a:ext cx="231418" cy="231418"/>
          </a:xfrm>
          <a:prstGeom prst="rect">
            <a:avLst/>
          </a:prstGeom>
          <a:solidFill>
            <a:srgbClr val="BAE3E1"/>
          </a:solidFill>
          <a:ln/>
        </p:spPr>
      </p:sp>
      <p:sp>
        <p:nvSpPr>
          <p:cNvPr id="15" name="Text 13"/>
          <p:cNvSpPr/>
          <p:nvPr/>
        </p:nvSpPr>
        <p:spPr>
          <a:xfrm>
            <a:off x="958283" y="4173384"/>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958283" y="4372618"/>
            <a:ext cx="231418" cy="231418"/>
          </a:xfrm>
          <a:prstGeom prst="rect">
            <a:avLst/>
          </a:prstGeom>
          <a:solidFill>
            <a:srgbClr val="BEEDE1"/>
          </a:solidFill>
          <a:ln/>
        </p:spPr>
      </p:sp>
      <p:sp>
        <p:nvSpPr>
          <p:cNvPr id="17" name="Text 15"/>
          <p:cNvSpPr/>
          <p:nvPr/>
        </p:nvSpPr>
        <p:spPr>
          <a:xfrm>
            <a:off x="958283" y="437261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958283" y="4589788"/>
            <a:ext cx="231418" cy="231418"/>
          </a:xfrm>
          <a:prstGeom prst="rect">
            <a:avLst/>
          </a:prstGeom>
          <a:solidFill>
            <a:srgbClr val="C9F7E4"/>
          </a:solidFill>
          <a:ln/>
        </p:spPr>
      </p:sp>
      <p:sp>
        <p:nvSpPr>
          <p:cNvPr id="19" name="Text 17"/>
          <p:cNvSpPr/>
          <p:nvPr/>
        </p:nvSpPr>
        <p:spPr>
          <a:xfrm>
            <a:off x="958283" y="458978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958283" y="5001268"/>
            <a:ext cx="231418" cy="231418"/>
          </a:xfrm>
          <a:prstGeom prst="rect">
            <a:avLst/>
          </a:prstGeom>
          <a:solidFill>
            <a:srgbClr val="DEFAEF"/>
          </a:solidFill>
          <a:ln/>
        </p:spPr>
      </p:sp>
      <p:sp>
        <p:nvSpPr>
          <p:cNvPr id="21" name="Text 19"/>
          <p:cNvSpPr/>
          <p:nvPr/>
        </p:nvSpPr>
        <p:spPr>
          <a:xfrm>
            <a:off x="958283" y="500126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958283" y="5195578"/>
            <a:ext cx="231418" cy="231418"/>
          </a:xfrm>
          <a:prstGeom prst="rect">
            <a:avLst/>
          </a:prstGeom>
          <a:solidFill>
            <a:srgbClr val="E2FAF1"/>
          </a:solidFill>
          <a:ln/>
        </p:spPr>
      </p:sp>
      <p:sp>
        <p:nvSpPr>
          <p:cNvPr id="23" name="Text 21"/>
          <p:cNvSpPr/>
          <p:nvPr/>
        </p:nvSpPr>
        <p:spPr>
          <a:xfrm>
            <a:off x="958283" y="519557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958283" y="5424178"/>
            <a:ext cx="231418" cy="231418"/>
          </a:xfrm>
          <a:prstGeom prst="rect">
            <a:avLst/>
          </a:prstGeom>
          <a:solidFill>
            <a:srgbClr val="EBFDF5"/>
          </a:solidFill>
          <a:ln/>
        </p:spPr>
      </p:sp>
      <p:sp>
        <p:nvSpPr>
          <p:cNvPr id="25" name="Text 23"/>
          <p:cNvSpPr/>
          <p:nvPr/>
        </p:nvSpPr>
        <p:spPr>
          <a:xfrm>
            <a:off x="958283" y="542417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6" name="Shape 24"/>
          <p:cNvSpPr/>
          <p:nvPr/>
        </p:nvSpPr>
        <p:spPr>
          <a:xfrm>
            <a:off x="958283" y="5641348"/>
            <a:ext cx="231418" cy="231418"/>
          </a:xfrm>
          <a:prstGeom prst="rect">
            <a:avLst/>
          </a:prstGeom>
          <a:solidFill>
            <a:srgbClr val="F1FEF8"/>
          </a:solidFill>
          <a:ln/>
        </p:spPr>
      </p:sp>
      <p:sp>
        <p:nvSpPr>
          <p:cNvPr id="27" name="Text 25"/>
          <p:cNvSpPr/>
          <p:nvPr/>
        </p:nvSpPr>
        <p:spPr>
          <a:xfrm>
            <a:off x="958283" y="564134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8" name="Shape 26"/>
          <p:cNvSpPr/>
          <p:nvPr/>
        </p:nvSpPr>
        <p:spPr>
          <a:xfrm>
            <a:off x="958283" y="5858518"/>
            <a:ext cx="231418" cy="231418"/>
          </a:xfrm>
          <a:prstGeom prst="rect">
            <a:avLst/>
          </a:prstGeom>
          <a:solidFill>
            <a:srgbClr val="F7FFFB"/>
          </a:solidFill>
          <a:ln/>
        </p:spPr>
      </p:sp>
      <p:sp>
        <p:nvSpPr>
          <p:cNvPr id="29" name="Text 27"/>
          <p:cNvSpPr/>
          <p:nvPr/>
        </p:nvSpPr>
        <p:spPr>
          <a:xfrm>
            <a:off x="958283" y="585851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30" name="Shape 28"/>
          <p:cNvSpPr/>
          <p:nvPr/>
        </p:nvSpPr>
        <p:spPr>
          <a:xfrm>
            <a:off x="958283" y="3299530"/>
            <a:ext cx="231418" cy="231418"/>
          </a:xfrm>
          <a:prstGeom prst="rect">
            <a:avLst/>
          </a:prstGeom>
          <a:solidFill>
            <a:srgbClr val="9DB4E0"/>
          </a:solidFill>
          <a:ln/>
        </p:spPr>
      </p:sp>
      <p:sp>
        <p:nvSpPr>
          <p:cNvPr id="31" name="Text 29"/>
          <p:cNvSpPr/>
          <p:nvPr/>
        </p:nvSpPr>
        <p:spPr>
          <a:xfrm>
            <a:off x="958283" y="3299530"/>
            <a:ext cx="231418" cy="231418"/>
          </a:xfrm>
          <a:prstGeom prst="rect">
            <a:avLst/>
          </a:prstGeom>
          <a:noFill/>
          <a:ln/>
        </p:spPr>
        <p:txBody>
          <a:bodyPr wrap="square" lIns="45720" tIns="91440" rIns="91440" bIns="45720" rtlCol="0" anchor="ctr"/>
          <a:lstStyle/>
          <a:p>
            <a:pPr>
              <a:lnSpc>
                <a:spcPct val="100000"/>
              </a:lnSpc>
            </a:pPr>
            <a:endParaRPr lang="en-US" sz="1600" dirty="0"/>
          </a:p>
        </p:txBody>
      </p:sp>
      <p:pic>
        <p:nvPicPr>
          <p:cNvPr id="32" name="Image 0" descr="https://kimi-img.moonshot.cn/pub/slides/slides_tmpl/image/25-08-27-20:09:03-d2nfanp8bjvh7rlj0i2g.png"/>
          <p:cNvPicPr>
            <a:picLocks noChangeAspect="1"/>
          </p:cNvPicPr>
          <p:nvPr/>
        </p:nvPicPr>
        <p:blipFill>
          <a:blip r:embed="rId3"/>
          <a:stretch>
            <a:fillRect/>
          </a:stretch>
        </p:blipFill>
        <p:spPr>
          <a:xfrm>
            <a:off x="4651601" y="365720"/>
            <a:ext cx="6438900" cy="5943600"/>
          </a:xfrm>
          <a:prstGeom prst="rect">
            <a:avLst/>
          </a:prstGeom>
        </p:spPr>
      </p:pic>
      <p:pic>
        <p:nvPicPr>
          <p:cNvPr id="33" name="Image 1" descr="https://kimi-img.moonshot.cn/pub/slides/slides_tmpl/image/25-08-27-20:09:03-d2nfanp8bjvh7rlj0i00.png"/>
          <p:cNvPicPr>
            <a:picLocks noChangeAspect="1"/>
          </p:cNvPicPr>
          <p:nvPr/>
        </p:nvPicPr>
        <p:blipFill>
          <a:blip r:embed="rId4"/>
          <a:srcRect b="95767"/>
          <a:stretch/>
        </p:blipFill>
        <p:spPr>
          <a:xfrm>
            <a:off x="263525" y="741045"/>
            <a:ext cx="3962400" cy="95696"/>
          </a:xfrm>
          <a:prstGeom prst="rect">
            <a:avLst/>
          </a:prstGeom>
        </p:spPr>
      </p:pic>
      <p:sp>
        <p:nvSpPr>
          <p:cNvPr id="34" name="Text 30"/>
          <p:cNvSpPr/>
          <p:nvPr/>
        </p:nvSpPr>
        <p:spPr>
          <a:xfrm>
            <a:off x="954405" y="993775"/>
            <a:ext cx="4064000" cy="829945"/>
          </a:xfrm>
          <a:prstGeom prst="rect">
            <a:avLst/>
          </a:prstGeom>
          <a:noFill/>
          <a:ln/>
        </p:spPr>
        <p:txBody>
          <a:bodyPr wrap="square" lIns="91440" tIns="45720" rIns="91440" bIns="45720" rtlCol="0" anchor="t">
            <a:spAutoFit/>
          </a:bodyPr>
          <a:lstStyle/>
          <a:p>
            <a:pPr>
              <a:lnSpc>
                <a:spcPct val="100000"/>
              </a:lnSpc>
            </a:pPr>
            <a:r>
              <a:rPr lang="en-US" sz="4800" b="1" dirty="0">
                <a:solidFill>
                  <a:srgbClr val="000000"/>
                </a:solidFill>
                <a:latin typeface="Source Han Sans SC" pitchFamily="34" charset="0"/>
                <a:ea typeface="Source Han Sans SC" pitchFamily="34" charset="-122"/>
                <a:cs typeface="Source Han Sans SC" pitchFamily="34" charset="-120"/>
              </a:rPr>
              <a:t>CONTENTS</a:t>
            </a:r>
            <a:endParaRPr lang="en-US" sz="1600" dirty="0"/>
          </a:p>
        </p:txBody>
      </p:sp>
      <p:sp>
        <p:nvSpPr>
          <p:cNvPr id="35" name="Text 31"/>
          <p:cNvSpPr/>
          <p:nvPr/>
        </p:nvSpPr>
        <p:spPr>
          <a:xfrm>
            <a:off x="5046503" y="1796007"/>
            <a:ext cx="2994499" cy="615553"/>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Index Fundamentals</a:t>
            </a:r>
            <a:endParaRPr lang="en-US" sz="1600" dirty="0"/>
          </a:p>
        </p:txBody>
      </p:sp>
      <p:sp>
        <p:nvSpPr>
          <p:cNvPr id="36" name="Text 32"/>
          <p:cNvSpPr/>
          <p:nvPr/>
        </p:nvSpPr>
        <p:spPr>
          <a:xfrm>
            <a:off x="8475503" y="1796007"/>
            <a:ext cx="2994499" cy="615553"/>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Index Lifecycle</a:t>
            </a:r>
            <a:endParaRPr lang="en-US" sz="1600" dirty="0"/>
          </a:p>
        </p:txBody>
      </p:sp>
      <p:sp>
        <p:nvSpPr>
          <p:cNvPr id="37" name="Text 33"/>
          <p:cNvSpPr/>
          <p:nvPr/>
        </p:nvSpPr>
        <p:spPr>
          <a:xfrm>
            <a:off x="5471071" y="3849940"/>
            <a:ext cx="2566966" cy="584775"/>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EXPLAIN Deep Dive</a:t>
            </a:r>
            <a:endParaRPr lang="en-US" sz="1600" dirty="0"/>
          </a:p>
        </p:txBody>
      </p:sp>
      <p:sp>
        <p:nvSpPr>
          <p:cNvPr id="38" name="Text 34"/>
          <p:cNvSpPr/>
          <p:nvPr/>
        </p:nvSpPr>
        <p:spPr>
          <a:xfrm>
            <a:off x="8765604" y="3854987"/>
            <a:ext cx="2994499" cy="615553"/>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Query Optimization</a:t>
            </a:r>
            <a:endParaRPr lang="en-US" sz="1600" dirty="0"/>
          </a:p>
        </p:txBody>
      </p:sp>
      <p:sp>
        <p:nvSpPr>
          <p:cNvPr id="39" name="Text 35"/>
          <p:cNvSpPr/>
          <p:nvPr/>
        </p:nvSpPr>
        <p:spPr>
          <a:xfrm>
            <a:off x="5143871" y="6086695"/>
            <a:ext cx="2778475" cy="615553"/>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Best Practices</a:t>
            </a:r>
            <a:endParaRPr lang="en-US" sz="1600" dirty="0"/>
          </a:p>
        </p:txBody>
      </p:sp>
      <p:sp>
        <p:nvSpPr>
          <p:cNvPr id="40" name="Text 36"/>
          <p:cNvSpPr/>
          <p:nvPr/>
        </p:nvSpPr>
        <p:spPr>
          <a:xfrm>
            <a:off x="8572871" y="6082269"/>
            <a:ext cx="2566967" cy="861774"/>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Hands-On &amp; Wrap-Up</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Index Fundamentals</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1-d2nfapp8bjvh7rlj0in0.jpg"/>
          <p:cNvPicPr>
            <a:picLocks noChangeAspect="1"/>
          </p:cNvPicPr>
          <p:nvPr/>
        </p:nvPicPr>
        <p:blipFill>
          <a:blip r:embed="rId3"/>
          <a:stretch>
            <a:fillRect/>
          </a:stretch>
        </p:blipFill>
        <p:spPr>
          <a:xfrm>
            <a:off x="7519987" y="0"/>
            <a:ext cx="4672013" cy="6858000"/>
          </a:xfrm>
          <a:prstGeom prst="rect">
            <a:avLst/>
          </a:prstGeom>
        </p:spPr>
      </p:pic>
      <p:sp>
        <p:nvSpPr>
          <p:cNvPr id="3" name="Shape 0"/>
          <p:cNvSpPr/>
          <p:nvPr/>
        </p:nvSpPr>
        <p:spPr>
          <a:xfrm>
            <a:off x="0" y="0"/>
            <a:ext cx="7519987" cy="6872844"/>
          </a:xfrm>
          <a:prstGeom prst="rect">
            <a:avLst/>
          </a:prstGeom>
          <a:solidFill>
            <a:srgbClr val="161616"/>
          </a:solidFill>
          <a:ln/>
        </p:spPr>
      </p:sp>
      <p:sp>
        <p:nvSpPr>
          <p:cNvPr id="4" name="Text 1"/>
          <p:cNvSpPr/>
          <p:nvPr/>
        </p:nvSpPr>
        <p:spPr>
          <a:xfrm>
            <a:off x="0" y="0"/>
            <a:ext cx="7519987" cy="6872844"/>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p:cNvSpPr/>
          <p:nvPr/>
        </p:nvSpPr>
        <p:spPr>
          <a:xfrm>
            <a:off x="5553773" y="691737"/>
            <a:ext cx="5870202" cy="5474525"/>
          </a:xfrm>
          <a:prstGeom prst="rect">
            <a:avLst/>
          </a:prstGeom>
          <a:solidFill>
            <a:srgbClr val="FFFFFF"/>
          </a:solidFill>
          <a:ln/>
        </p:spPr>
      </p:sp>
      <p:sp>
        <p:nvSpPr>
          <p:cNvPr id="6" name="Text 3"/>
          <p:cNvSpPr/>
          <p:nvPr/>
        </p:nvSpPr>
        <p:spPr>
          <a:xfrm>
            <a:off x="5553773" y="691737"/>
            <a:ext cx="5870202" cy="5474525"/>
          </a:xfrm>
          <a:prstGeom prst="rect">
            <a:avLst/>
          </a:prstGeom>
          <a:noFill/>
          <a:ln/>
        </p:spPr>
        <p:txBody>
          <a:bodyPr wrap="square" lIns="45720" tIns="91440" rIns="91440" bIns="45720" rtlCol="0" anchor="ctr"/>
          <a:lstStyle/>
          <a:p>
            <a:pPr>
              <a:lnSpc>
                <a:spcPct val="100000"/>
              </a:lnSpc>
            </a:pPr>
            <a:endParaRPr lang="en-US" sz="1600" dirty="0"/>
          </a:p>
        </p:txBody>
      </p:sp>
      <p:sp>
        <p:nvSpPr>
          <p:cNvPr id="7" name="Text 4"/>
          <p:cNvSpPr/>
          <p:nvPr/>
        </p:nvSpPr>
        <p:spPr>
          <a:xfrm>
            <a:off x="659768" y="1856646"/>
            <a:ext cx="4118258" cy="1477328"/>
          </a:xfrm>
          <a:prstGeom prst="rect">
            <a:avLst/>
          </a:prstGeom>
          <a:noFill/>
          <a:ln/>
        </p:spPr>
        <p:txBody>
          <a:bodyPr wrap="square" lIns="91440" tIns="45720" rIns="91440" bIns="45720" rtlCol="0" anchor="t">
            <a:spAutoFit/>
          </a:bodyPr>
          <a:lstStyle/>
          <a:p>
            <a:pPr>
              <a:lnSpc>
                <a:spcPct val="100000"/>
              </a:lnSpc>
            </a:pPr>
            <a:r>
              <a:rPr lang="en-US" sz="3600" dirty="0">
                <a:solidFill>
                  <a:srgbClr val="FFFFFF"/>
                </a:solidFill>
                <a:latin typeface="Source Han Sans SC" pitchFamily="34" charset="0"/>
                <a:ea typeface="Source Han Sans SC" pitchFamily="34" charset="-122"/>
                <a:cs typeface="Source Han Sans SC" pitchFamily="34" charset="-120"/>
              </a:rPr>
              <a:t>What Are Database Indexes</a:t>
            </a:r>
            <a:endParaRPr lang="en-US" sz="1600" dirty="0"/>
          </a:p>
        </p:txBody>
      </p:sp>
      <p:pic>
        <p:nvPicPr>
          <p:cNvPr id="8" name="Image 1" descr="https://kimi-img.moonshot.cn/pub/slides/slides_tmpl/image/25-08-27-20:09:10-d2nfaph8bjvh7rlj0ihg.png"/>
          <p:cNvPicPr>
            <a:picLocks noChangeAspect="1"/>
          </p:cNvPicPr>
          <p:nvPr/>
        </p:nvPicPr>
        <p:blipFill>
          <a:blip r:embed="rId4"/>
          <a:stretch>
            <a:fillRect/>
          </a:stretch>
        </p:blipFill>
        <p:spPr>
          <a:xfrm>
            <a:off x="2162257" y="1286340"/>
            <a:ext cx="635000" cy="368300"/>
          </a:xfrm>
          <a:prstGeom prst="rect">
            <a:avLst/>
          </a:prstGeom>
        </p:spPr>
      </p:pic>
      <p:sp>
        <p:nvSpPr>
          <p:cNvPr id="9" name="Text 5"/>
          <p:cNvSpPr/>
          <p:nvPr/>
        </p:nvSpPr>
        <p:spPr>
          <a:xfrm>
            <a:off x="673100" y="3244850"/>
            <a:ext cx="4212590"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Index Definition</a:t>
            </a:r>
            <a:endParaRPr lang="en-US" sz="1600" dirty="0"/>
          </a:p>
        </p:txBody>
      </p:sp>
      <p:sp>
        <p:nvSpPr>
          <p:cNvPr id="10" name="Text 6"/>
          <p:cNvSpPr/>
          <p:nvPr/>
        </p:nvSpPr>
        <p:spPr>
          <a:xfrm>
            <a:off x="672843" y="3592270"/>
            <a:ext cx="3613829" cy="181483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An index is a data structure that accelerates the retrieval of rows from a database table. It acts like a book index, allowing you to quickly locate specific pages without reading the entire book.</a:t>
            </a:r>
            <a:endParaRPr lang="en-US" sz="1600" dirty="0"/>
          </a:p>
        </p:txBody>
      </p:sp>
      <p:sp>
        <p:nvSpPr>
          <p:cNvPr id="11" name="Text 7"/>
          <p:cNvSpPr/>
          <p:nvPr/>
        </p:nvSpPr>
        <p:spPr>
          <a:xfrm>
            <a:off x="6309995" y="1484630"/>
            <a:ext cx="4384675"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Performance Benefits</a:t>
            </a:r>
            <a:endParaRPr lang="en-US" sz="1600" dirty="0"/>
          </a:p>
        </p:txBody>
      </p:sp>
      <p:sp>
        <p:nvSpPr>
          <p:cNvPr id="12" name="Text 8"/>
          <p:cNvSpPr/>
          <p:nvPr/>
        </p:nvSpPr>
        <p:spPr>
          <a:xfrm>
            <a:off x="6310009" y="1807120"/>
            <a:ext cx="4710824" cy="156845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Indexes significantly improve query performance, especially for large datasets. They enhance the efficiency of SELECT, JOIN, and ORDER BY operations by reducing the number of rows that need to be scanned.</a:t>
            </a:r>
            <a:endParaRPr lang="en-US" sz="1600" dirty="0"/>
          </a:p>
        </p:txBody>
      </p:sp>
      <p:sp>
        <p:nvSpPr>
          <p:cNvPr id="13" name="Text 9"/>
          <p:cNvSpPr/>
          <p:nvPr/>
        </p:nvSpPr>
        <p:spPr>
          <a:xfrm>
            <a:off x="6309995" y="3911600"/>
            <a:ext cx="4678045"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Trade-offs</a:t>
            </a:r>
            <a:endParaRPr lang="en-US" sz="1600" dirty="0"/>
          </a:p>
        </p:txBody>
      </p:sp>
      <p:sp>
        <p:nvSpPr>
          <p:cNvPr id="14" name="Text 10"/>
          <p:cNvSpPr/>
          <p:nvPr/>
        </p:nvSpPr>
        <p:spPr>
          <a:xfrm>
            <a:off x="6310009" y="4233929"/>
            <a:ext cx="4710824" cy="156845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While indexes speed up read operations, they consume additional storage space and can slow down write operations like INSERT, UPDATE, and DELETE. Balancing these trade-offs is crucial.</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47971" y="819082"/>
            <a:ext cx="4677917" cy="5490238"/>
          </a:xfrm>
          <a:prstGeom prst="rect">
            <a:avLst/>
          </a:prstGeom>
          <a:solidFill>
            <a:srgbClr val="161616"/>
          </a:solidFill>
          <a:ln/>
        </p:spPr>
      </p:sp>
      <p:sp>
        <p:nvSpPr>
          <p:cNvPr id="3" name="Text 1"/>
          <p:cNvSpPr/>
          <p:nvPr/>
        </p:nvSpPr>
        <p:spPr>
          <a:xfrm>
            <a:off x="6847971" y="819082"/>
            <a:ext cx="4677917" cy="5490238"/>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663575" y="5517515"/>
            <a:ext cx="6209030" cy="780415"/>
          </a:xfrm>
          <a:prstGeom prst="rect">
            <a:avLst/>
          </a:prstGeom>
          <a:noFill/>
          <a:ln/>
        </p:spPr>
        <p:txBody>
          <a:bodyPr wrap="square" lIns="91440" tIns="45720" rIns="91440" bIns="45720" rtlCol="0" anchor="b"/>
          <a:lstStyle/>
          <a:p>
            <a:pP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MySQL Index Types Overview</a:t>
            </a:r>
            <a:endParaRPr lang="en-US" sz="1600" dirty="0"/>
          </a:p>
        </p:txBody>
      </p:sp>
      <p:pic>
        <p:nvPicPr>
          <p:cNvPr id="5" name="Image 0" descr="https://kimi-img.moonshot.cn/pub/slides/slides_tmpl/image/25-08-27-20:09:07-d2nfaop8bjvh7rlj0i9g.jpg"/>
          <p:cNvPicPr>
            <a:picLocks noChangeAspect="1"/>
          </p:cNvPicPr>
          <p:nvPr/>
        </p:nvPicPr>
        <p:blipFill>
          <a:blip r:embed="rId3"/>
          <a:stretch>
            <a:fillRect/>
          </a:stretch>
        </p:blipFill>
        <p:spPr>
          <a:xfrm>
            <a:off x="1797445" y="1597073"/>
            <a:ext cx="4697341" cy="2642254"/>
          </a:xfrm>
          <a:prstGeom prst="rect">
            <a:avLst/>
          </a:prstGeom>
        </p:spPr>
      </p:pic>
      <p:sp>
        <p:nvSpPr>
          <p:cNvPr id="6" name="Shape 3"/>
          <p:cNvSpPr/>
          <p:nvPr/>
        </p:nvSpPr>
        <p:spPr>
          <a:xfrm>
            <a:off x="767408" y="1597073"/>
            <a:ext cx="1030037" cy="631057"/>
          </a:xfrm>
          <a:prstGeom prst="rect">
            <a:avLst/>
          </a:prstGeom>
          <a:solidFill>
            <a:srgbClr val="9DB4E0"/>
          </a:solidFill>
          <a:ln/>
        </p:spPr>
      </p:sp>
      <p:sp>
        <p:nvSpPr>
          <p:cNvPr id="7" name="Text 4"/>
          <p:cNvSpPr/>
          <p:nvPr/>
        </p:nvSpPr>
        <p:spPr>
          <a:xfrm>
            <a:off x="767408" y="1597073"/>
            <a:ext cx="1030037" cy="631057"/>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1127448" y="1916832"/>
            <a:ext cx="288032" cy="0"/>
          </a:xfrm>
          <a:prstGeom prst="straightConnector1">
            <a:avLst/>
          </a:prstGeom>
          <a:noFill/>
          <a:ln w="19050">
            <a:solidFill>
              <a:srgbClr val="000000"/>
            </a:solidFill>
            <a:prstDash val="solid"/>
            <a:headEnd type="none"/>
            <a:tailEnd type="triangle"/>
          </a:ln>
        </p:spPr>
      </p:sp>
      <p:sp>
        <p:nvSpPr>
          <p:cNvPr id="9" name="Text 6"/>
          <p:cNvSpPr/>
          <p:nvPr/>
        </p:nvSpPr>
        <p:spPr>
          <a:xfrm>
            <a:off x="6892290" y="1269365"/>
            <a:ext cx="4576445" cy="718185"/>
          </a:xfrm>
          <a:prstGeom prst="rect">
            <a:avLst/>
          </a:prstGeom>
          <a:noFill/>
          <a:ln/>
        </p:spPr>
        <p:txBody>
          <a:bodyPr wrap="square" lIns="91440" tIns="45720" rIns="91440" bIns="45720" rtlCol="0" anchor="b"/>
          <a:lstStyle/>
          <a:p>
            <a:pPr algn="ct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Primary Key Index</a:t>
            </a:r>
            <a:endParaRPr lang="en-US" sz="1600" dirty="0"/>
          </a:p>
        </p:txBody>
      </p:sp>
      <p:sp>
        <p:nvSpPr>
          <p:cNvPr id="10" name="Text 7"/>
          <p:cNvSpPr/>
          <p:nvPr/>
        </p:nvSpPr>
        <p:spPr>
          <a:xfrm>
            <a:off x="7024688" y="2030506"/>
            <a:ext cx="4263303" cy="156845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Primary Key Index is automatically created with the PRIMARY KEY constraint. It ensures unique values and non-null entries, providing a unique identifier for each row in the table.</a:t>
            </a:r>
            <a:endParaRPr lang="en-US" sz="1600" dirty="0"/>
          </a:p>
        </p:txBody>
      </p:sp>
      <p:sp>
        <p:nvSpPr>
          <p:cNvPr id="11" name="Text 8"/>
          <p:cNvSpPr/>
          <p:nvPr/>
        </p:nvSpPr>
        <p:spPr>
          <a:xfrm>
            <a:off x="6882130" y="4077335"/>
            <a:ext cx="4504055" cy="460375"/>
          </a:xfrm>
          <a:prstGeom prst="rect">
            <a:avLst/>
          </a:prstGeom>
          <a:noFill/>
          <a:ln/>
        </p:spPr>
        <p:txBody>
          <a:bodyPr wrap="square" lIns="91440" tIns="45720" rIns="91440" bIns="45720" rtlCol="0" anchor="b">
            <a:spAutoFit/>
          </a:bodyPr>
          <a:lstStyle/>
          <a:p>
            <a:pPr algn="ct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Unique Index</a:t>
            </a:r>
            <a:endParaRPr lang="en-US" sz="1600" dirty="0"/>
          </a:p>
        </p:txBody>
      </p:sp>
      <p:sp>
        <p:nvSpPr>
          <p:cNvPr id="12" name="Text 9"/>
          <p:cNvSpPr/>
          <p:nvPr/>
        </p:nvSpPr>
        <p:spPr>
          <a:xfrm>
            <a:off x="7024688" y="4540101"/>
            <a:ext cx="4263303" cy="156845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Unique Index ensures that all values in the specified column(s) are unique. It is useful for enforcing uniqueness constraints on columns other than the primary key.</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Index Lifecycle</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192000" cy="6858001"/>
          </a:xfrm>
          <a:prstGeom prst="rect">
            <a:avLst/>
          </a:prstGeom>
          <a:solidFill>
            <a:srgbClr val="0D0D0D"/>
          </a:solidFill>
          <a:ln/>
        </p:spPr>
      </p:sp>
      <p:sp>
        <p:nvSpPr>
          <p:cNvPr id="3" name="Text 1"/>
          <p:cNvSpPr/>
          <p:nvPr/>
        </p:nvSpPr>
        <p:spPr>
          <a:xfrm>
            <a:off x="0" y="-1"/>
            <a:ext cx="12192000" cy="6858001"/>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2-d2nfaq18bjvh7rlj0ir0.jpeg"/>
          <p:cNvPicPr>
            <a:picLocks noChangeAspect="1"/>
          </p:cNvPicPr>
          <p:nvPr/>
        </p:nvPicPr>
        <p:blipFill>
          <a:blip r:embed="rId3"/>
          <a:srcRect/>
          <a:stretch/>
        </p:blipFill>
        <p:spPr>
          <a:xfrm flipH="1">
            <a:off x="408127" y="2521292"/>
            <a:ext cx="6341541" cy="3473039"/>
          </a:xfrm>
          <a:prstGeom prst="rect">
            <a:avLst/>
          </a:prstGeom>
        </p:spPr>
      </p:pic>
      <p:sp>
        <p:nvSpPr>
          <p:cNvPr id="5" name="Text 2"/>
          <p:cNvSpPr/>
          <p:nvPr/>
        </p:nvSpPr>
        <p:spPr>
          <a:xfrm>
            <a:off x="551180" y="492760"/>
            <a:ext cx="6088380" cy="1285875"/>
          </a:xfrm>
          <a:prstGeom prst="rect">
            <a:avLst/>
          </a:prstGeom>
          <a:noFill/>
          <a:ln/>
        </p:spPr>
        <p:txBody>
          <a:bodyPr wrap="square" lIns="91440" tIns="45720" rIns="91440" bIns="45720" rtlCol="0" anchor="t"/>
          <a:lstStyle/>
          <a:p>
            <a:pPr>
              <a:lnSpc>
                <a:spcPct val="100000"/>
              </a:lnSpc>
            </a:pPr>
            <a:r>
              <a:rPr lang="en-US" sz="3400" dirty="0">
                <a:solidFill>
                  <a:srgbClr val="FFFFFF"/>
                </a:solidFill>
                <a:latin typeface="Source Han Sans SC" pitchFamily="34" charset="0"/>
                <a:ea typeface="Source Han Sans SC" pitchFamily="34" charset="-122"/>
                <a:cs typeface="Source Han Sans SC" pitchFamily="34" charset="-120"/>
              </a:rPr>
              <a:t>Creating Dropping Indexes</a:t>
            </a:r>
            <a:endParaRPr lang="en-US" sz="1600" dirty="0"/>
          </a:p>
        </p:txBody>
      </p:sp>
      <p:sp>
        <p:nvSpPr>
          <p:cNvPr id="6" name="Text 3"/>
          <p:cNvSpPr/>
          <p:nvPr/>
        </p:nvSpPr>
        <p:spPr>
          <a:xfrm>
            <a:off x="408305" y="1774825"/>
            <a:ext cx="5563870"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Creating Index</a:t>
            </a:r>
            <a:endParaRPr lang="en-US" sz="1600" dirty="0"/>
          </a:p>
        </p:txBody>
      </p:sp>
      <p:sp>
        <p:nvSpPr>
          <p:cNvPr id="7" name="Text 4"/>
          <p:cNvSpPr/>
          <p:nvPr/>
        </p:nvSpPr>
        <p:spPr>
          <a:xfrm>
            <a:off x="336119" y="2097392"/>
            <a:ext cx="5423544"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To create an index, use the syntax: CREATE INDEX index_name ON table_name (column_name);. This helps speed up queries on the specified column.</a:t>
            </a:r>
            <a:endParaRPr lang="en-US" sz="1600" dirty="0"/>
          </a:p>
        </p:txBody>
      </p:sp>
      <p:sp>
        <p:nvSpPr>
          <p:cNvPr id="8" name="Text 5"/>
          <p:cNvSpPr/>
          <p:nvPr/>
        </p:nvSpPr>
        <p:spPr>
          <a:xfrm>
            <a:off x="6861810" y="676275"/>
            <a:ext cx="4965065"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Creating Composite Index</a:t>
            </a:r>
            <a:endParaRPr lang="en-US" sz="1600" dirty="0"/>
          </a:p>
        </p:txBody>
      </p:sp>
      <p:sp>
        <p:nvSpPr>
          <p:cNvPr id="9" name="Text 6"/>
          <p:cNvSpPr/>
          <p:nvPr/>
        </p:nvSpPr>
        <p:spPr>
          <a:xfrm>
            <a:off x="6861810" y="998855"/>
            <a:ext cx="4965700"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For multi-column searches, create a composite index using: CREATE INDEX index_name ON table_name (column1, column2);. This optimizes queries involving multiple columns.</a:t>
            </a:r>
            <a:endParaRPr lang="en-US" sz="1600" dirty="0"/>
          </a:p>
        </p:txBody>
      </p:sp>
      <p:sp>
        <p:nvSpPr>
          <p:cNvPr id="10" name="Text 7"/>
          <p:cNvSpPr/>
          <p:nvPr/>
        </p:nvSpPr>
        <p:spPr>
          <a:xfrm>
            <a:off x="6857365" y="2708910"/>
            <a:ext cx="4959350"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Dropping Index</a:t>
            </a:r>
            <a:endParaRPr lang="en-US" sz="1600" dirty="0"/>
          </a:p>
        </p:txBody>
      </p:sp>
      <p:sp>
        <p:nvSpPr>
          <p:cNvPr id="11" name="Text 8"/>
          <p:cNvSpPr/>
          <p:nvPr/>
        </p:nvSpPr>
        <p:spPr>
          <a:xfrm>
            <a:off x="6861810" y="3049905"/>
            <a:ext cx="4965700"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To drop an index, use the syntax: DROP INDEX index_name ON table_name;. This removes the index and frees up storage space.</a:t>
            </a:r>
            <a:endParaRPr lang="en-US" sz="1600" dirty="0"/>
          </a:p>
        </p:txBody>
      </p:sp>
      <p:sp>
        <p:nvSpPr>
          <p:cNvPr id="12" name="Text 9"/>
          <p:cNvSpPr/>
          <p:nvPr/>
        </p:nvSpPr>
        <p:spPr>
          <a:xfrm>
            <a:off x="6857365" y="4645660"/>
            <a:ext cx="5042535"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Index Considerations</a:t>
            </a:r>
            <a:endParaRPr lang="en-US" sz="1600" dirty="0"/>
          </a:p>
        </p:txBody>
      </p:sp>
      <p:sp>
        <p:nvSpPr>
          <p:cNvPr id="13" name="Text 10"/>
          <p:cNvSpPr/>
          <p:nvPr/>
        </p:nvSpPr>
        <p:spPr>
          <a:xfrm>
            <a:off x="6861810" y="5039995"/>
            <a:ext cx="4965700"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Create indexes on columns frequently used in queries. Avoid excessive indexes to prevent overhead on write operations. Only index columns that significantly improve query performance.</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EXPLAIN Deep Dive</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flip="none" rotWithShape="1">
            <a:gsLst>
              <a:gs pos="0">
                <a:srgbClr val="2F5596"/>
              </a:gs>
              <a:gs pos="79000">
                <a:srgbClr val="7095BC"/>
              </a:gs>
              <a:gs pos="96000">
                <a:srgbClr val="B0D5E1"/>
              </a:gs>
              <a:gs pos="100000">
                <a:srgbClr val="C2F5E1"/>
              </a:gs>
            </a:gsLst>
            <a:lin ang="4800000" scaled="1"/>
          </a:gradFill>
          <a:ln w="12700">
            <a:solidFill>
              <a:srgbClr val="09111E"/>
            </a:solidFill>
            <a:prstDash val="solid"/>
          </a:ln>
        </p:spPr>
      </p:sp>
      <p:sp>
        <p:nvSpPr>
          <p:cNvPr id="3" name="Text 1"/>
          <p:cNvSpPr/>
          <p:nvPr/>
        </p:nvSpPr>
        <p:spPr>
          <a:xfrm>
            <a:off x="0" y="0"/>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592455" y="964565"/>
            <a:ext cx="8507730"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FFFFFF"/>
                </a:solidFill>
                <a:latin typeface="Source Han Sans SC" pitchFamily="34" charset="0"/>
                <a:ea typeface="Source Han Sans SC" pitchFamily="34" charset="-122"/>
                <a:cs typeface="Source Han Sans SC" pitchFamily="34" charset="-120"/>
              </a:rPr>
              <a:t>EXPLAIN Plan Anatomy</a:t>
            </a:r>
            <a:endParaRPr lang="en-US" sz="1600" dirty="0"/>
          </a:p>
        </p:txBody>
      </p:sp>
      <p:pic>
        <p:nvPicPr>
          <p:cNvPr id="5" name="Image 0" descr="https://kimi-img.moonshot.cn/pub/slides/slides_tmpl/image/25-08-27-20:09:13-d2nfaq98bjvh7rlj0itg.png"/>
          <p:cNvPicPr>
            <a:picLocks noChangeAspect="1"/>
          </p:cNvPicPr>
          <p:nvPr/>
        </p:nvPicPr>
        <p:blipFill>
          <a:blip r:embed="rId3"/>
          <a:stretch>
            <a:fillRect/>
          </a:stretch>
        </p:blipFill>
        <p:spPr>
          <a:xfrm>
            <a:off x="-6920" y="2115819"/>
            <a:ext cx="6348430" cy="4814878"/>
          </a:xfrm>
          <a:prstGeom prst="rect">
            <a:avLst/>
          </a:prstGeom>
        </p:spPr>
      </p:pic>
      <p:sp>
        <p:nvSpPr>
          <p:cNvPr id="6" name="Text 3"/>
          <p:cNvSpPr/>
          <p:nvPr/>
        </p:nvSpPr>
        <p:spPr>
          <a:xfrm>
            <a:off x="5963285" y="1749425"/>
            <a:ext cx="5843905"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EXPLAIN Statement</a:t>
            </a:r>
            <a:endParaRPr lang="en-US" sz="1600" dirty="0"/>
          </a:p>
        </p:txBody>
      </p:sp>
      <p:sp>
        <p:nvSpPr>
          <p:cNvPr id="7" name="Text 4"/>
          <p:cNvSpPr/>
          <p:nvPr/>
        </p:nvSpPr>
        <p:spPr>
          <a:xfrm>
            <a:off x="5979160" y="2202815"/>
            <a:ext cx="5843905" cy="1476375"/>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Normal" pitchFamily="34" charset="0"/>
                <a:ea typeface="Source Han Sans SC Normal" pitchFamily="34" charset="-122"/>
                <a:cs typeface="Source Han Sans SC Normal" pitchFamily="34" charset="-120"/>
              </a:rPr>
              <a:t>The EXPLAIN statement provides detailed information about how MySQL executes a query. It helps identify bottlenecks and optimize query performance.</a:t>
            </a:r>
            <a:endParaRPr lang="en-US" sz="1600" dirty="0"/>
          </a:p>
        </p:txBody>
      </p:sp>
      <p:sp>
        <p:nvSpPr>
          <p:cNvPr id="8" name="Text 5"/>
          <p:cNvSpPr/>
          <p:nvPr/>
        </p:nvSpPr>
        <p:spPr>
          <a:xfrm>
            <a:off x="5963285" y="4090035"/>
            <a:ext cx="5843905"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EXPLAIN Output Columns</a:t>
            </a:r>
            <a:endParaRPr lang="en-US" sz="1600" dirty="0"/>
          </a:p>
        </p:txBody>
      </p:sp>
      <p:sp>
        <p:nvSpPr>
          <p:cNvPr id="9" name="Text 6"/>
          <p:cNvSpPr/>
          <p:nvPr/>
        </p:nvSpPr>
        <p:spPr>
          <a:xfrm>
            <a:off x="5979160" y="4543425"/>
            <a:ext cx="5843905" cy="1476375"/>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Normal" pitchFamily="34" charset="0"/>
                <a:ea typeface="Source Han Sans SC Normal" pitchFamily="34" charset="-122"/>
                <a:cs typeface="Source Han Sans SC Normal" pitchFamily="34" charset="-120"/>
              </a:rPr>
              <a:t>EXPLAIN output includes columns like id, select_type, table, type, key, rows, and Extra. These columns reveal the execution plan, index usage, and estimated costs.</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0-d2nfaph8bjvh7rlj0igg.png"/>
          <p:cNvPicPr>
            <a:picLocks noChangeAspect="1"/>
          </p:cNvPicPr>
          <p:nvPr/>
        </p:nvPicPr>
        <p:blipFill>
          <a:blip r:embed="rId3"/>
          <a:srcRect r="51634"/>
          <a:stretch/>
        </p:blipFill>
        <p:spPr>
          <a:xfrm>
            <a:off x="637540" y="4911725"/>
            <a:ext cx="11061065" cy="2183765"/>
          </a:xfrm>
          <a:prstGeom prst="rect">
            <a:avLst/>
          </a:prstGeom>
        </p:spPr>
      </p:pic>
      <p:sp>
        <p:nvSpPr>
          <p:cNvPr id="3" name="Text 0"/>
          <p:cNvSpPr/>
          <p:nvPr/>
        </p:nvSpPr>
        <p:spPr>
          <a:xfrm>
            <a:off x="527685" y="617855"/>
            <a:ext cx="9599930" cy="922020"/>
          </a:xfrm>
          <a:prstGeom prst="rect">
            <a:avLst/>
          </a:prstGeom>
          <a:noFill/>
          <a:ln/>
        </p:spPr>
        <p:txBody>
          <a:bodyPr wrap="square" lIns="91440" tIns="45720" rIns="91440" bIns="45720" rtlCol="0" anchor="t">
            <a:spAutoFit/>
          </a:bodyPr>
          <a:lstStyle/>
          <a:p>
            <a:pPr>
              <a:lnSpc>
                <a:spcPct val="100000"/>
              </a:lnSpc>
            </a:pPr>
            <a:r>
              <a:rPr lang="en-US" sz="3600" b="1" dirty="0">
                <a:solidFill>
                  <a:srgbClr val="9DB4E1"/>
                </a:solidFill>
                <a:latin typeface="Source Han Sans SC" pitchFamily="34" charset="0"/>
                <a:ea typeface="Source Han Sans SC" pitchFamily="34" charset="-122"/>
                <a:cs typeface="Source Han Sans SC" pitchFamily="34" charset="-120"/>
              </a:rPr>
              <a:t>Decoding Type Column</a:t>
            </a:r>
            <a:endParaRPr lang="en-US" sz="1600" dirty="0"/>
          </a:p>
        </p:txBody>
      </p:sp>
      <p:sp>
        <p:nvSpPr>
          <p:cNvPr id="4" name="Shape 1"/>
          <p:cNvSpPr/>
          <p:nvPr/>
        </p:nvSpPr>
        <p:spPr>
          <a:xfrm>
            <a:off x="629349" y="1499631"/>
            <a:ext cx="359844" cy="359864"/>
          </a:xfrm>
          <a:prstGeom prst="ellipse">
            <a:avLst/>
          </a:prstGeom>
          <a:solidFill>
            <a:srgbClr val="000000">
              <a:alpha val="0"/>
            </a:srgbClr>
          </a:solidFill>
          <a:ln w="107950">
            <a:solidFill>
              <a:srgbClr val="9DB4E1"/>
            </a:solidFill>
            <a:prstDash val="solid"/>
          </a:ln>
        </p:spPr>
      </p:sp>
      <p:sp>
        <p:nvSpPr>
          <p:cNvPr id="5" name="Text 2"/>
          <p:cNvSpPr/>
          <p:nvPr/>
        </p:nvSpPr>
        <p:spPr>
          <a:xfrm>
            <a:off x="629349" y="1499631"/>
            <a:ext cx="359844" cy="359864"/>
          </a:xfrm>
          <a:prstGeom prst="rect">
            <a:avLst/>
          </a:prstGeom>
          <a:noFill/>
          <a:ln/>
        </p:spPr>
        <p:txBody>
          <a:bodyPr wrap="square" lIns="0" tIns="0" rIns="0" bIns="0" rtlCol="0" anchor="ctr"/>
          <a:lstStyle/>
          <a:p>
            <a:pPr>
              <a:lnSpc>
                <a:spcPct val="100000"/>
              </a:lnSpc>
            </a:pPr>
            <a:endParaRPr lang="en-US" sz="1600" dirty="0"/>
          </a:p>
        </p:txBody>
      </p:sp>
      <p:pic>
        <p:nvPicPr>
          <p:cNvPr id="6" name="Image 1" descr="https://kimi-img.moonshot.cn/pub/slides/slides_tmpl/image/25-08-27-20:09:10-d2nfaph8bjvh7rlj0ih0.png"/>
          <p:cNvPicPr>
            <a:picLocks noChangeAspect="1"/>
          </p:cNvPicPr>
          <p:nvPr/>
        </p:nvPicPr>
        <p:blipFill>
          <a:blip r:embed="rId4"/>
          <a:stretch>
            <a:fillRect/>
          </a:stretch>
        </p:blipFill>
        <p:spPr>
          <a:xfrm>
            <a:off x="629350" y="4361149"/>
            <a:ext cx="2157390" cy="1957574"/>
          </a:xfrm>
          <a:prstGeom prst="rect">
            <a:avLst/>
          </a:prstGeom>
        </p:spPr>
      </p:pic>
      <p:sp>
        <p:nvSpPr>
          <p:cNvPr id="7" name="Shape 3"/>
          <p:cNvSpPr/>
          <p:nvPr/>
        </p:nvSpPr>
        <p:spPr>
          <a:xfrm>
            <a:off x="4367808" y="1499631"/>
            <a:ext cx="359844" cy="359864"/>
          </a:xfrm>
          <a:prstGeom prst="ellipse">
            <a:avLst/>
          </a:prstGeom>
          <a:solidFill>
            <a:srgbClr val="000000">
              <a:alpha val="0"/>
            </a:srgbClr>
          </a:solidFill>
          <a:ln w="107950">
            <a:solidFill>
              <a:srgbClr val="9DB4E1"/>
            </a:solidFill>
            <a:prstDash val="solid"/>
          </a:ln>
        </p:spPr>
      </p:sp>
      <p:sp>
        <p:nvSpPr>
          <p:cNvPr id="8" name="Text 4"/>
          <p:cNvSpPr/>
          <p:nvPr/>
        </p:nvSpPr>
        <p:spPr>
          <a:xfrm>
            <a:off x="4367808" y="1499631"/>
            <a:ext cx="359844" cy="359864"/>
          </a:xfrm>
          <a:prstGeom prst="rect">
            <a:avLst/>
          </a:prstGeom>
          <a:noFill/>
          <a:ln/>
        </p:spPr>
        <p:txBody>
          <a:bodyPr wrap="square" lIns="0" tIns="0" rIns="0" bIns="0" rtlCol="0" anchor="ctr"/>
          <a:lstStyle/>
          <a:p>
            <a:pPr>
              <a:lnSpc>
                <a:spcPct val="100000"/>
              </a:lnSpc>
            </a:pPr>
            <a:endParaRPr lang="en-US" sz="1600" dirty="0"/>
          </a:p>
        </p:txBody>
      </p:sp>
      <p:sp>
        <p:nvSpPr>
          <p:cNvPr id="9" name="Shape 5"/>
          <p:cNvSpPr/>
          <p:nvPr/>
        </p:nvSpPr>
        <p:spPr>
          <a:xfrm>
            <a:off x="8122968" y="1499631"/>
            <a:ext cx="359844" cy="359864"/>
          </a:xfrm>
          <a:prstGeom prst="ellipse">
            <a:avLst/>
          </a:prstGeom>
          <a:solidFill>
            <a:srgbClr val="000000">
              <a:alpha val="0"/>
            </a:srgbClr>
          </a:solidFill>
          <a:ln w="107950">
            <a:solidFill>
              <a:srgbClr val="9DB4E1"/>
            </a:solidFill>
            <a:prstDash val="solid"/>
          </a:ln>
        </p:spPr>
      </p:sp>
      <p:sp>
        <p:nvSpPr>
          <p:cNvPr id="10" name="Text 6"/>
          <p:cNvSpPr/>
          <p:nvPr/>
        </p:nvSpPr>
        <p:spPr>
          <a:xfrm>
            <a:off x="8122968" y="1499631"/>
            <a:ext cx="359844" cy="359864"/>
          </a:xfrm>
          <a:prstGeom prst="rect">
            <a:avLst/>
          </a:prstGeom>
          <a:noFill/>
          <a:ln/>
        </p:spPr>
        <p:txBody>
          <a:bodyPr wrap="square" lIns="0" tIns="0" rIns="0" bIns="0" rtlCol="0" anchor="ctr"/>
          <a:lstStyle/>
          <a:p>
            <a:pPr>
              <a:lnSpc>
                <a:spcPct val="100000"/>
              </a:lnSpc>
            </a:pPr>
            <a:endParaRPr lang="en-US" sz="1600" dirty="0"/>
          </a:p>
        </p:txBody>
      </p:sp>
      <p:sp>
        <p:nvSpPr>
          <p:cNvPr id="11" name="Text 7"/>
          <p:cNvSpPr/>
          <p:nvPr/>
        </p:nvSpPr>
        <p:spPr>
          <a:xfrm>
            <a:off x="623392" y="1609265"/>
            <a:ext cx="3542747" cy="829945"/>
          </a:xfrm>
          <a:prstGeom prst="rect">
            <a:avLst/>
          </a:prstGeom>
          <a:noFill/>
          <a:ln/>
        </p:spPr>
        <p:txBody>
          <a:bodyPr wrap="square" lIns="91440" tIns="45720" rIns="91440" bIns="45720" rtlCol="0" anchor="t">
            <a:spAutoFit/>
          </a:bodyP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Access Methods</a:t>
            </a:r>
            <a:endParaRPr lang="en-US" sz="1600" dirty="0"/>
          </a:p>
        </p:txBody>
      </p:sp>
      <p:sp>
        <p:nvSpPr>
          <p:cNvPr id="12" name="Text 8"/>
          <p:cNvSpPr/>
          <p:nvPr/>
        </p:nvSpPr>
        <p:spPr>
          <a:xfrm>
            <a:off x="637750" y="2405563"/>
            <a:ext cx="3384373"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The type column in EXPLAIN indicates the access method used. Common values include ALL, index, range, eq_ref, ref, const, and system.</a:t>
            </a:r>
            <a:endParaRPr lang="en-US" sz="1600" dirty="0"/>
          </a:p>
        </p:txBody>
      </p:sp>
      <p:sp>
        <p:nvSpPr>
          <p:cNvPr id="13" name="Text 9"/>
          <p:cNvSpPr/>
          <p:nvPr/>
        </p:nvSpPr>
        <p:spPr>
          <a:xfrm>
            <a:off x="4411330" y="1609265"/>
            <a:ext cx="3542747" cy="829945"/>
          </a:xfrm>
          <a:prstGeom prst="rect">
            <a:avLst/>
          </a:prstGeom>
          <a:noFill/>
          <a:ln/>
        </p:spPr>
        <p:txBody>
          <a:bodyPr wrap="square" lIns="91440" tIns="45720" rIns="91440" bIns="45720" rtlCol="0" anchor="t">
            <a:spAutoFit/>
          </a:bodyP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Efficiency Indicators</a:t>
            </a:r>
            <a:endParaRPr lang="en-US" sz="1600" dirty="0"/>
          </a:p>
        </p:txBody>
      </p:sp>
      <p:sp>
        <p:nvSpPr>
          <p:cNvPr id="14" name="Text 10"/>
          <p:cNvSpPr/>
          <p:nvPr/>
        </p:nvSpPr>
        <p:spPr>
          <a:xfrm>
            <a:off x="4425688" y="2405563"/>
            <a:ext cx="3384373"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ALL signifies a full table scan, which is inefficient for large tables. Range and ref are more efficient, indicating indexed lookups that reduce the number of rows examined.</a:t>
            </a:r>
            <a:endParaRPr lang="en-US" sz="1600" dirty="0"/>
          </a:p>
        </p:txBody>
      </p:sp>
      <p:sp>
        <p:nvSpPr>
          <p:cNvPr id="15" name="Text 11"/>
          <p:cNvSpPr/>
          <p:nvPr/>
        </p:nvSpPr>
        <p:spPr>
          <a:xfrm>
            <a:off x="8155340" y="1609265"/>
            <a:ext cx="3542747" cy="829945"/>
          </a:xfrm>
          <a:prstGeom prst="rect">
            <a:avLst/>
          </a:prstGeom>
          <a:noFill/>
          <a:ln/>
        </p:spPr>
        <p:txBody>
          <a:bodyPr wrap="square" lIns="91440" tIns="45720" rIns="91440" bIns="45720" rtlCol="0" anchor="t">
            <a:spAutoFit/>
          </a:bodyP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Optimization Goal</a:t>
            </a:r>
            <a:endParaRPr lang="en-US" sz="1600" dirty="0"/>
          </a:p>
        </p:txBody>
      </p:sp>
      <p:sp>
        <p:nvSpPr>
          <p:cNvPr id="16" name="Text 12"/>
          <p:cNvSpPr/>
          <p:nvPr/>
        </p:nvSpPr>
        <p:spPr>
          <a:xfrm>
            <a:off x="8169698" y="2405563"/>
            <a:ext cx="3384373"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Aim to replace ALL with range or ref in the type column to minimize unnecessary data scans and improve query performance.</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flip="none" rotWithShape="1">
            <a:gsLst>
              <a:gs pos="0">
                <a:srgbClr val="2F5596"/>
              </a:gs>
              <a:gs pos="56000">
                <a:srgbClr val="7095BC"/>
              </a:gs>
              <a:gs pos="91000">
                <a:srgbClr val="B0D5E1"/>
              </a:gs>
              <a:gs pos="100000">
                <a:srgbClr val="C2F5E1"/>
              </a:gs>
            </a:gsLst>
            <a:lin ang="4800000" scaled="1"/>
          </a:gradFill>
          <a:ln w="12700">
            <a:solidFill>
              <a:srgbClr val="09111E"/>
            </a:solidFill>
            <a:prstDash val="solid"/>
          </a:ln>
        </p:spPr>
      </p:sp>
      <p:sp>
        <p:nvSpPr>
          <p:cNvPr id="3" name="Text 1"/>
          <p:cNvSpPr/>
          <p:nvPr/>
        </p:nvSpPr>
        <p:spPr>
          <a:xfrm>
            <a:off x="0" y="0"/>
            <a:ext cx="12192000" cy="6858000"/>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06-d2nfaoh8bjvh7rlj0i8g.png"/>
          <p:cNvPicPr>
            <a:picLocks noChangeAspect="1"/>
          </p:cNvPicPr>
          <p:nvPr/>
        </p:nvPicPr>
        <p:blipFill>
          <a:blip r:embed="rId3">
            <a:alphaModFix amt="72000"/>
          </a:blip>
          <a:srcRect/>
          <a:stretch/>
        </p:blipFill>
        <p:spPr>
          <a:xfrm>
            <a:off x="10395" y="2348881"/>
            <a:ext cx="12181605" cy="4509120"/>
          </a:xfrm>
          <a:prstGeom prst="rect">
            <a:avLst/>
          </a:prstGeom>
        </p:spPr>
      </p:pic>
      <p:sp>
        <p:nvSpPr>
          <p:cNvPr id="5" name="Text 2"/>
          <p:cNvSpPr/>
          <p:nvPr/>
        </p:nvSpPr>
        <p:spPr>
          <a:xfrm>
            <a:off x="2111693" y="1330960"/>
            <a:ext cx="7524115" cy="2110740"/>
          </a:xfrm>
          <a:prstGeom prst="rect">
            <a:avLst/>
          </a:prstGeom>
          <a:noFill/>
          <a:ln/>
        </p:spPr>
        <p:txBody>
          <a:bodyPr wrap="square" lIns="91440" tIns="45720" rIns="91440" bIns="45720" rtlCol="0" anchor="t"/>
          <a:lstStyle/>
          <a:p>
            <a:pPr algn="ctr">
              <a:lnSpc>
                <a:spcPct val="100000"/>
              </a:lnSpc>
            </a:pPr>
            <a:r>
              <a:rPr lang="en-US" sz="3600" b="1" dirty="0">
                <a:solidFill>
                  <a:srgbClr val="FFFFFF"/>
                </a:solidFill>
                <a:latin typeface="Source Han Sans SC" pitchFamily="34" charset="0"/>
                <a:ea typeface="Source Han Sans SC" pitchFamily="34" charset="-122"/>
                <a:cs typeface="Source Han Sans SC" pitchFamily="34" charset="-120"/>
              </a:rPr>
              <a:t>Live EXPLAIN Walkthrough</a:t>
            </a:r>
            <a:endParaRPr lang="en-US" sz="1600" dirty="0"/>
          </a:p>
        </p:txBody>
      </p:sp>
      <p:sp>
        <p:nvSpPr>
          <p:cNvPr id="6" name="Shape 3"/>
          <p:cNvSpPr/>
          <p:nvPr/>
        </p:nvSpPr>
        <p:spPr>
          <a:xfrm flipV="1">
            <a:off x="4774248" y="2984252"/>
            <a:ext cx="2199005" cy="1270"/>
          </a:xfrm>
          <a:prstGeom prst="straightConnector1">
            <a:avLst/>
          </a:prstGeom>
          <a:noFill/>
          <a:ln w="15875">
            <a:solidFill>
              <a:srgbClr val="FFFFFF"/>
            </a:solidFill>
            <a:prstDash val="solid"/>
            <a:headEnd type="none"/>
            <a:tailEnd type="triangle"/>
          </a:ln>
        </p:spPr>
      </p:sp>
      <p:sp>
        <p:nvSpPr>
          <p:cNvPr id="7" name="Text 4"/>
          <p:cNvSpPr/>
          <p:nvPr/>
        </p:nvSpPr>
        <p:spPr>
          <a:xfrm>
            <a:off x="2975610" y="2204720"/>
            <a:ext cx="5796280" cy="974725"/>
          </a:xfrm>
          <a:prstGeom prst="rect">
            <a:avLst/>
          </a:prstGeom>
          <a:noFill/>
          <a:ln/>
        </p:spPr>
        <p:txBody>
          <a:bodyPr wrap="square" lIns="91440" tIns="45720" rIns="91440" bIns="45720" rtlCol="0" anchor="t"/>
          <a:lstStyle/>
          <a:p>
            <a:pPr algn="ct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Example Query</a:t>
            </a:r>
            <a:endParaRPr lang="en-US" sz="1600" dirty="0"/>
          </a:p>
        </p:txBody>
      </p:sp>
      <p:sp>
        <p:nvSpPr>
          <p:cNvPr id="8" name="Text 5"/>
          <p:cNvSpPr/>
          <p:nvPr/>
        </p:nvSpPr>
        <p:spPr>
          <a:xfrm>
            <a:off x="1775460" y="3354705"/>
            <a:ext cx="8196580" cy="2035810"/>
          </a:xfrm>
          <a:prstGeom prst="rect">
            <a:avLst/>
          </a:prstGeom>
          <a:noFill/>
          <a:ln/>
        </p:spPr>
        <p:txBody>
          <a:bodyPr wrap="square" lIns="91440" tIns="45720" rIns="91440" bIns="45720" rtlCol="0" anchor="t"/>
          <a:lstStyle/>
          <a:p>
            <a:pPr>
              <a:lnSpc>
                <a:spcPct val="100000"/>
              </a:lnSpc>
            </a:pPr>
            <a:r>
              <a:rPr lang="en-US" sz="2000" dirty="0">
                <a:solidFill>
                  <a:srgbClr val="FFFFFF"/>
                </a:solidFill>
                <a:latin typeface="Source Han Sans SC Normal" pitchFamily="34" charset="0"/>
                <a:ea typeface="Source Han Sans SC Normal" pitchFamily="34" charset="-122"/>
                <a:cs typeface="Source Han Sans SC Normal" pitchFamily="34" charset="-120"/>
              </a:rPr>
              <a:t>Consider the query: EXPLAIN SELECT * FROM employees WHERE department_id = 3;. The EXPLAIN output shows type=ref, key=idx_dept, rows=10, indicating efficient index usage and reduced row scans.</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Query Optimization</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45608" y="0"/>
            <a:ext cx="2122800" cy="1916832"/>
          </a:xfrm>
          <a:prstGeom prst="rect">
            <a:avLst/>
          </a:prstGeom>
          <a:gradFill flip="none" rotWithShape="1">
            <a:gsLst>
              <a:gs pos="0">
                <a:srgbClr val="9DB4E1"/>
              </a:gs>
              <a:gs pos="100000">
                <a:srgbClr val="C2F5E1"/>
              </a:gs>
            </a:gsLst>
            <a:lin ang="4200000" scaled="1"/>
          </a:gradFill>
          <a:ln/>
        </p:spPr>
      </p:sp>
      <p:sp>
        <p:nvSpPr>
          <p:cNvPr id="3" name="Text 1"/>
          <p:cNvSpPr/>
          <p:nvPr/>
        </p:nvSpPr>
        <p:spPr>
          <a:xfrm>
            <a:off x="7645608" y="0"/>
            <a:ext cx="2122800" cy="1916832"/>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583905" y="1180673"/>
            <a:ext cx="3956100" cy="1477328"/>
          </a:xfrm>
          <a:prstGeom prst="rect">
            <a:avLst/>
          </a:prstGeom>
          <a:noFill/>
          <a:ln/>
        </p:spPr>
        <p:txBody>
          <a:bodyPr wrap="square" lIns="91440" tIns="45720" rIns="91440" bIns="45720" rtlCol="0" anchor="t">
            <a:spAutoFit/>
          </a:bodyPr>
          <a:lstStyle/>
          <a:p>
            <a:pP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Index Driven WHERE JOIN ORDER</a:t>
            </a:r>
            <a:endParaRPr lang="en-US" sz="1600" dirty="0"/>
          </a:p>
        </p:txBody>
      </p:sp>
      <p:pic>
        <p:nvPicPr>
          <p:cNvPr id="5" name="Image 0" descr="https://kimi-img.moonshot.cn/pub/slides/slides_tmpl/image/25-08-27-20:09:09-d2nfap98bjvh7rlj0ig0.jpg"/>
          <p:cNvPicPr>
            <a:picLocks noChangeAspect="1"/>
          </p:cNvPicPr>
          <p:nvPr/>
        </p:nvPicPr>
        <p:blipFill>
          <a:blip r:embed="rId3"/>
          <a:stretch>
            <a:fillRect/>
          </a:stretch>
        </p:blipFill>
        <p:spPr>
          <a:xfrm>
            <a:off x="7994729" y="1081968"/>
            <a:ext cx="3501871" cy="5261026"/>
          </a:xfrm>
          <a:prstGeom prst="rect">
            <a:avLst/>
          </a:prstGeom>
        </p:spPr>
      </p:pic>
      <p:sp>
        <p:nvSpPr>
          <p:cNvPr id="6" name="Shape 3"/>
          <p:cNvSpPr/>
          <p:nvPr/>
        </p:nvSpPr>
        <p:spPr>
          <a:xfrm>
            <a:off x="10776520" y="4784347"/>
            <a:ext cx="723458" cy="1574168"/>
          </a:xfrm>
          <a:prstGeom prst="rect">
            <a:avLst/>
          </a:prstGeom>
          <a:gradFill flip="none" rotWithShape="1">
            <a:gsLst>
              <a:gs pos="0">
                <a:srgbClr val="C2F5E1"/>
              </a:gs>
              <a:gs pos="28000">
                <a:srgbClr val="C2F5E1"/>
              </a:gs>
              <a:gs pos="100000">
                <a:srgbClr val="9DB4E1"/>
              </a:gs>
            </a:gsLst>
            <a:lin ang="2400000" scaled="1"/>
          </a:gradFill>
          <a:ln/>
        </p:spPr>
      </p:sp>
      <p:sp>
        <p:nvSpPr>
          <p:cNvPr id="7" name="Text 4"/>
          <p:cNvSpPr/>
          <p:nvPr/>
        </p:nvSpPr>
        <p:spPr>
          <a:xfrm>
            <a:off x="10776520" y="4784347"/>
            <a:ext cx="723458" cy="1574168"/>
          </a:xfrm>
          <a:prstGeom prst="rect">
            <a:avLst/>
          </a:prstGeom>
          <a:noFill/>
          <a:ln/>
        </p:spPr>
        <p:txBody>
          <a:bodyPr wrap="square" lIns="45720" tIns="91440" rIns="91440" bIns="45720" rtlCol="0" anchor="ctr"/>
          <a:lstStyle/>
          <a:p>
            <a:pPr>
              <a:lnSpc>
                <a:spcPct val="100000"/>
              </a:lnSpc>
            </a:pPr>
            <a:endParaRPr lang="en-US" sz="1600" dirty="0"/>
          </a:p>
        </p:txBody>
      </p:sp>
      <p:sp>
        <p:nvSpPr>
          <p:cNvPr id="8" name="Text 5"/>
          <p:cNvSpPr/>
          <p:nvPr/>
        </p:nvSpPr>
        <p:spPr>
          <a:xfrm>
            <a:off x="693385" y="2907605"/>
            <a:ext cx="6482735" cy="400110"/>
          </a:xfrm>
          <a:prstGeom prst="rect">
            <a:avLst/>
          </a:prstGeom>
          <a:noFill/>
          <a:ln/>
        </p:spPr>
        <p:txBody>
          <a:bodyPr wrap="square" lIns="91440" tIns="45720" rIns="91440" bIns="45720" rtlCol="0" anchor="b">
            <a:spAutoFit/>
          </a:bodyPr>
          <a:lstStyle/>
          <a:p>
            <a:pP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Indexing for WHERE</a:t>
            </a:r>
            <a:endParaRPr lang="en-US" sz="1600" dirty="0"/>
          </a:p>
        </p:txBody>
      </p:sp>
      <p:sp>
        <p:nvSpPr>
          <p:cNvPr id="9" name="Text 6"/>
          <p:cNvSpPr/>
          <p:nvPr/>
        </p:nvSpPr>
        <p:spPr>
          <a:xfrm>
            <a:off x="693385" y="3435091"/>
            <a:ext cx="3324607" cy="2584450"/>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Index columns used in WHERE clauses to speed up filtering operations. This reduces the number of rows that need to be scanned, improving query performance.</a:t>
            </a:r>
            <a:endParaRPr lang="en-US" sz="1600" dirty="0"/>
          </a:p>
        </p:txBody>
      </p:sp>
      <p:sp>
        <p:nvSpPr>
          <p:cNvPr id="10" name="Text 7"/>
          <p:cNvSpPr/>
          <p:nvPr/>
        </p:nvSpPr>
        <p:spPr>
          <a:xfrm>
            <a:off x="4321175" y="2902585"/>
            <a:ext cx="3612515" cy="405130"/>
          </a:xfrm>
          <a:prstGeom prst="rect">
            <a:avLst/>
          </a:prstGeom>
          <a:noFill/>
          <a:ln/>
        </p:spPr>
        <p:txBody>
          <a:bodyPr wrap="square" lIns="91440" tIns="45720" rIns="91440" bIns="45720" rtlCol="0" anchor="b"/>
          <a:lstStyle/>
          <a:p>
            <a:pP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Indexing for JOIN and ORDER BY</a:t>
            </a:r>
            <a:endParaRPr lang="en-US" sz="1600" dirty="0"/>
          </a:p>
        </p:txBody>
      </p:sp>
      <p:sp>
        <p:nvSpPr>
          <p:cNvPr id="11" name="Text 8"/>
          <p:cNvSpPr/>
          <p:nvPr/>
        </p:nvSpPr>
        <p:spPr>
          <a:xfrm>
            <a:off x="4299411" y="3435091"/>
            <a:ext cx="3324607" cy="2584450"/>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Use indexes on columns involved in JOIN conditions and ORDER BY clauses. This ensures efficient sorting and joining operations, enhancing overall query efficiency.</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3185" y="-99695"/>
            <a:ext cx="12440920" cy="7056755"/>
          </a:xfrm>
          <a:prstGeom prst="rect">
            <a:avLst/>
          </a:prstGeom>
          <a:solidFill>
            <a:srgbClr val="161616"/>
          </a:solidFill>
          <a:ln/>
        </p:spPr>
      </p:sp>
      <p:sp>
        <p:nvSpPr>
          <p:cNvPr id="3" name="Text 1"/>
          <p:cNvSpPr/>
          <p:nvPr/>
        </p:nvSpPr>
        <p:spPr>
          <a:xfrm>
            <a:off x="-83185" y="-99695"/>
            <a:ext cx="12440920" cy="705675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2135505" y="546100"/>
            <a:ext cx="3051810" cy="3366770"/>
          </a:xfrm>
          <a:prstGeom prst="rect">
            <a:avLst/>
          </a:prstGeom>
          <a:solidFill>
            <a:srgbClr val="FFFFFF"/>
          </a:solidFill>
          <a:ln/>
        </p:spPr>
      </p:sp>
      <p:sp>
        <p:nvSpPr>
          <p:cNvPr id="5" name="Text 3"/>
          <p:cNvSpPr/>
          <p:nvPr/>
        </p:nvSpPr>
        <p:spPr>
          <a:xfrm>
            <a:off x="2135505" y="546100"/>
            <a:ext cx="3051810" cy="3366770"/>
          </a:xfrm>
          <a:prstGeom prst="rect">
            <a:avLst/>
          </a:prstGeom>
          <a:noFill/>
          <a:ln/>
        </p:spPr>
        <p:txBody>
          <a:bodyPr wrap="square" lIns="45720" tIns="91440" rIns="91440" bIns="45720" rtlCol="0" anchor="ctr"/>
          <a:lstStyle/>
          <a:p>
            <a:pPr>
              <a:lnSpc>
                <a:spcPct val="100000"/>
              </a:lnSpc>
            </a:pPr>
            <a:endParaRPr lang="en-US" sz="1600" dirty="0"/>
          </a:p>
        </p:txBody>
      </p:sp>
      <p:pic>
        <p:nvPicPr>
          <p:cNvPr id="6" name="Image 0" descr="https://kimi-img.moonshot.cn/pub/slides/slides_tmpl/image/25-08-27-20:09:11-d2nfapp8bjvh7rlj0ij0.jpg"/>
          <p:cNvPicPr>
            <a:picLocks noChangeAspect="1"/>
          </p:cNvPicPr>
          <p:nvPr/>
        </p:nvPicPr>
        <p:blipFill>
          <a:blip r:embed="rId3"/>
          <a:srcRect/>
          <a:stretch/>
        </p:blipFill>
        <p:spPr>
          <a:xfrm>
            <a:off x="-165752" y="832007"/>
            <a:ext cx="2254593" cy="2706833"/>
          </a:xfrm>
          <a:prstGeom prst="rect">
            <a:avLst/>
          </a:prstGeom>
        </p:spPr>
      </p:pic>
      <p:pic>
        <p:nvPicPr>
          <p:cNvPr id="7" name="Image 1" descr="https://kimi-img.moonshot.cn/pub/slides/slides_tmpl/image/25-08-27-20:09:11-d2nfapp8bjvh7rlj0ijg.jpg"/>
          <p:cNvPicPr>
            <a:picLocks noChangeAspect="1"/>
          </p:cNvPicPr>
          <p:nvPr/>
        </p:nvPicPr>
        <p:blipFill>
          <a:blip r:embed="rId4"/>
          <a:srcRect/>
          <a:stretch/>
        </p:blipFill>
        <p:spPr>
          <a:xfrm>
            <a:off x="5230462" y="832007"/>
            <a:ext cx="2254593" cy="2706833"/>
          </a:xfrm>
          <a:prstGeom prst="rect">
            <a:avLst/>
          </a:prstGeom>
        </p:spPr>
      </p:pic>
      <p:pic>
        <p:nvPicPr>
          <p:cNvPr id="8" name="Image 2" descr="https://kimi-img.moonshot.cn/pub/slides/slides_tmpl/image/25-08-27-20:09:11-d2nfapp8bjvh7rlj0ikg.jpg"/>
          <p:cNvPicPr>
            <a:picLocks noChangeAspect="1"/>
          </p:cNvPicPr>
          <p:nvPr/>
        </p:nvPicPr>
        <p:blipFill>
          <a:blip r:embed="rId5"/>
          <a:srcRect/>
          <a:stretch/>
        </p:blipFill>
        <p:spPr>
          <a:xfrm>
            <a:off x="7544745" y="832007"/>
            <a:ext cx="2254250" cy="2706834"/>
          </a:xfrm>
          <a:prstGeom prst="rect">
            <a:avLst/>
          </a:prstGeom>
        </p:spPr>
      </p:pic>
      <p:pic>
        <p:nvPicPr>
          <p:cNvPr id="9" name="Image 3" descr="https://kimi-img.moonshot.cn/pub/slides/slides_tmpl/image/25-08-27-20:09:11-d2nfapp8bjvh7rlj0il0.jpg"/>
          <p:cNvPicPr>
            <a:picLocks noChangeAspect="1"/>
          </p:cNvPicPr>
          <p:nvPr/>
        </p:nvPicPr>
        <p:blipFill>
          <a:blip r:embed="rId6"/>
          <a:srcRect/>
          <a:stretch/>
        </p:blipFill>
        <p:spPr>
          <a:xfrm>
            <a:off x="9858685" y="832007"/>
            <a:ext cx="2254250" cy="2706833"/>
          </a:xfrm>
          <a:prstGeom prst="rect">
            <a:avLst/>
          </a:prstGeom>
        </p:spPr>
      </p:pic>
      <p:sp>
        <p:nvSpPr>
          <p:cNvPr id="10" name="Shape 4"/>
          <p:cNvSpPr/>
          <p:nvPr/>
        </p:nvSpPr>
        <p:spPr>
          <a:xfrm>
            <a:off x="2178798" y="819083"/>
            <a:ext cx="2961707" cy="2719757"/>
          </a:xfrm>
          <a:prstGeom prst="rect">
            <a:avLst/>
          </a:prstGeom>
          <a:solidFill>
            <a:srgbClr val="FFFFFF">
              <a:alpha val="90980"/>
            </a:srgbClr>
          </a:solidFill>
          <a:ln/>
        </p:spPr>
      </p:sp>
      <p:sp>
        <p:nvSpPr>
          <p:cNvPr id="11" name="Text 5"/>
          <p:cNvSpPr/>
          <p:nvPr/>
        </p:nvSpPr>
        <p:spPr>
          <a:xfrm>
            <a:off x="2178798" y="819083"/>
            <a:ext cx="2961707" cy="2719757"/>
          </a:xfrm>
          <a:prstGeom prst="rect">
            <a:avLst/>
          </a:prstGeom>
          <a:noFill/>
          <a:ln/>
        </p:spPr>
        <p:txBody>
          <a:bodyPr wrap="square" lIns="45720" tIns="91440" rIns="91440" bIns="45720" rtlCol="0" anchor="ctr"/>
          <a:lstStyle/>
          <a:p>
            <a:pPr>
              <a:lnSpc>
                <a:spcPct val="100000"/>
              </a:lnSpc>
            </a:pPr>
            <a:endParaRPr lang="en-US" sz="1600" dirty="0"/>
          </a:p>
        </p:txBody>
      </p:sp>
      <p:sp>
        <p:nvSpPr>
          <p:cNvPr id="12" name="Text 6"/>
          <p:cNvSpPr/>
          <p:nvPr/>
        </p:nvSpPr>
        <p:spPr>
          <a:xfrm>
            <a:off x="592465" y="4391794"/>
            <a:ext cx="3896724" cy="1477328"/>
          </a:xfrm>
          <a:prstGeom prst="rect">
            <a:avLst/>
          </a:prstGeom>
          <a:noFill/>
          <a:ln/>
        </p:spPr>
        <p:txBody>
          <a:bodyPr wrap="square" lIns="91440" tIns="45720" rIns="91440" bIns="45720" rtlCol="0" anchor="t">
            <a:spAutoFit/>
          </a:bodyPr>
          <a:lstStyle/>
          <a:p>
            <a:pPr>
              <a:lnSpc>
                <a:spcPct val="100000"/>
              </a:lnSpc>
            </a:pPr>
            <a:r>
              <a:rPr lang="en-US" sz="3600" dirty="0">
                <a:solidFill>
                  <a:srgbClr val="C2F5E1"/>
                </a:solidFill>
                <a:latin typeface="Source Han Sans SC" pitchFamily="34" charset="0"/>
                <a:ea typeface="Source Han Sans SC" pitchFamily="34" charset="-122"/>
                <a:cs typeface="Source Han Sans SC" pitchFamily="34" charset="-120"/>
              </a:rPr>
              <a:t>SELECT and Cardinality Pitfalls</a:t>
            </a:r>
            <a:endParaRPr lang="en-US" sz="1600" dirty="0"/>
          </a:p>
        </p:txBody>
      </p:sp>
      <p:sp>
        <p:nvSpPr>
          <p:cNvPr id="13" name="Shape 7"/>
          <p:cNvSpPr/>
          <p:nvPr/>
        </p:nvSpPr>
        <p:spPr>
          <a:xfrm>
            <a:off x="4439563" y="3320027"/>
            <a:ext cx="747408" cy="578224"/>
          </a:xfrm>
          <a:prstGeom prst="rect">
            <a:avLst/>
          </a:prstGeom>
          <a:solidFill>
            <a:srgbClr val="C2F5E1"/>
          </a:solidFill>
          <a:ln/>
        </p:spPr>
      </p:sp>
      <p:sp>
        <p:nvSpPr>
          <p:cNvPr id="14" name="Text 8"/>
          <p:cNvSpPr/>
          <p:nvPr/>
        </p:nvSpPr>
        <p:spPr>
          <a:xfrm>
            <a:off x="4439563" y="3320027"/>
            <a:ext cx="747408" cy="578224"/>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9"/>
          <p:cNvSpPr/>
          <p:nvPr/>
        </p:nvSpPr>
        <p:spPr>
          <a:xfrm>
            <a:off x="4707858" y="3623227"/>
            <a:ext cx="288032" cy="0"/>
          </a:xfrm>
          <a:prstGeom prst="straightConnector1">
            <a:avLst/>
          </a:prstGeom>
          <a:noFill/>
          <a:ln w="19050">
            <a:solidFill>
              <a:srgbClr val="000000"/>
            </a:solidFill>
            <a:prstDash val="solid"/>
            <a:headEnd type="none"/>
            <a:tailEnd type="triangle"/>
          </a:ln>
        </p:spPr>
      </p:sp>
      <p:sp>
        <p:nvSpPr>
          <p:cNvPr id="16" name="Text 10"/>
          <p:cNvSpPr/>
          <p:nvPr/>
        </p:nvSpPr>
        <p:spPr>
          <a:xfrm>
            <a:off x="2237411" y="755209"/>
            <a:ext cx="2831340" cy="338554"/>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Avoid SELECT *</a:t>
            </a:r>
            <a:endParaRPr lang="en-US" sz="1600" dirty="0"/>
          </a:p>
        </p:txBody>
      </p:sp>
      <p:sp>
        <p:nvSpPr>
          <p:cNvPr id="17" name="Text 11"/>
          <p:cNvSpPr/>
          <p:nvPr/>
        </p:nvSpPr>
        <p:spPr>
          <a:xfrm>
            <a:off x="2237105" y="1228090"/>
            <a:ext cx="2679065" cy="1941195"/>
          </a:xfrm>
          <a:prstGeom prst="rect">
            <a:avLst/>
          </a:prstGeom>
          <a:noFill/>
          <a:ln/>
        </p:spPr>
        <p:txBody>
          <a:bodyPr wrap="square" lIns="91440" tIns="45720" rIns="91440" bIns="45720" rtlCol="0" anchor="t"/>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Avoid using SELECT * in production queries. Instead, specify only the columns you need to reduce I/O operations and improve performance.</a:t>
            </a:r>
            <a:endParaRPr lang="en-US" sz="1600" dirty="0"/>
          </a:p>
        </p:txBody>
      </p:sp>
      <p:sp>
        <p:nvSpPr>
          <p:cNvPr id="18" name="Text 12"/>
          <p:cNvSpPr/>
          <p:nvPr/>
        </p:nvSpPr>
        <p:spPr>
          <a:xfrm>
            <a:off x="4932963" y="3962809"/>
            <a:ext cx="6482734" cy="337185"/>
          </a:xfrm>
          <a:prstGeom prst="rect">
            <a:avLst/>
          </a:prstGeom>
          <a:noFill/>
          <a:ln/>
        </p:spPr>
        <p:txBody>
          <a:bodyPr wrap="square" lIns="91440" tIns="45720" rIns="91440" bIns="45720" rtlCol="0" anchor="t">
            <a:spAutoFit/>
          </a:bodyPr>
          <a:lstStyle/>
          <a:p>
            <a:pPr algn="r">
              <a:lnSpc>
                <a:spcPct val="100000"/>
              </a:lnSpc>
            </a:pPr>
            <a:r>
              <a:rPr lang="en-US" sz="1600" dirty="0">
                <a:solidFill>
                  <a:srgbClr val="C2F5E1"/>
                </a:solidFill>
                <a:latin typeface="Source Han Sans SC" pitchFamily="34" charset="0"/>
                <a:ea typeface="Source Han Sans SC" pitchFamily="34" charset="-122"/>
                <a:cs typeface="Source Han Sans SC" pitchFamily="34" charset="-120"/>
              </a:rPr>
              <a:t>Low-Cardinality Columns</a:t>
            </a:r>
            <a:endParaRPr lang="en-US" sz="1600" dirty="0"/>
          </a:p>
        </p:txBody>
      </p:sp>
      <p:sp>
        <p:nvSpPr>
          <p:cNvPr id="19" name="Text 13"/>
          <p:cNvSpPr/>
          <p:nvPr/>
        </p:nvSpPr>
        <p:spPr>
          <a:xfrm>
            <a:off x="5069205" y="4277360"/>
            <a:ext cx="6346190" cy="1076325"/>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Avoid indexing low-cardinality columns like gender or boolean flags. These columns offer little selectivity and can lead to inefficient index usage.</a:t>
            </a:r>
            <a:endParaRPr lang="en-US" sz="1600" dirty="0"/>
          </a:p>
        </p:txBody>
      </p:sp>
      <p:sp>
        <p:nvSpPr>
          <p:cNvPr id="20" name="Text 14"/>
          <p:cNvSpPr/>
          <p:nvPr/>
        </p:nvSpPr>
        <p:spPr>
          <a:xfrm>
            <a:off x="5004214" y="5309475"/>
            <a:ext cx="6482735" cy="337185"/>
          </a:xfrm>
          <a:prstGeom prst="rect">
            <a:avLst/>
          </a:prstGeom>
          <a:noFill/>
          <a:ln/>
        </p:spPr>
        <p:txBody>
          <a:bodyPr wrap="square" lIns="91440" tIns="45720" rIns="91440" bIns="45720" rtlCol="0" anchor="t">
            <a:spAutoFit/>
          </a:bodyPr>
          <a:lstStyle/>
          <a:p>
            <a:pPr algn="r">
              <a:lnSpc>
                <a:spcPct val="100000"/>
              </a:lnSpc>
            </a:pPr>
            <a:r>
              <a:rPr lang="en-US" sz="1600" dirty="0">
                <a:solidFill>
                  <a:srgbClr val="C2F5E1"/>
                </a:solidFill>
                <a:latin typeface="Source Han Sans SC" pitchFamily="34" charset="0"/>
                <a:ea typeface="Source Han Sans SC" pitchFamily="34" charset="-122"/>
                <a:cs typeface="Source Han Sans SC" pitchFamily="34" charset="-120"/>
              </a:rPr>
              <a:t>High-Cardinality Columns</a:t>
            </a:r>
            <a:endParaRPr lang="en-US" sz="1600" dirty="0"/>
          </a:p>
        </p:txBody>
      </p:sp>
      <p:sp>
        <p:nvSpPr>
          <p:cNvPr id="21" name="Text 15"/>
          <p:cNvSpPr/>
          <p:nvPr/>
        </p:nvSpPr>
        <p:spPr>
          <a:xfrm>
            <a:off x="5172075" y="5572760"/>
            <a:ext cx="6314440" cy="1076325"/>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Index high-cardinality columns to maximize filter efficiency. These columns have a wide range of distinct values, making indexes more effective.</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5035148" cy="6858001"/>
          </a:xfrm>
          <a:prstGeom prst="rect">
            <a:avLst/>
          </a:prstGeom>
          <a:solidFill>
            <a:srgbClr val="161616"/>
          </a:solidFill>
          <a:ln/>
        </p:spPr>
      </p:sp>
      <p:sp>
        <p:nvSpPr>
          <p:cNvPr id="3" name="Text 1"/>
          <p:cNvSpPr/>
          <p:nvPr/>
        </p:nvSpPr>
        <p:spPr>
          <a:xfrm>
            <a:off x="0" y="-1"/>
            <a:ext cx="5035148" cy="6858001"/>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06-d2nfaoh8bjvh7rlj0i6g.jpeg"/>
          <p:cNvPicPr>
            <a:picLocks noChangeAspect="1"/>
          </p:cNvPicPr>
          <p:nvPr/>
        </p:nvPicPr>
        <p:blipFill>
          <a:blip r:embed="rId3"/>
          <a:srcRect/>
          <a:stretch/>
        </p:blipFill>
        <p:spPr>
          <a:xfrm>
            <a:off x="5035148" y="-1"/>
            <a:ext cx="7178987" cy="6858001"/>
          </a:xfrm>
          <a:prstGeom prst="rect">
            <a:avLst/>
          </a:prstGeom>
        </p:spPr>
      </p:pic>
      <p:sp>
        <p:nvSpPr>
          <p:cNvPr id="5" name="Shape 2"/>
          <p:cNvSpPr/>
          <p:nvPr/>
        </p:nvSpPr>
        <p:spPr>
          <a:xfrm>
            <a:off x="5025548" y="-2259"/>
            <a:ext cx="7215145" cy="6858000"/>
          </a:xfrm>
          <a:prstGeom prst="rect">
            <a:avLst/>
          </a:prstGeom>
          <a:solidFill>
            <a:srgbClr val="404040">
              <a:alpha val="67843"/>
            </a:srgbClr>
          </a:solidFill>
          <a:ln/>
        </p:spPr>
      </p:sp>
      <p:sp>
        <p:nvSpPr>
          <p:cNvPr id="6" name="Text 3"/>
          <p:cNvSpPr/>
          <p:nvPr/>
        </p:nvSpPr>
        <p:spPr>
          <a:xfrm>
            <a:off x="5025548" y="-2259"/>
            <a:ext cx="7215145" cy="6858000"/>
          </a:xfrm>
          <a:prstGeom prst="rect">
            <a:avLst/>
          </a:prstGeom>
          <a:noFill/>
          <a:ln/>
        </p:spPr>
        <p:txBody>
          <a:bodyPr wrap="square" lIns="45720" tIns="91440" rIns="91440" bIns="45720" rtlCol="0" anchor="ctr"/>
          <a:lstStyle/>
          <a:p>
            <a:pPr>
              <a:lnSpc>
                <a:spcPct val="100000"/>
              </a:lnSpc>
            </a:pPr>
            <a:endParaRPr lang="en-US" sz="1600" dirty="0"/>
          </a:p>
        </p:txBody>
      </p:sp>
      <p:pic>
        <p:nvPicPr>
          <p:cNvPr id="7" name="Image 1" descr="https://kimi-img.moonshot.cn/pub/slides/slides_tmpl/image/25-08-27-20:09:05-d2nfao98bjvh7rlj0i50.jpg"/>
          <p:cNvPicPr>
            <a:picLocks noChangeAspect="1"/>
          </p:cNvPicPr>
          <p:nvPr/>
        </p:nvPicPr>
        <p:blipFill>
          <a:blip r:embed="rId4"/>
          <a:stretch>
            <a:fillRect/>
          </a:stretch>
        </p:blipFill>
        <p:spPr>
          <a:xfrm>
            <a:off x="7813973" y="851740"/>
            <a:ext cx="3767263" cy="2511509"/>
          </a:xfrm>
          <a:prstGeom prst="rect">
            <a:avLst/>
          </a:prstGeom>
        </p:spPr>
      </p:pic>
      <p:pic>
        <p:nvPicPr>
          <p:cNvPr id="8" name="Image 2" descr="https://kimi-img.moonshot.cn/pub/slides/slides_tmpl/image/25-08-27-20:09:06-d2nfaoh8bjvh7rlj0i5g.jpg"/>
          <p:cNvPicPr>
            <a:picLocks noChangeAspect="1"/>
          </p:cNvPicPr>
          <p:nvPr/>
        </p:nvPicPr>
        <p:blipFill>
          <a:blip r:embed="rId5"/>
          <a:stretch>
            <a:fillRect/>
          </a:stretch>
        </p:blipFill>
        <p:spPr>
          <a:xfrm>
            <a:off x="7813973" y="3426741"/>
            <a:ext cx="3767263" cy="2496100"/>
          </a:xfrm>
          <a:prstGeom prst="rect">
            <a:avLst/>
          </a:prstGeom>
        </p:spPr>
      </p:pic>
      <p:pic>
        <p:nvPicPr>
          <p:cNvPr id="9" name="Image 3" descr="https://kimi-img.moonshot.cn/pub/slides/slides_tmpl/image/25-08-27-20:09:06-d2nfaoh8bjvh7rlj0i60.jpg"/>
          <p:cNvPicPr>
            <a:picLocks noChangeAspect="1"/>
          </p:cNvPicPr>
          <p:nvPr/>
        </p:nvPicPr>
        <p:blipFill>
          <a:blip r:embed="rId6"/>
          <a:srcRect/>
          <a:stretch/>
        </p:blipFill>
        <p:spPr>
          <a:xfrm>
            <a:off x="5962895" y="863300"/>
            <a:ext cx="1788699" cy="1370065"/>
          </a:xfrm>
          <a:prstGeom prst="rect">
            <a:avLst/>
          </a:prstGeom>
        </p:spPr>
      </p:pic>
      <p:pic>
        <p:nvPicPr>
          <p:cNvPr id="10" name="Image 4" descr="https://kimi-img.moonshot.cn/pub/slides/slides_tmpl/image/25-08-27-20:09:06-d2nfaoh8bjvh7rlj0i7g.jpg"/>
          <p:cNvPicPr>
            <a:picLocks noChangeAspect="1"/>
          </p:cNvPicPr>
          <p:nvPr/>
        </p:nvPicPr>
        <p:blipFill>
          <a:blip r:embed="rId7"/>
          <a:stretch>
            <a:fillRect/>
          </a:stretch>
        </p:blipFill>
        <p:spPr>
          <a:xfrm>
            <a:off x="5972163" y="2302450"/>
            <a:ext cx="1779431" cy="2387497"/>
          </a:xfrm>
          <a:prstGeom prst="rect">
            <a:avLst/>
          </a:prstGeom>
        </p:spPr>
      </p:pic>
      <p:pic>
        <p:nvPicPr>
          <p:cNvPr id="11" name="Image 5" descr="https://kimi-img.moonshot.cn/pub/slides/slides_tmpl/image/25-08-27-20:09:06-d2nfaoh8bjvh7rlj0i80.jpg"/>
          <p:cNvPicPr>
            <a:picLocks noChangeAspect="1"/>
          </p:cNvPicPr>
          <p:nvPr/>
        </p:nvPicPr>
        <p:blipFill>
          <a:blip r:embed="rId8"/>
          <a:srcRect/>
          <a:stretch/>
        </p:blipFill>
        <p:spPr>
          <a:xfrm>
            <a:off x="5972163" y="4759032"/>
            <a:ext cx="1779431" cy="1163809"/>
          </a:xfrm>
          <a:prstGeom prst="rect">
            <a:avLst/>
          </a:prstGeom>
        </p:spPr>
      </p:pic>
      <p:sp>
        <p:nvSpPr>
          <p:cNvPr id="12" name="Text 4"/>
          <p:cNvSpPr/>
          <p:nvPr/>
        </p:nvSpPr>
        <p:spPr>
          <a:xfrm>
            <a:off x="364490" y="1007110"/>
            <a:ext cx="3987800" cy="1476375"/>
          </a:xfrm>
          <a:prstGeom prst="rect">
            <a:avLst/>
          </a:prstGeom>
          <a:noFill/>
          <a:ln/>
        </p:spPr>
        <p:txBody>
          <a:bodyPr wrap="square" lIns="91440" tIns="45720" rIns="91440" bIns="45720" rtlCol="0" anchor="t">
            <a:spAutoFit/>
          </a:bodyPr>
          <a:lstStyle/>
          <a:p>
            <a:pPr>
              <a:lnSpc>
                <a:spcPct val="100000"/>
              </a:lnSpc>
            </a:pPr>
            <a:r>
              <a:rPr lang="en-US" sz="3600" dirty="0">
                <a:solidFill>
                  <a:srgbClr val="FFFFFF"/>
                </a:solidFill>
                <a:latin typeface="Source Han Sans SC" pitchFamily="34" charset="0"/>
                <a:ea typeface="Source Han Sans SC" pitchFamily="34" charset="-122"/>
                <a:cs typeface="Source Han Sans SC" pitchFamily="34" charset="-120"/>
              </a:rPr>
              <a:t>Before After Optimization Tale</a:t>
            </a:r>
            <a:endParaRPr lang="en-US" sz="1600" dirty="0"/>
          </a:p>
        </p:txBody>
      </p:sp>
      <p:sp>
        <p:nvSpPr>
          <p:cNvPr id="13" name="Text 5"/>
          <p:cNvSpPr/>
          <p:nvPr/>
        </p:nvSpPr>
        <p:spPr>
          <a:xfrm>
            <a:off x="364490" y="3611880"/>
            <a:ext cx="4427220" cy="499745"/>
          </a:xfrm>
          <a:prstGeom prst="rect">
            <a:avLst/>
          </a:prstGeom>
          <a:noFill/>
          <a:ln/>
        </p:spPr>
        <p:txBody>
          <a:bodyPr wrap="square" lIns="91440" tIns="45720" rIns="91440" bIns="45720" rtlCol="0" anchor="b"/>
          <a:lstStyle/>
          <a:p>
            <a:pPr>
              <a:lnSpc>
                <a:spcPct val="100000"/>
              </a:lnSpc>
            </a:pPr>
            <a:r>
              <a:rPr lang="en-US" sz="2400" dirty="0">
                <a:solidFill>
                  <a:srgbClr val="9DB4E0"/>
                </a:solidFill>
                <a:latin typeface="Source Han Sans SC" pitchFamily="34" charset="0"/>
                <a:ea typeface="Source Han Sans SC" pitchFamily="34" charset="-122"/>
                <a:cs typeface="Source Han Sans SC" pitchFamily="34" charset="-120"/>
              </a:rPr>
              <a:t>Optimization Example</a:t>
            </a:r>
            <a:endParaRPr lang="en-US" sz="1600" dirty="0"/>
          </a:p>
        </p:txBody>
      </p:sp>
      <p:sp>
        <p:nvSpPr>
          <p:cNvPr id="14" name="Text 6"/>
          <p:cNvSpPr/>
          <p:nvPr/>
        </p:nvSpPr>
        <p:spPr>
          <a:xfrm>
            <a:off x="364490" y="4256405"/>
            <a:ext cx="4383405" cy="2402840"/>
          </a:xfrm>
          <a:prstGeom prst="rect">
            <a:avLst/>
          </a:prstGeom>
          <a:noFill/>
          <a:ln/>
        </p:spPr>
        <p:txBody>
          <a:bodyPr wrap="square" lIns="91440" tIns="45720" rIns="91440" bIns="45720" rtlCol="0" anchor="t"/>
          <a:lstStyle/>
          <a:p>
            <a:pPr algn="just">
              <a:lnSpc>
                <a:spcPct val="100000"/>
              </a:lnSpc>
            </a:pPr>
            <a:r>
              <a:rPr lang="en-US" sz="1800" dirty="0">
                <a:solidFill>
                  <a:srgbClr val="FFFFFF"/>
                </a:solidFill>
                <a:latin typeface="Source Han Sans SC Light" pitchFamily="34" charset="0"/>
                <a:ea typeface="Source Han Sans SC Light" pitchFamily="34" charset="-122"/>
                <a:cs typeface="Source Han Sans SC Light" pitchFamily="34" charset="-120"/>
              </a:rPr>
              <a:t>Compare an unindexed query with a post-index version. Adding an index on last_name changes the EXPLAIN output from type=ALL to type=ref, significantly reducing row reads and improving query speed.</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Best Practices</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44526" y="1951672"/>
            <a:ext cx="3780821" cy="1477328"/>
          </a:xfrm>
          <a:prstGeom prst="rect">
            <a:avLst/>
          </a:prstGeom>
          <a:noFill/>
          <a:ln/>
        </p:spPr>
        <p:txBody>
          <a:bodyPr wrap="square" lIns="91440" tIns="45720" rIns="91440" bIns="45720" rtlCol="0" anchor="t">
            <a:spAutoFit/>
          </a:bodyPr>
          <a:lstStyle/>
          <a:p>
            <a:pP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Golden Rules for Indexing</a:t>
            </a:r>
            <a:endParaRPr lang="en-US" sz="1600" dirty="0"/>
          </a:p>
        </p:txBody>
      </p:sp>
      <p:pic>
        <p:nvPicPr>
          <p:cNvPr id="3" name="Image 0" descr="https://kimi-img.moonshot.cn/pub/slides/slides_tmpl/image/25-08-27-20:09:12-d2nfaq18bjvh7rlj0io0.jpeg"/>
          <p:cNvPicPr>
            <a:picLocks noChangeAspect="1"/>
          </p:cNvPicPr>
          <p:nvPr/>
        </p:nvPicPr>
        <p:blipFill>
          <a:blip r:embed="rId3"/>
          <a:stretch>
            <a:fillRect/>
          </a:stretch>
        </p:blipFill>
        <p:spPr>
          <a:xfrm>
            <a:off x="7374577" y="325045"/>
            <a:ext cx="4174299" cy="6271247"/>
          </a:xfrm>
          <a:prstGeom prst="rect">
            <a:avLst/>
          </a:prstGeom>
        </p:spPr>
      </p:pic>
      <p:sp>
        <p:nvSpPr>
          <p:cNvPr id="4" name="Shape 1"/>
          <p:cNvSpPr/>
          <p:nvPr/>
        </p:nvSpPr>
        <p:spPr>
          <a:xfrm>
            <a:off x="4424827" y="645525"/>
            <a:ext cx="6084835" cy="5566950"/>
          </a:xfrm>
          <a:prstGeom prst="rect">
            <a:avLst/>
          </a:prstGeom>
          <a:solidFill>
            <a:srgbClr val="0D0D0D">
              <a:alpha val="72941"/>
            </a:srgbClr>
          </a:solidFill>
          <a:ln/>
        </p:spPr>
      </p:sp>
      <p:sp>
        <p:nvSpPr>
          <p:cNvPr id="5" name="Text 2"/>
          <p:cNvSpPr/>
          <p:nvPr/>
        </p:nvSpPr>
        <p:spPr>
          <a:xfrm>
            <a:off x="4424827" y="645525"/>
            <a:ext cx="6084835" cy="556695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3"/>
          <p:cNvSpPr/>
          <p:nvPr/>
        </p:nvSpPr>
        <p:spPr>
          <a:xfrm>
            <a:off x="1819575" y="1135628"/>
            <a:ext cx="363255" cy="363255"/>
          </a:xfrm>
          <a:prstGeom prst="ellipse">
            <a:avLst/>
          </a:prstGeom>
          <a:solidFill>
            <a:srgbClr val="000000">
              <a:alpha val="0"/>
            </a:srgbClr>
          </a:solidFill>
          <a:ln w="19050">
            <a:solidFill>
              <a:srgbClr val="262626"/>
            </a:solidFill>
            <a:prstDash val="solid"/>
          </a:ln>
        </p:spPr>
      </p:sp>
      <p:sp>
        <p:nvSpPr>
          <p:cNvPr id="7" name="Text 4"/>
          <p:cNvSpPr/>
          <p:nvPr/>
        </p:nvSpPr>
        <p:spPr>
          <a:xfrm>
            <a:off x="1819575" y="1135628"/>
            <a:ext cx="363255" cy="36325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2082972" y="1154416"/>
            <a:ext cx="325677" cy="325677"/>
          </a:xfrm>
          <a:prstGeom prst="ellipse">
            <a:avLst/>
          </a:prstGeom>
          <a:solidFill>
            <a:srgbClr val="9DB4E1"/>
          </a:solidFill>
          <a:ln/>
        </p:spPr>
      </p:sp>
      <p:sp>
        <p:nvSpPr>
          <p:cNvPr id="9" name="Text 6"/>
          <p:cNvSpPr/>
          <p:nvPr/>
        </p:nvSpPr>
        <p:spPr>
          <a:xfrm>
            <a:off x="2082972" y="1154416"/>
            <a:ext cx="325677" cy="325677"/>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a:off x="2145351" y="1303561"/>
            <a:ext cx="225819" cy="1819"/>
          </a:xfrm>
          <a:prstGeom prst="straightConnector1">
            <a:avLst/>
          </a:prstGeom>
          <a:noFill/>
          <a:ln w="12700">
            <a:solidFill>
              <a:srgbClr val="262626"/>
            </a:solidFill>
            <a:prstDash val="solid"/>
            <a:headEnd type="none"/>
            <a:tailEnd type="triangle"/>
          </a:ln>
        </p:spPr>
      </p:sp>
      <p:sp>
        <p:nvSpPr>
          <p:cNvPr id="11" name="Text 8"/>
          <p:cNvSpPr/>
          <p:nvPr/>
        </p:nvSpPr>
        <p:spPr>
          <a:xfrm>
            <a:off x="4672141" y="1071726"/>
            <a:ext cx="5651474" cy="40011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Index Frequent Queries</a:t>
            </a:r>
            <a:endParaRPr lang="en-US" sz="1600" dirty="0"/>
          </a:p>
        </p:txBody>
      </p:sp>
      <p:sp>
        <p:nvSpPr>
          <p:cNvPr id="12" name="Text 9"/>
          <p:cNvSpPr/>
          <p:nvPr/>
        </p:nvSpPr>
        <p:spPr>
          <a:xfrm>
            <a:off x="4672330" y="1471930"/>
            <a:ext cx="5828030" cy="1076325"/>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Create indexes on columns frequently used in queries to speed up read operations. This ensures that common queries are optimized for performance.</a:t>
            </a:r>
            <a:endParaRPr lang="en-US" sz="1600" dirty="0"/>
          </a:p>
        </p:txBody>
      </p:sp>
      <p:sp>
        <p:nvSpPr>
          <p:cNvPr id="13" name="Text 10"/>
          <p:cNvSpPr/>
          <p:nvPr/>
        </p:nvSpPr>
        <p:spPr>
          <a:xfrm>
            <a:off x="444526" y="3220505"/>
            <a:ext cx="5651474" cy="400110"/>
          </a:xfrm>
          <a:prstGeom prst="rect">
            <a:avLst/>
          </a:prstGeom>
          <a:noFill/>
          <a:ln/>
        </p:spPr>
        <p:txBody>
          <a:bodyPr wrap="square" lIns="91440" tIns="45720" rIns="91440" bIns="45720" rtlCol="0" anchor="t">
            <a:spAutoFit/>
          </a:bodyPr>
          <a:lstStyle/>
          <a:p>
            <a:pPr>
              <a:lnSpc>
                <a:spcPct val="100000"/>
              </a:lnSpc>
            </a:pPr>
            <a:r>
              <a:rPr lang="en-US" sz="2000" dirty="0">
                <a:solidFill>
                  <a:srgbClr val="1D2123"/>
                </a:solidFill>
                <a:latin typeface="Source Han Sans SC" pitchFamily="34" charset="0"/>
                <a:ea typeface="Source Han Sans SC" pitchFamily="34" charset="-122"/>
                <a:cs typeface="Source Han Sans SC" pitchFamily="34" charset="-120"/>
              </a:rPr>
              <a:t>Composite Indexes</a:t>
            </a:r>
            <a:endParaRPr lang="en-US" sz="1600" dirty="0"/>
          </a:p>
        </p:txBody>
      </p:sp>
      <p:sp>
        <p:nvSpPr>
          <p:cNvPr id="14" name="Text 11"/>
          <p:cNvSpPr/>
          <p:nvPr/>
        </p:nvSpPr>
        <p:spPr>
          <a:xfrm>
            <a:off x="444526" y="3620615"/>
            <a:ext cx="3776649" cy="1814830"/>
          </a:xfrm>
          <a:prstGeom prst="rect">
            <a:avLst/>
          </a:prstGeom>
          <a:noFill/>
          <a:ln/>
        </p:spPr>
        <p:txBody>
          <a:bodyPr wrap="square" lIns="91440" tIns="45720" rIns="91440" bIns="45720" rtlCol="0" anchor="t">
            <a:spAutoFit/>
          </a:bodyPr>
          <a:lstStyle/>
          <a:p>
            <a:pPr>
              <a:lnSpc>
                <a:spcPct val="100000"/>
              </a:lnSpc>
            </a:pPr>
            <a:r>
              <a:rPr lang="en-US" sz="1600" dirty="0">
                <a:solidFill>
                  <a:srgbClr val="1D2123"/>
                </a:solidFill>
                <a:latin typeface="Source Han Sans SC Normal" pitchFamily="34" charset="0"/>
                <a:ea typeface="Source Han Sans SC Normal" pitchFamily="34" charset="-122"/>
                <a:cs typeface="Source Han Sans SC Normal" pitchFamily="34" charset="-120"/>
              </a:rPr>
              <a:t>Use composite indexes for multi-column filters to optimize queries involving multiple columns. This reduces the need for multiple single-column indexes.</a:t>
            </a:r>
            <a:endParaRPr lang="en-US" sz="1600" dirty="0"/>
          </a:p>
        </p:txBody>
      </p:sp>
      <p:sp>
        <p:nvSpPr>
          <p:cNvPr id="15" name="Text 12"/>
          <p:cNvSpPr/>
          <p:nvPr/>
        </p:nvSpPr>
        <p:spPr>
          <a:xfrm>
            <a:off x="4672141" y="2686267"/>
            <a:ext cx="5651474" cy="40011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Remove Redundant Indexes</a:t>
            </a:r>
            <a:endParaRPr lang="en-US" sz="1600" dirty="0"/>
          </a:p>
        </p:txBody>
      </p:sp>
      <p:sp>
        <p:nvSpPr>
          <p:cNvPr id="16" name="Text 13"/>
          <p:cNvSpPr/>
          <p:nvPr/>
        </p:nvSpPr>
        <p:spPr>
          <a:xfrm>
            <a:off x="4672330" y="3086100"/>
            <a:ext cx="5782310" cy="1076325"/>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Regularly review and remove redundant indexes to avoid unnecessary overhead on write operations. This keeps the indexing strategy efficient.</a:t>
            </a:r>
            <a:endParaRPr lang="en-US" sz="1600" dirty="0"/>
          </a:p>
        </p:txBody>
      </p:sp>
      <p:sp>
        <p:nvSpPr>
          <p:cNvPr id="17" name="Text 14"/>
          <p:cNvSpPr/>
          <p:nvPr/>
        </p:nvSpPr>
        <p:spPr>
          <a:xfrm>
            <a:off x="4672141" y="4372060"/>
            <a:ext cx="5651474" cy="40011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Monitor Write Workload</a:t>
            </a:r>
            <a:endParaRPr lang="en-US" sz="1600" dirty="0"/>
          </a:p>
        </p:txBody>
      </p:sp>
      <p:sp>
        <p:nvSpPr>
          <p:cNvPr id="18" name="Text 15"/>
          <p:cNvSpPr/>
          <p:nvPr/>
        </p:nvSpPr>
        <p:spPr>
          <a:xfrm>
            <a:off x="4672330" y="4772025"/>
            <a:ext cx="5781675" cy="1076325"/>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Monitor the impact of indexes on write operations like INSERT, UPDATE, and DELETE. Balance indexing needs with write performance to maintain overall efficiency.</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192000" cy="6858001"/>
          </a:xfrm>
          <a:prstGeom prst="rect">
            <a:avLst/>
          </a:prstGeom>
          <a:solidFill>
            <a:srgbClr val="161616"/>
          </a:solidFill>
          <a:ln/>
        </p:spPr>
      </p:sp>
      <p:sp>
        <p:nvSpPr>
          <p:cNvPr id="3" name="Text 1"/>
          <p:cNvSpPr/>
          <p:nvPr/>
        </p:nvSpPr>
        <p:spPr>
          <a:xfrm>
            <a:off x="0" y="-1"/>
            <a:ext cx="12192000" cy="6858001"/>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967105" y="5513705"/>
            <a:ext cx="7889240" cy="1122045"/>
          </a:xfrm>
          <a:prstGeom prst="rect">
            <a:avLst/>
          </a:prstGeom>
          <a:noFill/>
          <a:ln/>
        </p:spPr>
        <p:txBody>
          <a:bodyPr wrap="square" lIns="91440" tIns="45720" rIns="91440" bIns="45720" rtlCol="0" anchor="ctr"/>
          <a:lstStyle/>
          <a:p>
            <a:pPr>
              <a:lnSpc>
                <a:spcPct val="100000"/>
              </a:lnSpc>
            </a:pPr>
            <a:r>
              <a:rPr lang="en-US" sz="4000" dirty="0">
                <a:solidFill>
                  <a:srgbClr val="FFFFFF"/>
                </a:solidFill>
                <a:latin typeface="Source Han Sans SC" pitchFamily="34" charset="0"/>
                <a:ea typeface="Source Han Sans SC" pitchFamily="34" charset="-122"/>
                <a:cs typeface="Source Han Sans SC" pitchFamily="34" charset="-120"/>
              </a:rPr>
              <a:t>Continuous Performance Cycle</a:t>
            </a:r>
            <a:endParaRPr lang="en-US" sz="1600" dirty="0"/>
          </a:p>
        </p:txBody>
      </p:sp>
      <p:pic>
        <p:nvPicPr>
          <p:cNvPr id="5" name="Image 0" descr="https://kimi-img.moonshot.cn/pub/slides/slides_tmpl/image/25-08-27-20:09:08-d2nfap18bjvh7rlj0ic0.jpg"/>
          <p:cNvPicPr>
            <a:picLocks noChangeAspect="1"/>
          </p:cNvPicPr>
          <p:nvPr/>
        </p:nvPicPr>
        <p:blipFill>
          <a:blip r:embed="rId3"/>
          <a:stretch>
            <a:fillRect/>
          </a:stretch>
        </p:blipFill>
        <p:spPr>
          <a:xfrm>
            <a:off x="1055913" y="1053031"/>
            <a:ext cx="3472004" cy="3151189"/>
          </a:xfrm>
          <a:prstGeom prst="rect">
            <a:avLst/>
          </a:prstGeom>
        </p:spPr>
      </p:pic>
      <p:pic>
        <p:nvPicPr>
          <p:cNvPr id="6" name="Image 1" descr="https://kimi-img.moonshot.cn/pub/slides/slides_tmpl/image/25-08-27-20:09:08-d2nfap18bjvh7rlj0iag.png"/>
          <p:cNvPicPr>
            <a:picLocks noChangeAspect="1"/>
          </p:cNvPicPr>
          <p:nvPr/>
        </p:nvPicPr>
        <p:blipFill>
          <a:blip r:embed="rId4"/>
          <a:stretch>
            <a:fillRect/>
          </a:stretch>
        </p:blipFill>
        <p:spPr>
          <a:xfrm>
            <a:off x="4686300" y="529590"/>
            <a:ext cx="1064260" cy="941070"/>
          </a:xfrm>
          <a:prstGeom prst="rect">
            <a:avLst/>
          </a:prstGeom>
        </p:spPr>
      </p:pic>
      <p:pic>
        <p:nvPicPr>
          <p:cNvPr id="7" name="Image 2" descr="https://kimi-img.moonshot.cn/pub/slides/slides_tmpl/image/25-08-27-20:09:08-d2nfap18bjvh7rlj0ibg.png"/>
          <p:cNvPicPr>
            <a:picLocks noChangeAspect="1"/>
          </p:cNvPicPr>
          <p:nvPr/>
        </p:nvPicPr>
        <p:blipFill>
          <a:blip r:embed="rId5"/>
          <a:stretch>
            <a:fillRect/>
          </a:stretch>
        </p:blipFill>
        <p:spPr>
          <a:xfrm>
            <a:off x="4686300" y="2661920"/>
            <a:ext cx="1064260" cy="941070"/>
          </a:xfrm>
          <a:prstGeom prst="rect">
            <a:avLst/>
          </a:prstGeom>
        </p:spPr>
      </p:pic>
      <p:sp>
        <p:nvSpPr>
          <p:cNvPr id="8" name="Text 3"/>
          <p:cNvSpPr/>
          <p:nvPr/>
        </p:nvSpPr>
        <p:spPr>
          <a:xfrm>
            <a:off x="4799856" y="1185108"/>
            <a:ext cx="6482735"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Measure and Optimize</a:t>
            </a:r>
            <a:endParaRPr lang="en-US" sz="1600" dirty="0"/>
          </a:p>
        </p:txBody>
      </p:sp>
      <p:sp>
        <p:nvSpPr>
          <p:cNvPr id="9" name="Text 4"/>
          <p:cNvSpPr/>
          <p:nvPr/>
        </p:nvSpPr>
        <p:spPr>
          <a:xfrm>
            <a:off x="4799965" y="1590040"/>
            <a:ext cx="6997065" cy="1076325"/>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Use EXPLAIN to measure slow queries, add or adjust indexes, and retest execution plans. Document changes and regularly re-audit performance as data grows.</a:t>
            </a:r>
            <a:endParaRPr lang="en-US" sz="1600" dirty="0"/>
          </a:p>
        </p:txBody>
      </p:sp>
      <p:sp>
        <p:nvSpPr>
          <p:cNvPr id="10" name="Text 5"/>
          <p:cNvSpPr/>
          <p:nvPr/>
        </p:nvSpPr>
        <p:spPr>
          <a:xfrm>
            <a:off x="4799855" y="3292048"/>
            <a:ext cx="6482735"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Iterative Process</a:t>
            </a:r>
            <a:endParaRPr lang="en-US" sz="1600" dirty="0"/>
          </a:p>
        </p:txBody>
      </p:sp>
      <p:sp>
        <p:nvSpPr>
          <p:cNvPr id="11" name="Text 6"/>
          <p:cNvSpPr/>
          <p:nvPr/>
        </p:nvSpPr>
        <p:spPr>
          <a:xfrm>
            <a:off x="4799965" y="3696970"/>
            <a:ext cx="6996430" cy="1076325"/>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Optimization is an ongoing process. Continuously monitor query performance, adjust indexes, and refine strategies to adapt to changing data and usage patterns.</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Hands-On &amp; Wrap-Up</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6-d2nfar18bjvh7rlj0iu0.jpg"/>
          <p:cNvPicPr>
            <a:picLocks noChangeAspect="1"/>
          </p:cNvPicPr>
          <p:nvPr/>
        </p:nvPicPr>
        <p:blipFill>
          <a:blip r:embed="rId3"/>
          <a:srcRect/>
          <a:stretch/>
        </p:blipFill>
        <p:spPr>
          <a:xfrm>
            <a:off x="0" y="-1"/>
            <a:ext cx="12192000" cy="6858001"/>
          </a:xfrm>
          <a:prstGeom prst="rect">
            <a:avLst/>
          </a:prstGeom>
        </p:spPr>
      </p:pic>
      <p:sp>
        <p:nvSpPr>
          <p:cNvPr id="3" name="Shape 0"/>
          <p:cNvSpPr/>
          <p:nvPr/>
        </p:nvSpPr>
        <p:spPr>
          <a:xfrm>
            <a:off x="-24680" y="-27384"/>
            <a:ext cx="12232332" cy="6959798"/>
          </a:xfrm>
          <a:prstGeom prst="rect">
            <a:avLst/>
          </a:prstGeom>
          <a:solidFill>
            <a:srgbClr val="333F4F">
              <a:alpha val="47843"/>
            </a:srgbClr>
          </a:solidFill>
          <a:ln/>
        </p:spPr>
      </p:sp>
      <p:sp>
        <p:nvSpPr>
          <p:cNvPr id="4" name="Text 1"/>
          <p:cNvSpPr/>
          <p:nvPr/>
        </p:nvSpPr>
        <p:spPr>
          <a:xfrm>
            <a:off x="-24680" y="-27384"/>
            <a:ext cx="12232332" cy="6959798"/>
          </a:xfrm>
          <a:prstGeom prst="rect">
            <a:avLst/>
          </a:prstGeom>
          <a:noFill/>
          <a:ln/>
        </p:spPr>
        <p:txBody>
          <a:bodyPr wrap="square" lIns="45720" tIns="91440" rIns="91440" bIns="45720" rtlCol="0" anchor="ctr"/>
          <a:lstStyle/>
          <a:p>
            <a:pPr>
              <a:lnSpc>
                <a:spcPct val="100000"/>
              </a:lnSpc>
            </a:pPr>
            <a:endParaRPr lang="en-US" sz="1600" dirty="0"/>
          </a:p>
        </p:txBody>
      </p:sp>
      <p:pic>
        <p:nvPicPr>
          <p:cNvPr id="5" name="Image 1" descr="https://kimi-img.moonshot.cn/pub/slides/slides_tmpl/image/25-08-27-20:09:12-d2nfaq18bjvh7rlj0ing.png"/>
          <p:cNvPicPr>
            <a:picLocks noChangeAspect="1"/>
          </p:cNvPicPr>
          <p:nvPr/>
        </p:nvPicPr>
        <p:blipFill>
          <a:blip r:embed="rId4"/>
          <a:stretch>
            <a:fillRect/>
          </a:stretch>
        </p:blipFill>
        <p:spPr>
          <a:xfrm>
            <a:off x="0" y="4149080"/>
            <a:ext cx="12192000" cy="1561981"/>
          </a:xfrm>
          <a:prstGeom prst="rect">
            <a:avLst/>
          </a:prstGeom>
        </p:spPr>
      </p:pic>
      <p:sp>
        <p:nvSpPr>
          <p:cNvPr id="6" name="Shape 2"/>
          <p:cNvSpPr/>
          <p:nvPr/>
        </p:nvSpPr>
        <p:spPr>
          <a:xfrm rot="10800000">
            <a:off x="1948002" y="4932990"/>
            <a:ext cx="360039" cy="296210"/>
          </a:xfrm>
          <a:prstGeom prst="triangle">
            <a:avLst>
              <a:gd name="adj" fmla="val 50000"/>
            </a:avLst>
          </a:prstGeom>
          <a:solidFill>
            <a:srgbClr val="FFFFFF"/>
          </a:solidFill>
          <a:ln/>
        </p:spPr>
      </p:sp>
      <p:sp>
        <p:nvSpPr>
          <p:cNvPr id="7" name="Text 3"/>
          <p:cNvSpPr/>
          <p:nvPr/>
        </p:nvSpPr>
        <p:spPr>
          <a:xfrm rot="10800000">
            <a:off x="1948002" y="4932990"/>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1948003" y="4767462"/>
            <a:ext cx="360039" cy="63731"/>
          </a:xfrm>
          <a:prstGeom prst="rect">
            <a:avLst/>
          </a:prstGeom>
          <a:solidFill>
            <a:srgbClr val="C2F5E0"/>
          </a:solidFill>
          <a:ln/>
        </p:spPr>
      </p:sp>
      <p:sp>
        <p:nvSpPr>
          <p:cNvPr id="9" name="Text 5"/>
          <p:cNvSpPr/>
          <p:nvPr/>
        </p:nvSpPr>
        <p:spPr>
          <a:xfrm>
            <a:off x="1948003" y="4767462"/>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rot="10800000">
            <a:off x="5928324" y="3759222"/>
            <a:ext cx="360039" cy="296210"/>
          </a:xfrm>
          <a:prstGeom prst="triangle">
            <a:avLst>
              <a:gd name="adj" fmla="val 50000"/>
            </a:avLst>
          </a:prstGeom>
          <a:solidFill>
            <a:srgbClr val="FFFFFF"/>
          </a:solidFill>
          <a:ln/>
        </p:spPr>
      </p:sp>
      <p:sp>
        <p:nvSpPr>
          <p:cNvPr id="11" name="Text 7"/>
          <p:cNvSpPr/>
          <p:nvPr/>
        </p:nvSpPr>
        <p:spPr>
          <a:xfrm rot="10800000">
            <a:off x="5928324" y="3759222"/>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8"/>
          <p:cNvSpPr/>
          <p:nvPr/>
        </p:nvSpPr>
        <p:spPr>
          <a:xfrm>
            <a:off x="5928325" y="3593694"/>
            <a:ext cx="360039" cy="63731"/>
          </a:xfrm>
          <a:prstGeom prst="rect">
            <a:avLst/>
          </a:prstGeom>
          <a:solidFill>
            <a:srgbClr val="C2F5E0"/>
          </a:solidFill>
          <a:ln/>
        </p:spPr>
      </p:sp>
      <p:sp>
        <p:nvSpPr>
          <p:cNvPr id="13" name="Text 9"/>
          <p:cNvSpPr/>
          <p:nvPr/>
        </p:nvSpPr>
        <p:spPr>
          <a:xfrm>
            <a:off x="5928325" y="3593694"/>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0"/>
          <p:cNvSpPr/>
          <p:nvPr/>
        </p:nvSpPr>
        <p:spPr>
          <a:xfrm rot="10800000">
            <a:off x="9908654" y="4386616"/>
            <a:ext cx="360039" cy="296210"/>
          </a:xfrm>
          <a:prstGeom prst="triangle">
            <a:avLst>
              <a:gd name="adj" fmla="val 50000"/>
            </a:avLst>
          </a:prstGeom>
          <a:solidFill>
            <a:srgbClr val="FFFFFF"/>
          </a:solidFill>
          <a:ln/>
        </p:spPr>
      </p:sp>
      <p:sp>
        <p:nvSpPr>
          <p:cNvPr id="15" name="Text 11"/>
          <p:cNvSpPr/>
          <p:nvPr/>
        </p:nvSpPr>
        <p:spPr>
          <a:xfrm rot="10800000">
            <a:off x="9908654" y="4386616"/>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2"/>
          <p:cNvSpPr/>
          <p:nvPr/>
        </p:nvSpPr>
        <p:spPr>
          <a:xfrm>
            <a:off x="9908655" y="4221088"/>
            <a:ext cx="360039" cy="63731"/>
          </a:xfrm>
          <a:prstGeom prst="rect">
            <a:avLst/>
          </a:prstGeom>
          <a:solidFill>
            <a:srgbClr val="C2F5E0"/>
          </a:solidFill>
          <a:ln/>
        </p:spPr>
      </p:sp>
      <p:sp>
        <p:nvSpPr>
          <p:cNvPr id="17" name="Text 13"/>
          <p:cNvSpPr/>
          <p:nvPr/>
        </p:nvSpPr>
        <p:spPr>
          <a:xfrm>
            <a:off x="9908655" y="4221088"/>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8" name="Text 14"/>
          <p:cNvSpPr/>
          <p:nvPr/>
        </p:nvSpPr>
        <p:spPr>
          <a:xfrm>
            <a:off x="1858496" y="5783053"/>
            <a:ext cx="8352928" cy="706755"/>
          </a:xfrm>
          <a:prstGeom prst="rect">
            <a:avLst/>
          </a:prstGeom>
          <a:noFill/>
          <a:ln/>
        </p:spPr>
        <p:txBody>
          <a:bodyPr wrap="square" lIns="91440" tIns="45720" rIns="91440" bIns="45720" rtlCol="0" anchor="t">
            <a:spAutoFit/>
          </a:bodyPr>
          <a:lstStyle/>
          <a:p>
            <a:pPr algn="ctr">
              <a:lnSpc>
                <a:spcPct val="100000"/>
              </a:lnSpc>
            </a:pPr>
            <a:r>
              <a:rPr lang="en-US" sz="4000" dirty="0">
                <a:solidFill>
                  <a:srgbClr val="FFFFFF"/>
                </a:solidFill>
                <a:latin typeface="Source Han Sans SC Medium" pitchFamily="34" charset="0"/>
                <a:ea typeface="Source Han Sans SC Medium" pitchFamily="34" charset="-122"/>
                <a:cs typeface="Source Han Sans SC Medium" pitchFamily="34" charset="-120"/>
              </a:rPr>
              <a:t>Lab and Key Takeaways</a:t>
            </a:r>
            <a:endParaRPr lang="en-US" sz="1600" dirty="0"/>
          </a:p>
        </p:txBody>
      </p:sp>
      <p:sp>
        <p:nvSpPr>
          <p:cNvPr id="19" name="Shape 15"/>
          <p:cNvSpPr/>
          <p:nvPr/>
        </p:nvSpPr>
        <p:spPr>
          <a:xfrm>
            <a:off x="5699956" y="5462750"/>
            <a:ext cx="792088" cy="53532"/>
          </a:xfrm>
          <a:prstGeom prst="rect">
            <a:avLst/>
          </a:prstGeom>
          <a:solidFill>
            <a:srgbClr val="FFFFFF"/>
          </a:solidFill>
          <a:ln/>
        </p:spPr>
      </p:sp>
      <p:sp>
        <p:nvSpPr>
          <p:cNvPr id="20" name="Text 16"/>
          <p:cNvSpPr/>
          <p:nvPr/>
        </p:nvSpPr>
        <p:spPr>
          <a:xfrm>
            <a:off x="5699956" y="5462750"/>
            <a:ext cx="792088" cy="53532"/>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7"/>
          <p:cNvSpPr/>
          <p:nvPr/>
        </p:nvSpPr>
        <p:spPr>
          <a:xfrm>
            <a:off x="4079776" y="1107270"/>
            <a:ext cx="0" cy="2740316"/>
          </a:xfrm>
          <a:prstGeom prst="straightConnector1">
            <a:avLst/>
          </a:prstGeom>
          <a:noFill/>
          <a:ln w="31750">
            <a:solidFill>
              <a:srgbClr val="C2F5E1">
                <a:alpha val="38824"/>
              </a:srgbClr>
            </a:solidFill>
            <a:prstDash val="solid"/>
            <a:headEnd type="none"/>
            <a:tailEnd type="triangle"/>
          </a:ln>
        </p:spPr>
      </p:sp>
      <p:sp>
        <p:nvSpPr>
          <p:cNvPr id="22" name="Shape 18"/>
          <p:cNvSpPr/>
          <p:nvPr/>
        </p:nvSpPr>
        <p:spPr>
          <a:xfrm>
            <a:off x="8060105" y="963760"/>
            <a:ext cx="0" cy="2740316"/>
          </a:xfrm>
          <a:prstGeom prst="straightConnector1">
            <a:avLst/>
          </a:prstGeom>
          <a:noFill/>
          <a:ln w="31750">
            <a:solidFill>
              <a:srgbClr val="C2F5E1">
                <a:alpha val="38824"/>
              </a:srgbClr>
            </a:solidFill>
            <a:prstDash val="solid"/>
            <a:headEnd type="none"/>
            <a:tailEnd type="triangle"/>
          </a:ln>
        </p:spPr>
      </p:sp>
      <p:pic>
        <p:nvPicPr>
          <p:cNvPr id="23" name="Image 2" descr="https://kimi-img.moonshot.cn/pub/slides/slides_tmpl/image/25-08-27-20:09:11-d2nfapp8bjvh7rlj0ilg.png"/>
          <p:cNvPicPr>
            <a:picLocks noChangeAspect="1"/>
          </p:cNvPicPr>
          <p:nvPr/>
        </p:nvPicPr>
        <p:blipFill>
          <a:blip r:embed="rId5"/>
          <a:stretch>
            <a:fillRect/>
          </a:stretch>
        </p:blipFill>
        <p:spPr>
          <a:xfrm>
            <a:off x="1784985" y="1536700"/>
            <a:ext cx="718185" cy="546100"/>
          </a:xfrm>
          <a:prstGeom prst="rect">
            <a:avLst/>
          </a:prstGeom>
        </p:spPr>
      </p:pic>
      <p:pic>
        <p:nvPicPr>
          <p:cNvPr id="24" name="Image 3" descr="https://kimi-img.moonshot.cn/pub/slides/slides_tmpl/image/25-08-27-20:09:11-d2nfapp8bjvh7rlj0im0.png"/>
          <p:cNvPicPr>
            <a:picLocks noChangeAspect="1"/>
          </p:cNvPicPr>
          <p:nvPr/>
        </p:nvPicPr>
        <p:blipFill>
          <a:blip r:embed="rId6"/>
          <a:stretch>
            <a:fillRect/>
          </a:stretch>
        </p:blipFill>
        <p:spPr>
          <a:xfrm>
            <a:off x="5716270" y="234950"/>
            <a:ext cx="764540" cy="581025"/>
          </a:xfrm>
          <a:prstGeom prst="rect">
            <a:avLst/>
          </a:prstGeom>
        </p:spPr>
      </p:pic>
      <p:pic>
        <p:nvPicPr>
          <p:cNvPr id="25" name="Image 4" descr="https://kimi-img.moonshot.cn/pub/slides/slides_tmpl/image/25-08-27-20:09:11-d2nfapp8bjvh7rlj0img.png"/>
          <p:cNvPicPr>
            <a:picLocks noChangeAspect="1"/>
          </p:cNvPicPr>
          <p:nvPr/>
        </p:nvPicPr>
        <p:blipFill>
          <a:blip r:embed="rId7"/>
          <a:stretch>
            <a:fillRect/>
          </a:stretch>
        </p:blipFill>
        <p:spPr>
          <a:xfrm>
            <a:off x="9665335" y="982980"/>
            <a:ext cx="717550" cy="545465"/>
          </a:xfrm>
          <a:prstGeom prst="rect">
            <a:avLst/>
          </a:prstGeom>
        </p:spPr>
      </p:pic>
      <p:sp>
        <p:nvSpPr>
          <p:cNvPr id="26" name="Text 19"/>
          <p:cNvSpPr/>
          <p:nvPr/>
        </p:nvSpPr>
        <p:spPr>
          <a:xfrm>
            <a:off x="354330" y="2011045"/>
            <a:ext cx="3538220" cy="39878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Lab Tasks</a:t>
            </a:r>
            <a:endParaRPr lang="en-US" sz="1600" dirty="0"/>
          </a:p>
        </p:txBody>
      </p:sp>
      <p:sp>
        <p:nvSpPr>
          <p:cNvPr id="27" name="Text 20"/>
          <p:cNvSpPr/>
          <p:nvPr/>
        </p:nvSpPr>
        <p:spPr>
          <a:xfrm>
            <a:off x="577850" y="2434590"/>
            <a:ext cx="3090545"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Create single and composite indexes on sample tables. Run EXPLAIN on queries to analyze performance. Optimize a JOIN statement using appropriate indexes.</a:t>
            </a:r>
            <a:endParaRPr lang="en-US" sz="1600" dirty="0"/>
          </a:p>
        </p:txBody>
      </p:sp>
      <p:sp>
        <p:nvSpPr>
          <p:cNvPr id="28" name="Text 21"/>
          <p:cNvSpPr/>
          <p:nvPr/>
        </p:nvSpPr>
        <p:spPr>
          <a:xfrm>
            <a:off x="4079875" y="765810"/>
            <a:ext cx="3979545" cy="39878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Key Takeaways</a:t>
            </a:r>
            <a:endParaRPr lang="en-US" sz="1600" dirty="0"/>
          </a:p>
        </p:txBody>
      </p:sp>
      <p:sp>
        <p:nvSpPr>
          <p:cNvPr id="29" name="Text 22"/>
          <p:cNvSpPr/>
          <p:nvPr/>
        </p:nvSpPr>
        <p:spPr>
          <a:xfrm>
            <a:off x="4468495" y="1188720"/>
            <a:ext cx="3231515"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Indexes accelerate read operations, EXPLAIN helps identify bottlenecks, and optimization is an iterative process. Regularly review and adjust indexes as data evolves.</a:t>
            </a:r>
            <a:endParaRPr lang="en-US" sz="1600" dirty="0"/>
          </a:p>
        </p:txBody>
      </p:sp>
      <p:sp>
        <p:nvSpPr>
          <p:cNvPr id="30" name="Text 23"/>
          <p:cNvSpPr/>
          <p:nvPr/>
        </p:nvSpPr>
        <p:spPr>
          <a:xfrm>
            <a:off x="8275320" y="1451610"/>
            <a:ext cx="3448685" cy="39878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Continuous Improvement</a:t>
            </a:r>
            <a:endParaRPr lang="en-US" sz="1600" dirty="0"/>
          </a:p>
        </p:txBody>
      </p:sp>
      <p:sp>
        <p:nvSpPr>
          <p:cNvPr id="31" name="Text 24"/>
          <p:cNvSpPr/>
          <p:nvPr/>
        </p:nvSpPr>
        <p:spPr>
          <a:xfrm>
            <a:off x="8431530" y="1874520"/>
            <a:ext cx="3185160"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Embed optimization as an ongoing habit. Regularly measure query performance, adjust indexes, and document changes to maintain efficient database operations.</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941127"/>
          </a:xfrm>
          <a:prstGeom prst="rect">
            <a:avLst/>
          </a:prstGeom>
          <a:solidFill>
            <a:srgbClr val="161616"/>
          </a:solidFill>
          <a:ln/>
        </p:spPr>
      </p:sp>
      <p:sp>
        <p:nvSpPr>
          <p:cNvPr id="3" name="Text 1"/>
          <p:cNvSpPr/>
          <p:nvPr/>
        </p:nvSpPr>
        <p:spPr>
          <a:xfrm>
            <a:off x="0" y="0"/>
            <a:ext cx="12192000" cy="6941127"/>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2-d2nfaq18bjvh7rlj0is0.jpeg"/>
          <p:cNvPicPr>
            <a:picLocks noChangeAspect="1"/>
          </p:cNvPicPr>
          <p:nvPr/>
        </p:nvPicPr>
        <p:blipFill>
          <a:blip r:embed="rId3"/>
          <a:stretch>
            <a:fillRect/>
          </a:stretch>
        </p:blipFill>
        <p:spPr>
          <a:xfrm>
            <a:off x="4388617" y="1561401"/>
            <a:ext cx="4553512" cy="3552547"/>
          </a:xfrm>
          <a:prstGeom prst="rect">
            <a:avLst/>
          </a:prstGeom>
        </p:spPr>
      </p:pic>
      <p:pic>
        <p:nvPicPr>
          <p:cNvPr id="5" name="Image 1" descr="https://kimi-img.moonshot.cn/pub/slides/slides_tmpl/image/25-08-27-20:09:12-d2nfaq18bjvh7rlj0isg.jpeg"/>
          <p:cNvPicPr>
            <a:picLocks noChangeAspect="1"/>
          </p:cNvPicPr>
          <p:nvPr/>
        </p:nvPicPr>
        <p:blipFill>
          <a:blip r:embed="rId4"/>
          <a:srcRect/>
          <a:stretch/>
        </p:blipFill>
        <p:spPr>
          <a:xfrm>
            <a:off x="9103121" y="1561401"/>
            <a:ext cx="2434092" cy="2408626"/>
          </a:xfrm>
          <a:prstGeom prst="rect">
            <a:avLst/>
          </a:prstGeom>
        </p:spPr>
      </p:pic>
      <p:sp>
        <p:nvSpPr>
          <p:cNvPr id="6" name="Shape 2"/>
          <p:cNvSpPr/>
          <p:nvPr/>
        </p:nvSpPr>
        <p:spPr>
          <a:xfrm>
            <a:off x="1884213" y="3119957"/>
            <a:ext cx="363255" cy="363255"/>
          </a:xfrm>
          <a:prstGeom prst="ellipse">
            <a:avLst/>
          </a:prstGeom>
          <a:solidFill>
            <a:srgbClr val="000000">
              <a:alpha val="0"/>
            </a:srgbClr>
          </a:solidFill>
          <a:ln w="19050">
            <a:solidFill>
              <a:srgbClr val="FFFFFF"/>
            </a:solidFill>
            <a:prstDash val="solid"/>
          </a:ln>
        </p:spPr>
      </p:sp>
      <p:sp>
        <p:nvSpPr>
          <p:cNvPr id="7" name="Text 3"/>
          <p:cNvSpPr/>
          <p:nvPr/>
        </p:nvSpPr>
        <p:spPr>
          <a:xfrm>
            <a:off x="1884213" y="3119957"/>
            <a:ext cx="363255" cy="36325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2147610" y="3138745"/>
            <a:ext cx="325677" cy="325677"/>
          </a:xfrm>
          <a:prstGeom prst="ellipse">
            <a:avLst/>
          </a:prstGeom>
          <a:solidFill>
            <a:srgbClr val="C2F4E0"/>
          </a:solidFill>
          <a:ln/>
        </p:spPr>
      </p:sp>
      <p:sp>
        <p:nvSpPr>
          <p:cNvPr id="9" name="Text 5"/>
          <p:cNvSpPr/>
          <p:nvPr/>
        </p:nvSpPr>
        <p:spPr>
          <a:xfrm>
            <a:off x="2147610" y="3138745"/>
            <a:ext cx="325677" cy="325677"/>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a:off x="2209989" y="3287890"/>
            <a:ext cx="225819" cy="1819"/>
          </a:xfrm>
          <a:prstGeom prst="straightConnector1">
            <a:avLst/>
          </a:prstGeom>
          <a:noFill/>
          <a:ln w="12700">
            <a:solidFill>
              <a:srgbClr val="262626"/>
            </a:solidFill>
            <a:prstDash val="solid"/>
            <a:headEnd type="none"/>
            <a:tailEnd type="triangle"/>
          </a:ln>
        </p:spPr>
      </p:sp>
      <p:pic>
        <p:nvPicPr>
          <p:cNvPr id="11" name="Image 2" descr="https://kimi-img.moonshot.cn/pub/slides/slides_tmpl/image/25-08-27-20:09:13-d2nfaq98bjvh7rlj0it0.png"/>
          <p:cNvPicPr>
            <a:picLocks noChangeAspect="1"/>
          </p:cNvPicPr>
          <p:nvPr/>
        </p:nvPicPr>
        <p:blipFill>
          <a:blip r:embed="rId5"/>
          <a:srcRect r="29701" b="29746"/>
          <a:stretch/>
        </p:blipFill>
        <p:spPr>
          <a:xfrm>
            <a:off x="654685" y="1670685"/>
            <a:ext cx="8178063" cy="3702743"/>
          </a:xfrm>
          <a:prstGeom prst="rect">
            <a:avLst/>
          </a:prstGeom>
        </p:spPr>
      </p:pic>
      <p:sp>
        <p:nvSpPr>
          <p:cNvPr id="12" name="Text 7"/>
          <p:cNvSpPr/>
          <p:nvPr/>
        </p:nvSpPr>
        <p:spPr>
          <a:xfrm>
            <a:off x="524237" y="5373975"/>
            <a:ext cx="2254685" cy="398780"/>
          </a:xfrm>
          <a:prstGeom prst="rect">
            <a:avLst/>
          </a:prstGeom>
          <a:noFill/>
          <a:ln/>
        </p:spPr>
        <p:txBody>
          <a:bodyPr wrap="square" lIns="91440" tIns="45720" rIns="91440" bIns="45720" rtlCol="0" anchor="t">
            <a:spAutoFit/>
          </a:bodyPr>
          <a:lstStyle/>
          <a:p>
            <a:pPr>
              <a:lnSpc>
                <a:spcPct val="100000"/>
              </a:lnSpc>
            </a:pPr>
            <a:r>
              <a:rPr lang="en-US" sz="2000">
                <a:solidFill>
                  <a:srgbClr val="FFFFFF"/>
                </a:solidFill>
                <a:latin typeface="Source Han Sans SC" pitchFamily="34" charset="0"/>
                <a:ea typeface="Source Han Sans SC" pitchFamily="34" charset="-122"/>
                <a:cs typeface="Source Han Sans SC" pitchFamily="34" charset="-120"/>
              </a:rPr>
              <a:t>Sean Wong</a:t>
            </a:r>
            <a:endParaRPr lang="en-US" sz="1600" dirty="0"/>
          </a:p>
        </p:txBody>
      </p:sp>
      <p:sp>
        <p:nvSpPr>
          <p:cNvPr id="13" name="Text 8"/>
          <p:cNvSpPr/>
          <p:nvPr/>
        </p:nvSpPr>
        <p:spPr>
          <a:xfrm>
            <a:off x="548274" y="5750335"/>
            <a:ext cx="4323764"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2025/08/04</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1039</Words>
  <Application>Microsoft Office PowerPoint</Application>
  <PresentationFormat>Widescreen</PresentationFormat>
  <Paragraphs>111</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Source Han Sans SC</vt:lpstr>
      <vt:lpstr>Source Han Sans SC Light</vt:lpstr>
      <vt:lpstr>Source Han Sans SC Medium</vt:lpstr>
      <vt:lpstr>Source Han Sans SC Normal</vt:lpstr>
      <vt:lpstr>Arial</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 Index &amp; Query Tuning</dc:title>
  <dc:subject>MySQL Index &amp; Query Tuning</dc:subject>
  <dc:creator>Kimi</dc:creator>
  <cp:lastModifiedBy>Sean</cp:lastModifiedBy>
  <cp:revision>2</cp:revision>
  <dcterms:created xsi:type="dcterms:W3CDTF">2025-12-05T05:50:31Z</dcterms:created>
  <dcterms:modified xsi:type="dcterms:W3CDTF">2025-12-05T05:55:09Z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{"Label":"MySQL Index &amp; Query Tuning","ContentProducer":"001191110108MACG2KBH8F10000","ProduceID":"d4p747b12h64rj0usuu0","ReservedCode1":"","ContentPropagator":"001191110108MACG2KBH8F20000","PropagateID":"d4p747b12h64rj0usuu0","ReservedCode2":""}</vt:lpwstr>
  </property>
</Properties>
</file>