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6297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g"/><Relationship Id="rId3" Type="http://schemas.openxmlformats.org/officeDocument/2006/relationships/image" Target="../media/image39.jpeg"/><Relationship Id="rId7" Type="http://schemas.openxmlformats.org/officeDocument/2006/relationships/image" Target="../media/image4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8.png"/><Relationship Id="rId4" Type="http://schemas.openxmlformats.org/officeDocument/2006/relationships/image" Target="../media/image4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e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 rot="5400000">
            <a:off x="3017799" y="-3017800"/>
            <a:ext cx="6156401" cy="12192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solidFill>
            <a:srgbClr val="161616"/>
          </a:solidFill>
          <a:ln w="12700">
            <a:solidFill>
              <a:srgbClr val="09111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0" y="4609578"/>
            <a:ext cx="12192000" cy="235727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30466" y="5184885"/>
            <a:ext cx="6077403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Day 3 CRUD Operations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959231" y="5662019"/>
            <a:ext cx="225468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983268" y="6038379"/>
            <a:ext cx="4208732" cy="3407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02-d2nfanh8bjvh7rlj0h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8741" y="5110209"/>
            <a:ext cx="1323439" cy="1323439"/>
          </a:xfrm>
          <a:prstGeom prst="rect">
            <a:avLst/>
          </a:prstGeom>
        </p:spPr>
      </p:pic>
      <p:pic>
        <p:nvPicPr>
          <p:cNvPr id="9" name="Image 2" descr="https://kimi-img.moonshot.cn/pub/slides/slides_tmpl/image/25-08-27-20:09:02-d2nfanh8bjvh7rlj0hu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387" y="5136798"/>
            <a:ext cx="463139" cy="463139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2-d2nfanh8bjvh7rlj0h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0" y="3069032"/>
            <a:ext cx="2420888" cy="2420888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2-d2nfanh8bjvh7rlj0hv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0216" y="5231637"/>
            <a:ext cx="635000" cy="3683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1764" y="0"/>
            <a:ext cx="2916401" cy="6858000"/>
          </a:xfrm>
          <a:custGeom>
            <a:avLst/>
            <a:gdLst/>
            <a:ahLst/>
            <a:cxnLst/>
            <a:rect l="l" t="t" r="r" b="b"/>
            <a:pathLst>
              <a:path w="2916401" h="6858000">
                <a:moveTo>
                  <a:pt x="0" y="0"/>
                </a:moveTo>
                <a:lnTo>
                  <a:pt x="1310838" y="0"/>
                </a:lnTo>
                <a:lnTo>
                  <a:pt x="1453357" y="123454"/>
                </a:lnTo>
                <a:cubicBezTo>
                  <a:pt x="2352136" y="940343"/>
                  <a:pt x="2916401" y="2118776"/>
                  <a:pt x="2916401" y="3429000"/>
                </a:cubicBezTo>
                <a:cubicBezTo>
                  <a:pt x="2916401" y="4739224"/>
                  <a:pt x="2352136" y="5917657"/>
                  <a:pt x="1453357" y="6734546"/>
                </a:cubicBezTo>
                <a:lnTo>
                  <a:pt x="1310838" y="6858000"/>
                </a:lnTo>
                <a:lnTo>
                  <a:pt x="220806" y="6858000"/>
                </a:lnTo>
                <a:lnTo>
                  <a:pt x="224168" y="6856279"/>
                </a:lnTo>
                <a:cubicBezTo>
                  <a:pt x="1419763" y="6206792"/>
                  <a:pt x="2231395" y="4940069"/>
                  <a:pt x="2231395" y="3483779"/>
                </a:cubicBezTo>
                <a:cubicBezTo>
                  <a:pt x="2231395" y="1961294"/>
                  <a:pt x="1344301" y="646001"/>
                  <a:pt x="58792" y="26579"/>
                </a:cubicBezTo>
                <a:close/>
              </a:path>
            </a:pathLst>
          </a:custGeom>
          <a:solidFill>
            <a:srgbClr val="F3F3F7"/>
          </a:solidFill>
          <a:ln/>
        </p:spPr>
      </p:sp>
      <p:sp>
        <p:nvSpPr>
          <p:cNvPr id="3" name="Text 1"/>
          <p:cNvSpPr/>
          <p:nvPr/>
        </p:nvSpPr>
        <p:spPr>
          <a:xfrm>
            <a:off x="2101764" y="0"/>
            <a:ext cx="2916401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solidFill>
            <a:srgbClr val="D2F9E9"/>
          </a:solidFill>
          <a:ln/>
        </p:spPr>
      </p:sp>
      <p:sp>
        <p:nvSpPr>
          <p:cNvPr id="5" name="Text 3"/>
          <p:cNvSpPr/>
          <p:nvPr/>
        </p:nvSpPr>
        <p:spPr>
          <a:xfrm>
            <a:off x="958283" y="478409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solidFill>
            <a:srgbClr val="8FABDB"/>
          </a:solidFill>
          <a:ln/>
        </p:spPr>
      </p:sp>
      <p:sp>
        <p:nvSpPr>
          <p:cNvPr id="7" name="Text 5"/>
          <p:cNvSpPr/>
          <p:nvPr/>
        </p:nvSpPr>
        <p:spPr>
          <a:xfrm>
            <a:off x="958283" y="30709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solidFill>
            <a:srgbClr val="B3C5E6"/>
          </a:solidFill>
          <a:ln/>
        </p:spPr>
      </p:sp>
      <p:sp>
        <p:nvSpPr>
          <p:cNvPr id="9" name="Text 7"/>
          <p:cNvSpPr/>
          <p:nvPr/>
        </p:nvSpPr>
        <p:spPr>
          <a:xfrm>
            <a:off x="958283" y="35080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solidFill>
            <a:srgbClr val="B2D0E3"/>
          </a:solidFill>
          <a:ln/>
        </p:spPr>
      </p:sp>
      <p:sp>
        <p:nvSpPr>
          <p:cNvPr id="11" name="Text 9"/>
          <p:cNvSpPr/>
          <p:nvPr/>
        </p:nvSpPr>
        <p:spPr>
          <a:xfrm>
            <a:off x="958283" y="373693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solidFill>
            <a:srgbClr val="B7DBE3"/>
          </a:solidFill>
          <a:ln/>
        </p:spPr>
      </p:sp>
      <p:sp>
        <p:nvSpPr>
          <p:cNvPr id="13" name="Text 11"/>
          <p:cNvSpPr/>
          <p:nvPr/>
        </p:nvSpPr>
        <p:spPr>
          <a:xfrm>
            <a:off x="958283" y="39447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solidFill>
            <a:srgbClr val="BAE3E1"/>
          </a:solidFill>
          <a:ln/>
        </p:spPr>
      </p:sp>
      <p:sp>
        <p:nvSpPr>
          <p:cNvPr id="15" name="Text 13"/>
          <p:cNvSpPr/>
          <p:nvPr/>
        </p:nvSpPr>
        <p:spPr>
          <a:xfrm>
            <a:off x="958283" y="4173384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solidFill>
            <a:srgbClr val="BEEDE1"/>
          </a:solidFill>
          <a:ln/>
        </p:spPr>
      </p:sp>
      <p:sp>
        <p:nvSpPr>
          <p:cNvPr id="17" name="Text 15"/>
          <p:cNvSpPr/>
          <p:nvPr/>
        </p:nvSpPr>
        <p:spPr>
          <a:xfrm>
            <a:off x="958283" y="43726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solidFill>
            <a:srgbClr val="C9F7E4"/>
          </a:solidFill>
          <a:ln/>
        </p:spPr>
      </p:sp>
      <p:sp>
        <p:nvSpPr>
          <p:cNvPr id="19" name="Text 17"/>
          <p:cNvSpPr/>
          <p:nvPr/>
        </p:nvSpPr>
        <p:spPr>
          <a:xfrm>
            <a:off x="958283" y="458978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solidFill>
            <a:srgbClr val="DEFAEF"/>
          </a:solidFill>
          <a:ln/>
        </p:spPr>
      </p:sp>
      <p:sp>
        <p:nvSpPr>
          <p:cNvPr id="21" name="Text 19"/>
          <p:cNvSpPr/>
          <p:nvPr/>
        </p:nvSpPr>
        <p:spPr>
          <a:xfrm>
            <a:off x="958283" y="500126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solidFill>
            <a:srgbClr val="E2FAF1"/>
          </a:solidFill>
          <a:ln/>
        </p:spPr>
      </p:sp>
      <p:sp>
        <p:nvSpPr>
          <p:cNvPr id="23" name="Text 21"/>
          <p:cNvSpPr/>
          <p:nvPr/>
        </p:nvSpPr>
        <p:spPr>
          <a:xfrm>
            <a:off x="958283" y="51955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solidFill>
            <a:srgbClr val="EBFDF5"/>
          </a:solidFill>
          <a:ln/>
        </p:spPr>
      </p:sp>
      <p:sp>
        <p:nvSpPr>
          <p:cNvPr id="25" name="Text 23"/>
          <p:cNvSpPr/>
          <p:nvPr/>
        </p:nvSpPr>
        <p:spPr>
          <a:xfrm>
            <a:off x="958283" y="542417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solidFill>
            <a:srgbClr val="F1FEF8"/>
          </a:solidFill>
          <a:ln/>
        </p:spPr>
      </p:sp>
      <p:sp>
        <p:nvSpPr>
          <p:cNvPr id="27" name="Text 25"/>
          <p:cNvSpPr/>
          <p:nvPr/>
        </p:nvSpPr>
        <p:spPr>
          <a:xfrm>
            <a:off x="958283" y="564134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solidFill>
            <a:srgbClr val="F7FFFB"/>
          </a:solidFill>
          <a:ln/>
        </p:spPr>
      </p:sp>
      <p:sp>
        <p:nvSpPr>
          <p:cNvPr id="29" name="Text 27"/>
          <p:cNvSpPr/>
          <p:nvPr/>
        </p:nvSpPr>
        <p:spPr>
          <a:xfrm>
            <a:off x="958283" y="5858518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31" name="Text 29"/>
          <p:cNvSpPr/>
          <p:nvPr/>
        </p:nvSpPr>
        <p:spPr>
          <a:xfrm>
            <a:off x="958283" y="3299530"/>
            <a:ext cx="231418" cy="23141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2" name="Image 0" descr="https://kimi-img.moonshot.cn/pub/slides/slides_tmpl/image/25-08-27-20:09:03-d2nfanp8bjvh7rlj0i2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01" y="365720"/>
            <a:ext cx="6438900" cy="5943600"/>
          </a:xfrm>
          <a:prstGeom prst="rect">
            <a:avLst/>
          </a:prstGeom>
        </p:spPr>
      </p:pic>
      <p:pic>
        <p:nvPicPr>
          <p:cNvPr id="33" name="Image 1" descr="https://kimi-img.moonshot.cn/pub/slides/slides_tmpl/image/25-08-27-20:09:03-d2nfanp8bjvh7rlj0i00.png"/>
          <p:cNvPicPr>
            <a:picLocks noChangeAspect="1"/>
          </p:cNvPicPr>
          <p:nvPr/>
        </p:nvPicPr>
        <p:blipFill>
          <a:blip r:embed="rId4"/>
          <a:srcRect b="95767"/>
          <a:stretch/>
        </p:blipFill>
        <p:spPr>
          <a:xfrm>
            <a:off x="263525" y="741045"/>
            <a:ext cx="3962400" cy="95696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54405" y="993775"/>
            <a:ext cx="4064000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5046503" y="1796007"/>
            <a:ext cx="2994499" cy="6155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Kick-off &amp; Targets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8475503" y="1796007"/>
            <a:ext cx="2994499" cy="6155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CRUD Foundations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5471071" y="3849940"/>
            <a:ext cx="2566966" cy="5847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Read &amp; Filter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8765604" y="3854987"/>
            <a:ext cx="2994499" cy="6155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Update &amp; Delete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5143871" y="6086695"/>
            <a:ext cx="2778475" cy="61555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Aggregation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8572871" y="6082269"/>
            <a:ext cx="2566967" cy="86177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Practice &amp; Recap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Kick-off &amp; Targets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27000">
                <a:srgbClr val="7095BC"/>
              </a:gs>
              <a:gs pos="72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417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0-d2nfaph8bjvh7rlj0ii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16202"/>
            <a:ext cx="12192000" cy="26255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5960" y="738505"/>
            <a:ext cx="9124950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Welcome to CRUD Day 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056440" y="983258"/>
            <a:ext cx="1106564" cy="0"/>
          </a:xfrm>
          <a:prstGeom prst="straightConnector1">
            <a:avLst/>
          </a:prstGeom>
          <a:noFill/>
          <a:ln w="15875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695960" y="1735455"/>
            <a:ext cx="563245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Session Overview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5960" y="2493010"/>
            <a:ext cx="5067935" cy="17532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Today, we will dive deep into CRUD operations—Create, Read, Update, and Delete. These operations are the backbone of any relational database, enabling you to manage data efficiently in MySQL.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56045" y="1749425"/>
            <a:ext cx="515239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Hands-On Learning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56045" y="2493010"/>
            <a:ext cx="5067935" cy="17532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This session is highly interactive. You will practice inserting, retrieving, updating, and deleting data in the employees table. By the end, you will have a solid grasp of these essential SQL commands.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3185" y="-99695"/>
            <a:ext cx="12440920" cy="7056755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-83185" y="-99695"/>
            <a:ext cx="12440920" cy="70567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135505" y="546100"/>
            <a:ext cx="3051810" cy="33667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135505" y="546100"/>
            <a:ext cx="3051810" cy="33667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0" descr="https://kimi-img.moonshot.cn/pub/slides/slides_tmpl/image/25-08-27-20:09:11-d2nfapp8bjvh7rlj0ij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65752" y="832007"/>
            <a:ext cx="2254593" cy="2706833"/>
          </a:xfrm>
          <a:prstGeom prst="rect">
            <a:avLst/>
          </a:prstGeom>
        </p:spPr>
      </p:pic>
      <p:pic>
        <p:nvPicPr>
          <p:cNvPr id="7" name="Image 1" descr="https://kimi-img.moonshot.cn/pub/slides/slides_tmpl/image/25-08-27-20:09:11-d2nfapp8bjvh7rlj0ij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30462" y="832007"/>
            <a:ext cx="2254593" cy="2706833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9:11-d2nfapp8bjvh7rlj0ikg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44745" y="832007"/>
            <a:ext cx="2254250" cy="2706834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8-27-20:09:11-d2nfapp8bjvh7rlj0il0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58685" y="832007"/>
            <a:ext cx="2254250" cy="2706833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2178798" y="819083"/>
            <a:ext cx="2961707" cy="2719757"/>
          </a:xfrm>
          <a:prstGeom prst="rect">
            <a:avLst/>
          </a:prstGeom>
          <a:solidFill>
            <a:srgbClr val="FFFFFF">
              <a:alpha val="90980"/>
            </a:srgbClr>
          </a:solidFill>
          <a:ln/>
        </p:spPr>
      </p:sp>
      <p:sp>
        <p:nvSpPr>
          <p:cNvPr id="11" name="Text 5"/>
          <p:cNvSpPr/>
          <p:nvPr/>
        </p:nvSpPr>
        <p:spPr>
          <a:xfrm>
            <a:off x="2178798" y="819083"/>
            <a:ext cx="2961707" cy="271975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592465" y="4391794"/>
            <a:ext cx="3896724" cy="1477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Today’s Learning Objectives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4439563" y="3320027"/>
            <a:ext cx="747408" cy="578224"/>
          </a:xfrm>
          <a:prstGeom prst="rect">
            <a:avLst/>
          </a:prstGeom>
          <a:solidFill>
            <a:srgbClr val="C2F5E1"/>
          </a:solidFill>
          <a:ln/>
        </p:spPr>
      </p:sp>
      <p:sp>
        <p:nvSpPr>
          <p:cNvPr id="14" name="Text 8"/>
          <p:cNvSpPr/>
          <p:nvPr/>
        </p:nvSpPr>
        <p:spPr>
          <a:xfrm>
            <a:off x="4439563" y="3320027"/>
            <a:ext cx="747408" cy="57822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4707858" y="3623227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16" name="Text 10"/>
          <p:cNvSpPr/>
          <p:nvPr/>
        </p:nvSpPr>
        <p:spPr>
          <a:xfrm>
            <a:off x="2237411" y="755209"/>
            <a:ext cx="2831340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Perform Insert Operations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2237105" y="1228090"/>
            <a:ext cx="2679065" cy="19411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Learn to add new records to your database using the INSERT INTO statement. Understand how to specify columns and values to ensure accurate data entry.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932963" y="3962809"/>
            <a:ext cx="6482734" cy="337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Retrieve and Filter Data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5069205" y="4277360"/>
            <a:ext cx="6346190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Master the SELECT statement to fetch data. Use the WHERE clause to filter results based on conditions, and combine it with AND/OR for more complex queries.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004214" y="5309475"/>
            <a:ext cx="6482735" cy="337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6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Update and Delete Data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5172075" y="5572760"/>
            <a:ext cx="6314440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Discover how to modify existing records with the UPDATE statement and safely remove data using DELETE. Emphasize the importance of using WHERE to target specific rows.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CRUD Foundations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rgbClr val="0D0D0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15680" y="1182980"/>
            <a:ext cx="1584176" cy="3060160"/>
          </a:xfrm>
          <a:custGeom>
            <a:avLst/>
            <a:gdLst/>
            <a:ahLst/>
            <a:cxnLst/>
            <a:rect l="l" t="t" r="r" b="b"/>
            <a:pathLst>
              <a:path w="1584176" h="3060160">
                <a:moveTo>
                  <a:pt x="0" y="0"/>
                </a:moveTo>
                <a:lnTo>
                  <a:pt x="1584176" y="0"/>
                </a:lnTo>
                <a:lnTo>
                  <a:pt x="1584176" y="115069"/>
                </a:lnTo>
                <a:lnTo>
                  <a:pt x="1584176" y="249136"/>
                </a:lnTo>
                <a:lnTo>
                  <a:pt x="1584176" y="3060160"/>
                </a:lnTo>
                <a:lnTo>
                  <a:pt x="1160548" y="3060160"/>
                </a:lnTo>
                <a:lnTo>
                  <a:pt x="1160548" y="249136"/>
                </a:lnTo>
                <a:lnTo>
                  <a:pt x="0" y="249136"/>
                </a:lnTo>
                <a:close/>
              </a:path>
            </a:pathLst>
          </a:custGeom>
          <a:gradFill flip="none" rotWithShape="1">
            <a:gsLst>
              <a:gs pos="0">
                <a:srgbClr val="3A4F72"/>
              </a:gs>
              <a:gs pos="67000">
                <a:srgbClr val="7EA2AA"/>
              </a:gs>
              <a:gs pos="100000">
                <a:srgbClr val="C2F5E1"/>
              </a:gs>
            </a:gsLst>
            <a:lin ang="5400000" scaled="1"/>
          </a:gradFill>
          <a:ln/>
        </p:spPr>
      </p:sp>
      <p:sp>
        <p:nvSpPr>
          <p:cNvPr id="5" name="Text 3"/>
          <p:cNvSpPr/>
          <p:nvPr/>
        </p:nvSpPr>
        <p:spPr>
          <a:xfrm>
            <a:off x="3215680" y="1182980"/>
            <a:ext cx="1584176" cy="3060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3392" y="4659597"/>
            <a:ext cx="4425189" cy="1477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What CRUD Means in MySQL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544272" y="843214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4272" y="843214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0" descr="https://kimi-img.moonshot.cn/pub/slides/slides_tmpl/image/25-08-27-20:09:12-d2nfaq18bjvh7rlj0ip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36" y="1429732"/>
            <a:ext cx="1812087" cy="1180827"/>
          </a:xfrm>
          <a:prstGeom prst="rect">
            <a:avLst/>
          </a:prstGeom>
        </p:spPr>
      </p:pic>
      <p:pic>
        <p:nvPicPr>
          <p:cNvPr id="10" name="Image 1" descr="https://kimi-img.moonshot.cn/pub/slides/slides_tmpl/image/25-08-27-20:09:12-d2nfaq18bjvh7rlj0ip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736" y="1418626"/>
            <a:ext cx="1812088" cy="1177204"/>
          </a:xfrm>
          <a:prstGeom prst="rect">
            <a:avLst/>
          </a:prstGeom>
        </p:spPr>
      </p:pic>
      <p:pic>
        <p:nvPicPr>
          <p:cNvPr id="11" name="Image 2" descr="https://kimi-img.moonshot.cn/pub/slides/slides_tmpl/image/25-08-27-20:09:12-d2nfaq18bjvh7rlj0iq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2895" y="2889263"/>
            <a:ext cx="3828929" cy="1353877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82895" y="3843470"/>
            <a:ext cx="423820" cy="399670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13" name="Text 8"/>
          <p:cNvSpPr/>
          <p:nvPr/>
        </p:nvSpPr>
        <p:spPr>
          <a:xfrm>
            <a:off x="682895" y="3843470"/>
            <a:ext cx="423820" cy="39967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8544272" y="3804009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544272" y="3804009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5268637" y="843214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5268637" y="843214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268637" y="3799372"/>
            <a:ext cx="252602" cy="252616"/>
          </a:xfrm>
          <a:prstGeom prst="ellipse">
            <a:avLst/>
          </a:prstGeom>
          <a:solidFill>
            <a:srgbClr val="000000">
              <a:alpha val="0"/>
            </a:srgbClr>
          </a:solidFill>
          <a:ln w="76200">
            <a:solidFill>
              <a:srgbClr val="B5C7E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268637" y="3799372"/>
            <a:ext cx="252602" cy="252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767408" y="4066765"/>
            <a:ext cx="288032" cy="0"/>
          </a:xfrm>
          <a:prstGeom prst="straightConnector1">
            <a:avLst/>
          </a:prstGeom>
          <a:noFill/>
          <a:ln w="1905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21" name="Text 16"/>
          <p:cNvSpPr/>
          <p:nvPr/>
        </p:nvSpPr>
        <p:spPr>
          <a:xfrm>
            <a:off x="5340644" y="901706"/>
            <a:ext cx="2983571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Create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5340350" y="1605280"/>
            <a:ext cx="3172460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Create refers to adding new data to the database using the INSERT INTO statement. This operation is crucial for populating tables with initial data.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616279" y="901706"/>
            <a:ext cx="2983571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Read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616315" y="1605280"/>
            <a:ext cx="3162300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Read involves retrieving data from the database using the SELECT statement. This operation allows you to fetch specific columns or entire rows based on your query.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5340644" y="3857864"/>
            <a:ext cx="2983571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Update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5340350" y="4561840"/>
            <a:ext cx="3204210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Update modifies existing data in the database using the UPDATE statement. It is essential for keeping your data current and accurate.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8616279" y="3862501"/>
            <a:ext cx="2983571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Delete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8616315" y="4566285"/>
            <a:ext cx="3131820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Delete removes data from the database using the DELETE statement. Use this operation with caution, as it permanently deletes records.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2455" y="1383665"/>
            <a:ext cx="7461250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Create Rows with INSERT INTO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08-27-20:09:06-d2nfaoh8bjvh7rlj0i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0222" y="1230728"/>
            <a:ext cx="3429629" cy="464231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5325" y="3455035"/>
            <a:ext cx="1270635" cy="2350135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5" name="Text 2"/>
          <p:cNvSpPr/>
          <p:nvPr/>
        </p:nvSpPr>
        <p:spPr>
          <a:xfrm>
            <a:off x="695325" y="3455035"/>
            <a:ext cx="1270635" cy="235013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135505" y="3455035"/>
            <a:ext cx="606996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INSERT INTO Syntax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135505" y="4076700"/>
            <a:ext cx="5220335" cy="1388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INSERT INTO statement adds new rows to a table. Specify the table name, column names, and values. For example, INSERT INTO employees (name, department, salary) VALUES ('John Doe', 'HR', 50000);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>
            <a:alpha val="4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09-d2nfap98bjvh7rlj0id0.png"/>
          <p:cNvPicPr>
            <a:picLocks noChangeAspect="1"/>
          </p:cNvPicPr>
          <p:nvPr/>
        </p:nvPicPr>
        <p:blipFill>
          <a:blip r:embed="rId3"/>
          <a:srcRect t="35461"/>
          <a:stretch/>
        </p:blipFill>
        <p:spPr>
          <a:xfrm>
            <a:off x="-957580" y="1616075"/>
            <a:ext cx="14110335" cy="52419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6435" y="620713"/>
            <a:ext cx="10944225" cy="645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Bulk Insert Multiple Rows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08-27-20:09:09-d2nfap98bjvh7rlj0idg.jp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61045" y="2195814"/>
            <a:ext cx="2989665" cy="1549147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28892" y="4079855"/>
            <a:ext cx="270304" cy="270319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28892" y="4079855"/>
            <a:ext cx="270304" cy="27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6474237" y="4079855"/>
            <a:ext cx="270304" cy="270319"/>
          </a:xfrm>
          <a:prstGeom prst="ellipse">
            <a:avLst/>
          </a:prstGeom>
          <a:solidFill>
            <a:srgbClr val="000000">
              <a:alpha val="0"/>
            </a:srgbClr>
          </a:solidFill>
          <a:ln w="92075">
            <a:solidFill>
              <a:srgbClr val="9DB4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74237" y="4079855"/>
            <a:ext cx="270304" cy="270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" name="Image 2" descr="https://kimi-img.moonshot.cn/pub/slides/slides_tmpl/image/25-08-27-20:09:09-d2nfap98bjvh7rlj0ie0.jp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86337" y="2188285"/>
            <a:ext cx="2613513" cy="1530702"/>
          </a:xfrm>
          <a:prstGeom prst="rect">
            <a:avLst/>
          </a:prstGeom>
        </p:spPr>
      </p:pic>
      <p:pic>
        <p:nvPicPr>
          <p:cNvPr id="10" name="Image 3" descr="https://kimi-img.moonshot.cn/pub/slides/slides_tmpl/image/25-08-27-20:09:09-d2nfap98bjvh7rlj0ifg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159291" y="2182214"/>
            <a:ext cx="2599731" cy="1522629"/>
          </a:xfrm>
          <a:prstGeom prst="rect">
            <a:avLst/>
          </a:prstGeom>
        </p:spPr>
      </p:pic>
      <p:pic>
        <p:nvPicPr>
          <p:cNvPr id="11" name="Image 4" descr="https://kimi-img.moonshot.cn/pub/slides/slides_tmpl/image/25-08-27-20:09:09-d2nfap98bjvh7rlj0if0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8102" y="2199944"/>
            <a:ext cx="2274362" cy="155615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-96688" y="4140646"/>
            <a:ext cx="64827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Bulk Insert Syntax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388566" y="4737408"/>
            <a:ext cx="5512227" cy="1476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To insert multiple rows at once, list multiple sets of values. For example: INSERT INTO employees (name, department, salary) VALUES ('Jane Smith', 'IT', 70000), ('Mark Johnson', 'Finance', 80000);</a:t>
            </a:r>
            <a:endParaRPr lang="en-US" sz="1600" dirty="0"/>
          </a:p>
        </p:txBody>
      </p:sp>
      <p:sp>
        <p:nvSpPr>
          <p:cNvPr id="14" name="Text 7"/>
          <p:cNvSpPr/>
          <p:nvPr/>
        </p:nvSpPr>
        <p:spPr>
          <a:xfrm>
            <a:off x="5640084" y="4140646"/>
            <a:ext cx="648273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Use Case</a:t>
            </a:r>
            <a:endParaRPr lang="en-US" sz="1600" dirty="0"/>
          </a:p>
        </p:txBody>
      </p:sp>
      <p:sp>
        <p:nvSpPr>
          <p:cNvPr id="15" name="Text 8"/>
          <p:cNvSpPr/>
          <p:nvPr/>
        </p:nvSpPr>
        <p:spPr>
          <a:xfrm>
            <a:off x="6125338" y="4737408"/>
            <a:ext cx="5512227" cy="1476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Bulk inserts are useful for adding large datasets quickly. They improve performance by reducing the number of database transactions required.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Read &amp; Filter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1-d2nfapp8bjvh7rlj0in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987" y="0"/>
            <a:ext cx="467201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519987" cy="6872844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4" name="Text 1"/>
          <p:cNvSpPr/>
          <p:nvPr/>
        </p:nvSpPr>
        <p:spPr>
          <a:xfrm>
            <a:off x="0" y="0"/>
            <a:ext cx="7519987" cy="68728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553773" y="691737"/>
            <a:ext cx="5870202" cy="54745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553773" y="691737"/>
            <a:ext cx="5870202" cy="547452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9768" y="1856646"/>
            <a:ext cx="4118258" cy="1477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Read Data Using SELECT</a:t>
            </a:r>
            <a:endParaRPr lang="en-US" sz="1600" dirty="0"/>
          </a:p>
        </p:txBody>
      </p:sp>
      <p:pic>
        <p:nvPicPr>
          <p:cNvPr id="8" name="Image 1" descr="https://kimi-img.moonshot.cn/pub/slides/slides_tmpl/image/25-08-27-20:09:10-d2nfaph8bjvh7rlj0ih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2257" y="1286340"/>
            <a:ext cx="635000" cy="368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3100" y="3244850"/>
            <a:ext cx="421259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Basic SELECT Syntax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72843" y="3592270"/>
            <a:ext cx="3613829" cy="1814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Use the SELECT statement to retrieve data from a table. Specify the columns you need or use * to select all columns. For example: SELECT * FROM employees;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09995" y="1484630"/>
            <a:ext cx="438467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Selective Columns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10009" y="1807120"/>
            <a:ext cx="4710824" cy="1568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For better performance and clarity, specify only the columns you need. For example: SELECT name, salary FROM employees;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309995" y="3911600"/>
            <a:ext cx="467804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310009" y="4233929"/>
            <a:ext cx="4710824" cy="1568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Selecting specific columns reduces the amount of data transferred, improving query performance and network efficiency.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2F5596"/>
              </a:gs>
              <a:gs pos="79000">
                <a:srgbClr val="7095BC"/>
              </a:gs>
              <a:gs pos="96000">
                <a:srgbClr val="B0D5E1"/>
              </a:gs>
              <a:gs pos="100000">
                <a:srgbClr val="C2F5E1"/>
              </a:gs>
            </a:gsLst>
            <a:lin ang="4800000" scaled="1"/>
          </a:gradFill>
          <a:ln w="12700">
            <a:solidFill>
              <a:srgbClr val="0911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2455" y="964565"/>
            <a:ext cx="8507730" cy="5835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Filter with WHERE Clause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13-d2nfaq98bjvh7rlj0it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920" y="2115819"/>
            <a:ext cx="6348430" cy="48148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63285" y="1749425"/>
            <a:ext cx="584390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WHERE Clause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79160" y="2202815"/>
            <a:ext cx="5843905" cy="1476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WHERE clause filters records based on a condition. For example: SELECT name, department FROM employees WHERE salary &gt; 60000;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63285" y="4090035"/>
            <a:ext cx="584390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Logical Operators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79160" y="4543425"/>
            <a:ext cx="5843905" cy="1476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Combine conditions using AND and OR. For example: SELECT * FROM employees WHERE department = 'IT' AND salary &gt; 70000;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3904" y="406688"/>
            <a:ext cx="5512096" cy="1477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Sort Results Using ORDER BY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757545" y="836930"/>
            <a:ext cx="5850890" cy="741045"/>
          </a:xfrm>
          <a:prstGeom prst="rect">
            <a:avLst/>
          </a:prstGeom>
          <a:solidFill>
            <a:srgbClr val="DAE3F3"/>
          </a:solidFill>
          <a:ln/>
        </p:spPr>
      </p:sp>
      <p:sp>
        <p:nvSpPr>
          <p:cNvPr id="4" name="Text 2"/>
          <p:cNvSpPr/>
          <p:nvPr/>
        </p:nvSpPr>
        <p:spPr>
          <a:xfrm>
            <a:off x="5757545" y="836930"/>
            <a:ext cx="5850890" cy="7410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0" descr="https://kimi-img.moonshot.cn/pub/slides/slides_tmpl/image/25-08-27-20:09:09-d2nfap98bjvh7rlj0icg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67408" y="3133931"/>
            <a:ext cx="10840688" cy="31539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35955" y="954405"/>
            <a:ext cx="5760720" cy="499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ORDER BY Syntax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35955" y="1628775"/>
            <a:ext cx="5897245" cy="1330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Use ORDER BY to sort results. Specify the column and direction (ASC or DESC). For example: SELECT name, salary FROM employees ORDER BY salary DESC;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0-d2nfaph8bjvh7rlj0igg.png"/>
          <p:cNvPicPr>
            <a:picLocks noChangeAspect="1"/>
          </p:cNvPicPr>
          <p:nvPr/>
        </p:nvPicPr>
        <p:blipFill>
          <a:blip r:embed="rId3"/>
          <a:srcRect r="51634"/>
          <a:stretch/>
        </p:blipFill>
        <p:spPr>
          <a:xfrm>
            <a:off x="637540" y="4911725"/>
            <a:ext cx="11061065" cy="21837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7685" y="617855"/>
            <a:ext cx="9599930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Limit Rows with LIMIT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629349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9349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6" name="Image 1" descr="https://kimi-img.moonshot.cn/pub/slides/slides_tmpl/image/25-08-27-20:09:10-d2nfaph8bjvh7rlj0ih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50" y="4361149"/>
            <a:ext cx="2157390" cy="195757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36780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367808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122968" y="1499631"/>
            <a:ext cx="359844" cy="359864"/>
          </a:xfrm>
          <a:prstGeom prst="ellipse">
            <a:avLst/>
          </a:prstGeom>
          <a:solidFill>
            <a:srgbClr val="000000">
              <a:alpha val="0"/>
            </a:srgbClr>
          </a:solidFill>
          <a:ln w="107950">
            <a:solidFill>
              <a:srgbClr val="9DB4E1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2968" y="1499631"/>
            <a:ext cx="359844" cy="359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23392" y="1609265"/>
            <a:ext cx="3542747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LIMIT Clause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37750" y="2405563"/>
            <a:ext cx="3384373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The LIMIT clause restricts the number of rows returned. For example: SELECT * FROM employees LIMIT 5;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411330" y="1609265"/>
            <a:ext cx="3542747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Pagination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425688" y="2405563"/>
            <a:ext cx="3384373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Use LIMIT for pagination in web applications. For example, to get the first 10 rows: SELECT * FROM employees LIMIT 10;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155340" y="1609265"/>
            <a:ext cx="3542747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169698" y="2405563"/>
            <a:ext cx="3384373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LIMIT improves performance by reducing the amount of data processed and transferred.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Update &amp; Delete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45608" y="0"/>
            <a:ext cx="2122800" cy="1916832"/>
          </a:xfrm>
          <a:prstGeom prst="rect">
            <a:avLst/>
          </a:prstGeom>
          <a:gradFill flip="none" rotWithShape="1">
            <a:gsLst>
              <a:gs pos="0">
                <a:srgbClr val="9DB4E1"/>
              </a:gs>
              <a:gs pos="100000">
                <a:srgbClr val="C2F5E1"/>
              </a:gs>
            </a:gsLst>
            <a:lin ang="4200000" scaled="1"/>
          </a:gradFill>
          <a:ln/>
        </p:spPr>
      </p:sp>
      <p:sp>
        <p:nvSpPr>
          <p:cNvPr id="3" name="Text 1"/>
          <p:cNvSpPr/>
          <p:nvPr/>
        </p:nvSpPr>
        <p:spPr>
          <a:xfrm>
            <a:off x="7645608" y="0"/>
            <a:ext cx="2122800" cy="191683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83905" y="1180673"/>
            <a:ext cx="3956100" cy="14773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Update Rows Securely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9-d2nfap98bjvh7rlj0ig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729" y="1081968"/>
            <a:ext cx="3501871" cy="52610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776520" y="4784347"/>
            <a:ext cx="723458" cy="1574168"/>
          </a:xfrm>
          <a:prstGeom prst="rect">
            <a:avLst/>
          </a:prstGeom>
          <a:gradFill flip="none" rotWithShape="1">
            <a:gsLst>
              <a:gs pos="0">
                <a:srgbClr val="C2F5E1"/>
              </a:gs>
              <a:gs pos="28000">
                <a:srgbClr val="C2F5E1"/>
              </a:gs>
              <a:gs pos="100000">
                <a:srgbClr val="9DB4E1"/>
              </a:gs>
            </a:gsLst>
            <a:lin ang="240000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10776520" y="4784347"/>
            <a:ext cx="723458" cy="157416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93385" y="2907605"/>
            <a:ext cx="6482735" cy="400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UPDATE Syntax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93385" y="3435091"/>
            <a:ext cx="3324607" cy="2584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Use the UPDATE statement to modify existing rows. Specify the table, columns, and new values. For example: UPDATE employees SET salary = 75000 WHERE department = 'IT';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21175" y="2902585"/>
            <a:ext cx="3612515" cy="4051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Safety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299411" y="3435091"/>
            <a:ext cx="3324607" cy="2584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Always use a WHERE clause to target specific rows. Omitting WHERE will update all rows, which can lead to unintended changes.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6-d2nfar18bjvh7rlj0iu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24680" y="-27384"/>
            <a:ext cx="12232332" cy="6959798"/>
          </a:xfrm>
          <a:prstGeom prst="rect">
            <a:avLst/>
          </a:prstGeom>
          <a:solidFill>
            <a:srgbClr val="333F4F">
              <a:alpha val="47843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-24680" y="-27384"/>
            <a:ext cx="12232332" cy="69597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8-27-20:09:12-d2nfaq18bjvh7rlj0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49080"/>
            <a:ext cx="12192000" cy="1561981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 rot="10800000">
            <a:off x="1948002" y="4932990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3"/>
          <p:cNvSpPr/>
          <p:nvPr/>
        </p:nvSpPr>
        <p:spPr>
          <a:xfrm rot="10800000">
            <a:off x="1948002" y="4932990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948003" y="4767462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9" name="Text 5"/>
          <p:cNvSpPr/>
          <p:nvPr/>
        </p:nvSpPr>
        <p:spPr>
          <a:xfrm>
            <a:off x="1948003" y="4767462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 rot="10800000">
            <a:off x="5928324" y="3759222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 rot="10800000">
            <a:off x="5928324" y="3759222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5928325" y="3593694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3" name="Text 9"/>
          <p:cNvSpPr/>
          <p:nvPr/>
        </p:nvSpPr>
        <p:spPr>
          <a:xfrm>
            <a:off x="5928325" y="3593694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 rot="10800000">
            <a:off x="9908654" y="4386616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5" name="Text 11"/>
          <p:cNvSpPr/>
          <p:nvPr/>
        </p:nvSpPr>
        <p:spPr>
          <a:xfrm rot="10800000">
            <a:off x="9908654" y="4386616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9908655" y="4221088"/>
            <a:ext cx="360039" cy="63731"/>
          </a:xfrm>
          <a:prstGeom prst="rect">
            <a:avLst/>
          </a:prstGeom>
          <a:solidFill>
            <a:srgbClr val="C2F5E0"/>
          </a:solidFill>
          <a:ln/>
        </p:spPr>
      </p:sp>
      <p:sp>
        <p:nvSpPr>
          <p:cNvPr id="17" name="Text 13"/>
          <p:cNvSpPr/>
          <p:nvPr/>
        </p:nvSpPr>
        <p:spPr>
          <a:xfrm>
            <a:off x="9908655" y="4221088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858496" y="5783053"/>
            <a:ext cx="8352928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Delete Rows Safely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079776" y="1107270"/>
            <a:ext cx="0" cy="2740316"/>
          </a:xfrm>
          <a:prstGeom prst="straightConnector1">
            <a:avLst/>
          </a:prstGeom>
          <a:noFill/>
          <a:ln w="31750">
            <a:solidFill>
              <a:srgbClr val="C2F5E1">
                <a:alpha val="38824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8060105" y="963760"/>
            <a:ext cx="0" cy="2740316"/>
          </a:xfrm>
          <a:prstGeom prst="straightConnector1">
            <a:avLst/>
          </a:prstGeom>
          <a:noFill/>
          <a:ln w="31750">
            <a:solidFill>
              <a:srgbClr val="C2F5E1">
                <a:alpha val="38824"/>
              </a:srgbClr>
            </a:solidFill>
            <a:prstDash val="solid"/>
            <a:headEnd type="none"/>
            <a:tailEnd type="triangle"/>
          </a:ln>
        </p:spPr>
      </p:sp>
      <p:pic>
        <p:nvPicPr>
          <p:cNvPr id="23" name="Image 2" descr="https://kimi-img.moonshot.cn/pub/slides/slides_tmpl/image/25-08-27-20:09:11-d2nfapp8bjvh7rlj0il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985" y="1536700"/>
            <a:ext cx="718185" cy="546100"/>
          </a:xfrm>
          <a:prstGeom prst="rect">
            <a:avLst/>
          </a:prstGeom>
        </p:spPr>
      </p:pic>
      <p:pic>
        <p:nvPicPr>
          <p:cNvPr id="24" name="Image 3" descr="https://kimi-img.moonshot.cn/pub/slides/slides_tmpl/image/25-08-27-20:09:11-d2nfapp8bjvh7rlj0im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6270" y="234950"/>
            <a:ext cx="764540" cy="581025"/>
          </a:xfrm>
          <a:prstGeom prst="rect">
            <a:avLst/>
          </a:prstGeom>
        </p:spPr>
      </p:pic>
      <p:pic>
        <p:nvPicPr>
          <p:cNvPr id="25" name="Image 4" descr="https://kimi-img.moonshot.cn/pub/slides/slides_tmpl/image/25-08-27-20:09:11-d2nfapp8bjvh7rlj0im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65335" y="982980"/>
            <a:ext cx="717550" cy="54546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54330" y="2011045"/>
            <a:ext cx="3538220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DELETE Syntax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77850" y="2434590"/>
            <a:ext cx="3090545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The DELETE statement removes rows from a table. For example: DELETE FROM employees WHERE name = 'Mark Johnson';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079875" y="765810"/>
            <a:ext cx="397954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Irreversibility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4468495" y="1188720"/>
            <a:ext cx="3231515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Deleted data cannot be recovered. Always ensure your WHERE clause is correct to avoid accidental data loss.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8275320" y="1451610"/>
            <a:ext cx="344868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C2F5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Backup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8431530" y="1874520"/>
            <a:ext cx="3185160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Consider backing up data before performing DELETE operations, especially in production environments.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Aggregation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7105" y="5422900"/>
            <a:ext cx="8810625" cy="10071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Count Sum Average Functions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11-d2nfapp8bjvh7rlj0il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" y="554355"/>
            <a:ext cx="1414780" cy="1075690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8-27-20:09:11-d2nfapp8bjvh7rlj0im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5615" y="554355"/>
            <a:ext cx="1414780" cy="107569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8-27-20:09:11-d2nfapp8bjvh7rlj0im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890" y="559435"/>
            <a:ext cx="1414780" cy="107569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39470" y="1245870"/>
            <a:ext cx="3388360" cy="6972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COUNT Function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839470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COUNT returns the number of rows in a result set. For example: SELECT COUNT(*) FROM employees;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534535" y="1245870"/>
            <a:ext cx="3388360" cy="6972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SUM Function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534535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SUM calculates the total sum of a numeric column. For example: SELECT SUM(salary) FROM employees;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161655" y="1245870"/>
            <a:ext cx="3477260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AVG Function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161655" y="2224405"/>
            <a:ext cx="323977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AVG computes the average of a numeric column. For example: SELECT AVG(salary) FROM employees;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7105" y="5513705"/>
            <a:ext cx="7889240" cy="11220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Group Data with GROUP BY</a:t>
            </a:r>
            <a:endParaRPr lang="en-US" sz="1600" dirty="0"/>
          </a:p>
        </p:txBody>
      </p:sp>
      <p:pic>
        <p:nvPicPr>
          <p:cNvPr id="5" name="Image 0" descr="https://kimi-img.moonshot.cn/pub/slides/slides_tmpl/image/25-08-27-20:09:08-d2nfap18bjvh7rlj0ic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913" y="1053031"/>
            <a:ext cx="3472004" cy="3151189"/>
          </a:xfrm>
          <a:prstGeom prst="rect">
            <a:avLst/>
          </a:prstGeom>
        </p:spPr>
      </p:pic>
      <p:pic>
        <p:nvPicPr>
          <p:cNvPr id="6" name="Image 1" descr="https://kimi-img.moonshot.cn/pub/slides/slides_tmpl/image/25-08-27-20:09:08-d2nfap18bjvh7rlj0i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300" y="529590"/>
            <a:ext cx="1064260" cy="941070"/>
          </a:xfrm>
          <a:prstGeom prst="rect">
            <a:avLst/>
          </a:prstGeom>
        </p:spPr>
      </p:pic>
      <p:pic>
        <p:nvPicPr>
          <p:cNvPr id="7" name="Image 2" descr="https://kimi-img.moonshot.cn/pub/slides/slides_tmpl/image/25-08-27-20:09:08-d2nfap18bjvh7rlj0ib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300" y="2661920"/>
            <a:ext cx="1064260" cy="94107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99856" y="1185108"/>
            <a:ext cx="648273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GROUP BY Clause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4799965" y="1590040"/>
            <a:ext cx="6997065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Use GROUP BY to group rows by a column. For example: SELECT department, COUNT(*) FROM employees GROUP BY department;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4799855" y="3292048"/>
            <a:ext cx="648273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Aggregate Functions with GROUP BY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4799965" y="3696970"/>
            <a:ext cx="6996430" cy="10763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Combine GROUP BY with aggregate functions to summarize data. For example: SELECT department, AVG(salary) FROM employees GROUP BY department;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1180" y="2952115"/>
            <a:ext cx="5887085" cy="9531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Practice &amp; Recap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11202" y="786574"/>
            <a:ext cx="343407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headEnd type="none"/>
            <a:tailEnd type="none"/>
          </a:ln>
        </p:spPr>
      </p:sp>
      <p:pic>
        <p:nvPicPr>
          <p:cNvPr id="4" name="Image 0" descr="https://kimi-img.moonshot.cn/pub/slides/slides_tmpl/image/25-08-27-20:09:03-d2nfanp8bjvh7rlj0i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1" y="1008555"/>
            <a:ext cx="3553129" cy="5196386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03-d2nfanp8bjvh7rlj0i3g.png"/>
          <p:cNvPicPr>
            <a:picLocks noChangeAspect="1"/>
          </p:cNvPicPr>
          <p:nvPr/>
        </p:nvPicPr>
        <p:blipFill>
          <a:blip r:embed="rId4"/>
          <a:srcRect r="60768" b="-4844"/>
          <a:stretch/>
        </p:blipFill>
        <p:spPr>
          <a:xfrm>
            <a:off x="551180" y="404495"/>
            <a:ext cx="4320336" cy="50398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9:16-d2nfar18bjvh7rlj0iu0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0332" y="-62186"/>
            <a:ext cx="12232332" cy="6959798"/>
          </a:xfrm>
          <a:prstGeom prst="rect">
            <a:avLst/>
          </a:prstGeom>
          <a:solidFill>
            <a:srgbClr val="333F4F">
              <a:alpha val="47843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-40332" y="-62186"/>
            <a:ext cx="12232332" cy="695979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5" name="Image 1" descr="https://kimi-img.moonshot.cn/pub/slides/slides_tmpl/image/25-08-27-20:09:12-d2nfaq18bjvh7rlj0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49080"/>
            <a:ext cx="12192000" cy="156198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58496" y="5711298"/>
            <a:ext cx="8352928" cy="7067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>
                <a:solidFill>
                  <a:srgbClr val="FFFFFF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Guided CRUD Lab Tasks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4"/>
          <p:cNvSpPr/>
          <p:nvPr/>
        </p:nvSpPr>
        <p:spPr>
          <a:xfrm>
            <a:off x="5699956" y="5462750"/>
            <a:ext cx="792088" cy="5353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 rot="10800000">
            <a:off x="1497429" y="4572950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6"/>
          <p:cNvSpPr/>
          <p:nvPr/>
        </p:nvSpPr>
        <p:spPr>
          <a:xfrm rot="10800000">
            <a:off x="1497429" y="4572950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1497430" y="4407422"/>
            <a:ext cx="360039" cy="63731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12" name="Text 8"/>
          <p:cNvSpPr/>
          <p:nvPr/>
        </p:nvSpPr>
        <p:spPr>
          <a:xfrm>
            <a:off x="1497430" y="4407422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 rot="10800000">
            <a:off x="4448201" y="3412513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4" name="Text 10"/>
          <p:cNvSpPr/>
          <p:nvPr/>
        </p:nvSpPr>
        <p:spPr>
          <a:xfrm rot="10800000">
            <a:off x="4448201" y="3412513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448202" y="3246985"/>
            <a:ext cx="360039" cy="63731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16" name="Text 12"/>
          <p:cNvSpPr/>
          <p:nvPr/>
        </p:nvSpPr>
        <p:spPr>
          <a:xfrm>
            <a:off x="4448202" y="3246985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 rot="10800000">
            <a:off x="7438780" y="3410477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 rot="10800000">
            <a:off x="7438780" y="3410477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438781" y="3244949"/>
            <a:ext cx="360039" cy="63731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20" name="Text 16"/>
          <p:cNvSpPr/>
          <p:nvPr/>
        </p:nvSpPr>
        <p:spPr>
          <a:xfrm>
            <a:off x="7438781" y="3244949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 rot="10800000">
            <a:off x="10375747" y="4276740"/>
            <a:ext cx="360039" cy="296210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 rot="10800000">
            <a:off x="10375747" y="4276740"/>
            <a:ext cx="360039" cy="29621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10375748" y="4111212"/>
            <a:ext cx="360039" cy="63731"/>
          </a:xfrm>
          <a:prstGeom prst="rect">
            <a:avLst/>
          </a:prstGeom>
          <a:solidFill>
            <a:srgbClr val="9DB4E1"/>
          </a:solidFill>
          <a:ln/>
        </p:spPr>
      </p:sp>
      <p:sp>
        <p:nvSpPr>
          <p:cNvPr id="24" name="Text 20"/>
          <p:cNvSpPr/>
          <p:nvPr/>
        </p:nvSpPr>
        <p:spPr>
          <a:xfrm>
            <a:off x="10375748" y="4111212"/>
            <a:ext cx="360039" cy="6373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1384887" y="1208615"/>
            <a:ext cx="58512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01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-312712" y="1515846"/>
            <a:ext cx="3980322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Task 1: Insert Data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309297" y="1957021"/>
            <a:ext cx="2736304" cy="23069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Insert new employee records into the employees table using the INSERT INTO statement.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4335659" y="119933"/>
            <a:ext cx="58512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02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2638060" y="427164"/>
            <a:ext cx="3980322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Task 2: Retrieve Data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3260069" y="796584"/>
            <a:ext cx="2736304" cy="23069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Retrieve employees with salaries greater than $50,000 using the SELECT statement and WHERE clause.</a:t>
            </a:r>
            <a:endParaRPr lang="en-US" sz="1600" dirty="0"/>
          </a:p>
        </p:txBody>
      </p:sp>
      <p:sp>
        <p:nvSpPr>
          <p:cNvPr id="31" name="Text 27"/>
          <p:cNvSpPr/>
          <p:nvPr/>
        </p:nvSpPr>
        <p:spPr>
          <a:xfrm>
            <a:off x="7326238" y="117897"/>
            <a:ext cx="58512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03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5628639" y="425128"/>
            <a:ext cx="3980322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Task 3: Update Data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250648" y="794548"/>
            <a:ext cx="2736304" cy="23069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Update salaries for employees in the IT department using the UPDATE statement.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10263205" y="912405"/>
            <a:ext cx="58512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9DB4E1"/>
                </a:solidFill>
                <a:latin typeface="Source Han Sans SC Medium" pitchFamily="34" charset="0"/>
                <a:ea typeface="Source Han Sans SC Medium" pitchFamily="34" charset="-122"/>
                <a:cs typeface="Source Han Sans SC Medium" pitchFamily="34" charset="-120"/>
              </a:rPr>
              <a:t>04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8565606" y="1219636"/>
            <a:ext cx="3980322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9DB4E1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Task 4: Delete Data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9187615" y="1660811"/>
            <a:ext cx="2736304" cy="23069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Delete an employee based on a specific condition using the DELETE statement.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5035148" cy="6858001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-1"/>
            <a:ext cx="5035148" cy="685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06-d2nfaoh8bjvh7rlj0i6g.jpe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35148" y="-1"/>
            <a:ext cx="7178987" cy="685800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5548" y="-2259"/>
            <a:ext cx="7215145" cy="6858000"/>
          </a:xfrm>
          <a:prstGeom prst="rect">
            <a:avLst/>
          </a:prstGeom>
          <a:solidFill>
            <a:srgbClr val="404040">
              <a:alpha val="67843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5025548" y="-2259"/>
            <a:ext cx="7215145" cy="68580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" name="Image 1" descr="https://kimi-img.moonshot.cn/pub/slides/slides_tmpl/image/25-08-27-20:09:05-d2nfao98bjvh7rlj0i5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973" y="851740"/>
            <a:ext cx="3767263" cy="2511509"/>
          </a:xfrm>
          <a:prstGeom prst="rect">
            <a:avLst/>
          </a:prstGeom>
        </p:spPr>
      </p:pic>
      <p:pic>
        <p:nvPicPr>
          <p:cNvPr id="8" name="Image 2" descr="https://kimi-img.moonshot.cn/pub/slides/slides_tmpl/image/25-08-27-20:09:06-d2nfaoh8bjvh7rlj0i5g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3973" y="3426741"/>
            <a:ext cx="3767263" cy="2496100"/>
          </a:xfrm>
          <a:prstGeom prst="rect">
            <a:avLst/>
          </a:prstGeom>
        </p:spPr>
      </p:pic>
      <p:pic>
        <p:nvPicPr>
          <p:cNvPr id="9" name="Image 3" descr="https://kimi-img.moonshot.cn/pub/slides/slides_tmpl/image/25-08-27-20:09:06-d2nfaoh8bjvh7rlj0i60.jp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962895" y="863300"/>
            <a:ext cx="1788699" cy="1370065"/>
          </a:xfrm>
          <a:prstGeom prst="rect">
            <a:avLst/>
          </a:prstGeom>
        </p:spPr>
      </p:pic>
      <p:pic>
        <p:nvPicPr>
          <p:cNvPr id="10" name="Image 4" descr="https://kimi-img.moonshot.cn/pub/slides/slides_tmpl/image/25-08-27-20:09:06-d2nfaoh8bjvh7rlj0i7g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72163" y="2302450"/>
            <a:ext cx="1779431" cy="2387497"/>
          </a:xfrm>
          <a:prstGeom prst="rect">
            <a:avLst/>
          </a:prstGeom>
        </p:spPr>
      </p:pic>
      <p:pic>
        <p:nvPicPr>
          <p:cNvPr id="11" name="Image 5" descr="https://kimi-img.moonshot.cn/pub/slides/slides_tmpl/image/25-08-27-20:09:06-d2nfaoh8bjvh7rlj0i80.jp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5972163" y="4759032"/>
            <a:ext cx="1779431" cy="1163809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364490" y="1007110"/>
            <a:ext cx="3987800" cy="1476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Common CRUD Mistakes List</a:t>
            </a:r>
            <a:endParaRPr lang="en-US" sz="1600" dirty="0"/>
          </a:p>
        </p:txBody>
      </p:sp>
      <p:sp>
        <p:nvSpPr>
          <p:cNvPr id="13" name="Text 5"/>
          <p:cNvSpPr/>
          <p:nvPr/>
        </p:nvSpPr>
        <p:spPr>
          <a:xfrm>
            <a:off x="364490" y="3611880"/>
            <a:ext cx="4427220" cy="499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9DB4E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Common Mistakes</a:t>
            </a:r>
            <a:endParaRPr lang="en-US" sz="1600" dirty="0"/>
          </a:p>
        </p:txBody>
      </p:sp>
      <p:sp>
        <p:nvSpPr>
          <p:cNvPr id="14" name="Text 6"/>
          <p:cNvSpPr/>
          <p:nvPr/>
        </p:nvSpPr>
        <p:spPr>
          <a:xfrm>
            <a:off x="364490" y="4256405"/>
            <a:ext cx="4383405" cy="2402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Source Han Sans SC Light" pitchFamily="34" charset="0"/>
                <a:ea typeface="Source Han Sans SC Light" pitchFamily="34" charset="-122"/>
                <a:cs typeface="Source Han Sans SC Light" pitchFamily="34" charset="-120"/>
              </a:rPr>
              <a:t>Avoid common CRUD mistakes: forgetting WHERE in UPDATE or DELETE, using SELECT * unnecessarily, omitting ORDER BY for sorting, and not using LIMIT for pagination.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12976"/>
            <a:ext cx="12192000" cy="3645024"/>
          </a:xfrm>
          <a:prstGeom prst="rect">
            <a:avLst/>
          </a:prstGeom>
          <a:solidFill>
            <a:srgbClr val="F2F3F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3212976"/>
            <a:ext cx="12192000" cy="364502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0" y="4231221"/>
            <a:ext cx="911424" cy="637939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4231221"/>
            <a:ext cx="911424" cy="63793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08342" y="5594566"/>
            <a:ext cx="802312" cy="475550"/>
          </a:xfrm>
          <a:prstGeom prst="rect">
            <a:avLst/>
          </a:prstGeom>
          <a:solidFill>
            <a:srgbClr val="9DB4E0"/>
          </a:solidFill>
          <a:ln/>
        </p:spPr>
      </p:sp>
      <p:sp>
        <p:nvSpPr>
          <p:cNvPr id="7" name="Text 5"/>
          <p:cNvSpPr/>
          <p:nvPr/>
        </p:nvSpPr>
        <p:spPr>
          <a:xfrm>
            <a:off x="10908342" y="5594566"/>
            <a:ext cx="802312" cy="47555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5460" y="713740"/>
            <a:ext cx="6583045" cy="9220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Summary and Next Day Preview</a:t>
            </a:r>
            <a:endParaRPr lang="en-US" sz="1600" dirty="0"/>
          </a:p>
        </p:txBody>
      </p:sp>
      <p:pic>
        <p:nvPicPr>
          <p:cNvPr id="9" name="Image 0" descr="https://kimi-img.moonshot.cn/pub/slides/slides_tmpl/image/25-08-27-20:09:10-d2nfaph8bjvh7rlj0iig.png"/>
          <p:cNvPicPr>
            <a:picLocks noChangeAspect="1"/>
          </p:cNvPicPr>
          <p:nvPr/>
        </p:nvPicPr>
        <p:blipFill>
          <a:blip r:embed="rId3"/>
          <a:srcRect l="127" r="127"/>
          <a:stretch/>
        </p:blipFill>
        <p:spPr>
          <a:xfrm>
            <a:off x="4254348" y="1660800"/>
            <a:ext cx="3802640" cy="484165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91160" y="3639971"/>
            <a:ext cx="3904615" cy="5645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91160" y="4231221"/>
            <a:ext cx="3627120" cy="1814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CRUD operations are fundamental for managing data in MySQL. Use SELECT to read, INSERT to create, UPDATE to modify, and DELETE to remove data.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000240" y="1004570"/>
            <a:ext cx="4710430" cy="4756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 algn="r"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Enhancing Queries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066844" y="1475294"/>
            <a:ext cx="3643810" cy="18148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Enhance your queries with WHERE for filtering, ORDER BY for sorting, LIMIT for pagination, and aggregate functions for summarizing data.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26120" y="3621556"/>
            <a:ext cx="3522980" cy="5111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b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00000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Next Day Preview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86047" y="4231221"/>
            <a:ext cx="3324607" cy="20612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000000"/>
                </a:solidFill>
                <a:latin typeface="Source Han Sans SC Normal" pitchFamily="34" charset="0"/>
                <a:ea typeface="Source Han Sans SC Normal" pitchFamily="34" charset="-122"/>
                <a:cs typeface="Source Han Sans SC Normal" pitchFamily="34" charset="-120"/>
              </a:rPr>
              <a:t>Tomorrow, we will explore JOINs to combine data from multiple tables. This will enable you to retrieve complex data relationships efficiently.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solidFill>
            <a:srgbClr val="16161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12192000" cy="694112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4" name="Image 0" descr="https://kimi-img.moonshot.cn/pub/slides/slides_tmpl/image/25-08-27-20:09:12-d2nfaq18bjvh7rlj0is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617" y="1561401"/>
            <a:ext cx="4553512" cy="3552547"/>
          </a:xfrm>
          <a:prstGeom prst="rect">
            <a:avLst/>
          </a:prstGeom>
        </p:spPr>
      </p:pic>
      <p:pic>
        <p:nvPicPr>
          <p:cNvPr id="5" name="Image 1" descr="https://kimi-img.moonshot.cn/pub/slides/slides_tmpl/image/25-08-27-20:09:12-d2nfaq18bjvh7rlj0isg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103121" y="1561401"/>
            <a:ext cx="2434092" cy="240862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84213" y="3119957"/>
            <a:ext cx="363255" cy="363255"/>
          </a:xfrm>
          <a:prstGeom prst="ellipse">
            <a:avLst/>
          </a:prstGeom>
          <a:solidFill>
            <a:srgbClr val="000000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1884213" y="3119957"/>
            <a:ext cx="363255" cy="36325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2147610" y="3138745"/>
            <a:ext cx="325677" cy="325677"/>
          </a:xfrm>
          <a:prstGeom prst="ellipse">
            <a:avLst/>
          </a:prstGeom>
          <a:solidFill>
            <a:srgbClr val="C2F4E0"/>
          </a:solidFill>
          <a:ln/>
        </p:spPr>
      </p:sp>
      <p:sp>
        <p:nvSpPr>
          <p:cNvPr id="9" name="Text 5"/>
          <p:cNvSpPr/>
          <p:nvPr/>
        </p:nvSpPr>
        <p:spPr>
          <a:xfrm>
            <a:off x="2147610" y="3138745"/>
            <a:ext cx="325677" cy="325677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2209989" y="3287890"/>
            <a:ext cx="225819" cy="1819"/>
          </a:xfrm>
          <a:prstGeom prst="straightConnector1">
            <a:avLst/>
          </a:prstGeom>
          <a:noFill/>
          <a:ln w="12700">
            <a:solidFill>
              <a:srgbClr val="262626"/>
            </a:solidFill>
            <a:prstDash val="solid"/>
            <a:headEnd type="none"/>
            <a:tailEnd type="triangle"/>
          </a:ln>
        </p:spPr>
      </p:sp>
      <p:pic>
        <p:nvPicPr>
          <p:cNvPr id="11" name="Image 2" descr="https://kimi-img.moonshot.cn/pub/slides/slides_tmpl/image/25-08-27-20:09:13-d2nfaq98bjvh7rlj0it0.png"/>
          <p:cNvPicPr>
            <a:picLocks noChangeAspect="1"/>
          </p:cNvPicPr>
          <p:nvPr/>
        </p:nvPicPr>
        <p:blipFill>
          <a:blip r:embed="rId5"/>
          <a:srcRect r="29701" b="29746"/>
          <a:stretch/>
        </p:blipFill>
        <p:spPr>
          <a:xfrm>
            <a:off x="654685" y="1670685"/>
            <a:ext cx="8178063" cy="370274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4237" y="5373975"/>
            <a:ext cx="2254685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548274" y="5750335"/>
            <a:ext cx="4323764" cy="3987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Source Han Sans SC" pitchFamily="34" charset="0"/>
                <a:ea typeface="Source Han Sans SC" pitchFamily="34" charset="-122"/>
                <a:cs typeface="Source Han Sans SC" pitchFamily="34" charset="-120"/>
              </a:rPr>
              <a:t>2025/08/04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1197</Words>
  <Application>Microsoft Office PowerPoint</Application>
  <PresentationFormat>Widescreen</PresentationFormat>
  <Paragraphs>141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Source Han Sans SC</vt:lpstr>
      <vt:lpstr>Source Han Sans SC Light</vt:lpstr>
      <vt:lpstr>Source Han Sans SC Medium</vt:lpstr>
      <vt:lpstr>Source Han Sans SC Normal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MySQL CRUD Operations Day 3</dc:title>
  <dc:subject>MySQL CRUD Operations Day 3</dc:subject>
  <dc:creator>Kimi</dc:creator>
  <cp:lastModifiedBy>Sean</cp:lastModifiedBy>
  <cp:revision>2</cp:revision>
  <dcterms:created xsi:type="dcterms:W3CDTF">2025-12-05T05:16:05Z</dcterms:created>
  <dcterms:modified xsi:type="dcterms:W3CDTF">2025-12-05T05:25:40Z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{"Label":"MySQL CRUD Operations Day 3","ContentProducer":"001191110108MACG2KBH8F10000","ProduceID":"d4p6jid3v89vc8k11qug","ReservedCode1":"","ContentPropagator":"001191110108MACG2KBH8F20000","PropagateID":"d4p6jid3v89vc8k11qug","ReservedCode2":""}</vt:lpwstr>
  </property>
</Properties>
</file>