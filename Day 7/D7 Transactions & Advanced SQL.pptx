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45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e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3017799" y="-3017800"/>
            <a:ext cx="6156401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solidFill>
            <a:srgbClr val="161616"/>
          </a:solidFill>
          <a:ln w="12700">
            <a:solidFill>
              <a:srgbClr val="09111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30466" y="5184885"/>
            <a:ext cx="6077403" cy="13234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Day 7 Transactions &amp; Advanced SQL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9231" y="5662019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83268" y="6038379"/>
            <a:ext cx="4208732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02-d2nfanh8bjvh7rlj0h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741" y="5110209"/>
            <a:ext cx="1323439" cy="1323439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20:09:02-d2nfanh8bjvh7rlj0hu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87" y="5136798"/>
            <a:ext cx="463139" cy="463139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2-d2nfanh8bjvh7rlj0h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0" y="3069032"/>
            <a:ext cx="2420888" cy="2420888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2-d2nfanh8bjvh7rlj0h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216" y="5231637"/>
            <a:ext cx="635000" cy="368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1764" y="0"/>
            <a:ext cx="2916401" cy="6858000"/>
          </a:xfrm>
          <a:custGeom>
            <a:avLst/>
            <a:gdLst/>
            <a:ahLst/>
            <a:cxnLst/>
            <a:rect l="l" t="t" r="r" b="b"/>
            <a:pathLst>
              <a:path w="2916401" h="6858000">
                <a:moveTo>
                  <a:pt x="0" y="0"/>
                </a:moveTo>
                <a:lnTo>
                  <a:pt x="1310838" y="0"/>
                </a:lnTo>
                <a:lnTo>
                  <a:pt x="1453357" y="123454"/>
                </a:lnTo>
                <a:cubicBezTo>
                  <a:pt x="2352136" y="940343"/>
                  <a:pt x="2916401" y="2118776"/>
                  <a:pt x="2916401" y="3429000"/>
                </a:cubicBezTo>
                <a:cubicBezTo>
                  <a:pt x="2916401" y="4739224"/>
                  <a:pt x="2352136" y="5917657"/>
                  <a:pt x="1453357" y="6734546"/>
                </a:cubicBezTo>
                <a:lnTo>
                  <a:pt x="1310838" y="6858000"/>
                </a:lnTo>
                <a:lnTo>
                  <a:pt x="220806" y="6858000"/>
                </a:lnTo>
                <a:lnTo>
                  <a:pt x="224168" y="6856279"/>
                </a:lnTo>
                <a:cubicBezTo>
                  <a:pt x="1419763" y="6206792"/>
                  <a:pt x="2231395" y="4940069"/>
                  <a:pt x="2231395" y="3483779"/>
                </a:cubicBezTo>
                <a:cubicBezTo>
                  <a:pt x="2231395" y="1961294"/>
                  <a:pt x="1344301" y="646001"/>
                  <a:pt x="58792" y="26579"/>
                </a:cubicBezTo>
                <a:close/>
              </a:path>
            </a:pathLst>
          </a:custGeom>
          <a:solidFill>
            <a:srgbClr val="F3F3F7"/>
          </a:solidFill>
          <a:ln/>
        </p:spPr>
      </p:sp>
      <p:sp>
        <p:nvSpPr>
          <p:cNvPr id="3" name="Text 1"/>
          <p:cNvSpPr/>
          <p:nvPr/>
        </p:nvSpPr>
        <p:spPr>
          <a:xfrm>
            <a:off x="2101764" y="0"/>
            <a:ext cx="2916401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solidFill>
            <a:srgbClr val="D2F9E9"/>
          </a:solidFill>
          <a:ln/>
        </p:spPr>
      </p:sp>
      <p:sp>
        <p:nvSpPr>
          <p:cNvPr id="5" name="Text 3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solidFill>
            <a:srgbClr val="8FABDB"/>
          </a:solidFill>
          <a:ln/>
        </p:spPr>
      </p:sp>
      <p:sp>
        <p:nvSpPr>
          <p:cNvPr id="7" name="Text 5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solidFill>
            <a:srgbClr val="B3C5E6"/>
          </a:solidFill>
          <a:ln/>
        </p:spPr>
      </p:sp>
      <p:sp>
        <p:nvSpPr>
          <p:cNvPr id="9" name="Text 7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solidFill>
            <a:srgbClr val="B2D0E3"/>
          </a:solidFill>
          <a:ln/>
        </p:spPr>
      </p:sp>
      <p:sp>
        <p:nvSpPr>
          <p:cNvPr id="11" name="Text 9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solidFill>
            <a:srgbClr val="B7DBE3"/>
          </a:solidFill>
          <a:ln/>
        </p:spPr>
      </p:sp>
      <p:sp>
        <p:nvSpPr>
          <p:cNvPr id="13" name="Text 11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solidFill>
            <a:srgbClr val="BAE3E1"/>
          </a:solidFill>
          <a:ln/>
        </p:spPr>
      </p:sp>
      <p:sp>
        <p:nvSpPr>
          <p:cNvPr id="15" name="Text 13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solidFill>
            <a:srgbClr val="BEEDE1"/>
          </a:solidFill>
          <a:ln/>
        </p:spPr>
      </p:sp>
      <p:sp>
        <p:nvSpPr>
          <p:cNvPr id="17" name="Text 15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solidFill>
            <a:srgbClr val="C9F7E4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solidFill>
            <a:srgbClr val="DEFAEF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solidFill>
            <a:srgbClr val="E2FAF1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solidFill>
            <a:srgbClr val="EB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solidFill>
            <a:srgbClr val="F1FEF8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solidFill>
            <a:srgbClr val="F7FFFB"/>
          </a:solidFill>
          <a:ln/>
        </p:spPr>
      </p:sp>
      <p:sp>
        <p:nvSpPr>
          <p:cNvPr id="29" name="Text 27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31" name="Text 29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2" name="Image 0" descr="https://kimi-img.moonshot.cn/pub/slides/slides_tmpl/image/25-08-27-20:09:03-d2nfanp8bjvh7rlj0i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547" y="904096"/>
            <a:ext cx="6311900" cy="5511800"/>
          </a:xfrm>
          <a:prstGeom prst="rect">
            <a:avLst/>
          </a:prstGeom>
        </p:spPr>
      </p:pic>
      <p:pic>
        <p:nvPicPr>
          <p:cNvPr id="33" name="Image 1" descr="https://kimi-img.moonshot.cn/pub/slides/slides_tmpl/image/25-08-27-20:09:03-d2nfanp8bjvh7rlj0i00.png"/>
          <p:cNvPicPr>
            <a:picLocks noChangeAspect="1"/>
          </p:cNvPicPr>
          <p:nvPr/>
        </p:nvPicPr>
        <p:blipFill>
          <a:blip r:embed="rId4"/>
          <a:srcRect b="95767"/>
          <a:stretch/>
        </p:blipFill>
        <p:spPr>
          <a:xfrm>
            <a:off x="263525" y="741045"/>
            <a:ext cx="3962400" cy="956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055370" y="1233805"/>
            <a:ext cx="4064000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5693789" y="2809287"/>
            <a:ext cx="2910694" cy="6155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Transaction Essentials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9017954" y="2809287"/>
            <a:ext cx="2910694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Isolation &amp; Locking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5693789" y="5752134"/>
            <a:ext cx="2910694" cy="6155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Advanced SQL Objects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9008488" y="5752134"/>
            <a:ext cx="2910694" cy="6155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 &amp; Recap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Transaction Essentials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513705"/>
            <a:ext cx="7889240" cy="1122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What Is a Database Transaction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8-d2nfap18bjvh7rlj0ic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913" y="1053031"/>
            <a:ext cx="3472004" cy="3151189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08-d2nfap18bjvh7rlj0i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529590"/>
            <a:ext cx="1064260" cy="94107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08-d2nfap18bjvh7rlj0i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661920"/>
            <a:ext cx="1064260" cy="941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99856" y="1185108"/>
            <a:ext cx="648273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Transaction Definition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799965" y="1590040"/>
            <a:ext cx="6997065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 database transaction is a sequence of one or more SQL operations executed as a single unit. It ensures that either all changes are committed or none are, maintaining data integrity.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99855" y="3292048"/>
            <a:ext cx="648273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Real-life Analogy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799965" y="3696970"/>
            <a:ext cx="699643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Think of a bank transaction where you transfer money from one account to another. If any step fails, the entire transaction is rolled back to maintain accurate account balances.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56000">
                <a:srgbClr val="7095BC"/>
              </a:gs>
              <a:gs pos="91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qg.png"/>
          <p:cNvPicPr>
            <a:picLocks noChangeAspect="1"/>
          </p:cNvPicPr>
          <p:nvPr/>
        </p:nvPicPr>
        <p:blipFill>
          <a:blip r:embed="rId3">
            <a:alphaModFix amt="76000"/>
          </a:blip>
          <a:srcRect/>
          <a:stretch/>
        </p:blipFill>
        <p:spPr>
          <a:xfrm>
            <a:off x="3454805" y="1700726"/>
            <a:ext cx="5953563" cy="51572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2149" y="749211"/>
            <a:ext cx="6208735" cy="80021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ACID Properties Explained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8-27-20:09:12-d2nfaq18bjvh7rlj0i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19" y="1413090"/>
            <a:ext cx="6731000" cy="2819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07968" y="3573775"/>
            <a:ext cx="504056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8" name="Text 4"/>
          <p:cNvSpPr/>
          <p:nvPr/>
        </p:nvSpPr>
        <p:spPr>
          <a:xfrm>
            <a:off x="617425" y="2116403"/>
            <a:ext cx="478377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Atomicity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0249" y="2454957"/>
            <a:ext cx="5177719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Atomicity ensures that transactions are all or nothing. If one operation fails, the entire transaction is rolled back, preventing partial updates.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17425" y="4288103"/>
            <a:ext cx="478377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0249" y="4626657"/>
            <a:ext cx="5177719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Consistency guarantees that a transaction takes the database from one valid state to another, ensuring data integrity and correctness.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22925" y="1900503"/>
            <a:ext cx="478377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5749" y="2239057"/>
            <a:ext cx="5177719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Isolation ensures that transactions are executed independently of each other, preventing interference and ensuring data accuracy even with concurrent operations.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61025" y="4288103"/>
            <a:ext cx="478377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Durability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73849" y="4626657"/>
            <a:ext cx="5177719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Durability ensures that once a transaction is committed, its changes are permanent, even in the event of a system crash or failure.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422900"/>
            <a:ext cx="8810625" cy="1007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MySQL Transaction Commands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1-d2nfapp8bjvh7rlj0i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554355"/>
            <a:ext cx="1414780" cy="1075690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11-d2nfapp8bjvh7rlj0i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615" y="554355"/>
            <a:ext cx="1414780" cy="107569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11-d2nfapp8bjvh7rlj0i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890" y="559435"/>
            <a:ext cx="1414780" cy="10756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9470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START TRANSACTION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39470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START TRANSACTION command begins a new transaction, allowing you to group multiple SQL operations together.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534535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COMMIT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53453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COMMIT command saves all changes made during the transaction, making them permanent in the database.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161655" y="1245870"/>
            <a:ext cx="3477260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ROLLBACK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16165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ROLLBACK command reverts all changes made during the transaction, ensuring data consistency if an error occurs.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56000">
                <a:srgbClr val="7095BC"/>
              </a:gs>
              <a:gs pos="91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6-d2nfaoh8bjvh7rlj0i8g.png"/>
          <p:cNvPicPr>
            <a:picLocks noChangeAspect="1"/>
          </p:cNvPicPr>
          <p:nvPr/>
        </p:nvPicPr>
        <p:blipFill>
          <a:blip r:embed="rId3">
            <a:alphaModFix amt="72000"/>
          </a:blip>
          <a:srcRect/>
          <a:stretch/>
        </p:blipFill>
        <p:spPr>
          <a:xfrm>
            <a:off x="10395" y="2348881"/>
            <a:ext cx="12181605" cy="450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11693" y="1330960"/>
            <a:ext cx="7524115" cy="2110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Code Walkthrough Transaction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4774248" y="2984252"/>
            <a:ext cx="2199005" cy="127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2975610" y="2204720"/>
            <a:ext cx="5796280" cy="9747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Transaction Example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75460" y="3354705"/>
            <a:ext cx="8196580" cy="20358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Example: Adding an employee and recording their salary payment within a transaction. If both operations succeed, the changes are committed. If any fail, the transaction is rolled back.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Isolation &amp; Locking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0-d2nfaph8bjvh7rlj0igg.png"/>
          <p:cNvPicPr>
            <a:picLocks noChangeAspect="1"/>
          </p:cNvPicPr>
          <p:nvPr/>
        </p:nvPicPr>
        <p:blipFill>
          <a:blip r:embed="rId3"/>
          <a:srcRect r="51634"/>
          <a:stretch/>
        </p:blipFill>
        <p:spPr>
          <a:xfrm>
            <a:off x="637540" y="4911725"/>
            <a:ext cx="11061065" cy="2183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685" y="617855"/>
            <a:ext cx="9599930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Isolation Levels Compared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9349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9349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1" descr="https://kimi-img.moonshot.cn/pub/slides/slides_tmpl/image/25-08-27-20:09:10-d2nfaph8bjvh7rlj0ih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50" y="4361149"/>
            <a:ext cx="2157390" cy="19575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6780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6780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2296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296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3392" y="1609265"/>
            <a:ext cx="3542747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READ UNCOMMITTED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7750" y="2405563"/>
            <a:ext cx="3384373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Allows dirty reads, where transactions can see uncommitted changes from other transactions. This level offers the least isolation.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11330" y="1609265"/>
            <a:ext cx="3542747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READ COMMITTED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25688" y="2405563"/>
            <a:ext cx="3384373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Prevents dirty reads but allows non-repeatable reads. This level ensures that only committed changes are visible.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55340" y="1609265"/>
            <a:ext cx="3542747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REPEATABLE READ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169698" y="2405563"/>
            <a:ext cx="3384373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Ensures that the data read during the transaction will not change, providing a consistent view of the data.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27000">
                <a:srgbClr val="7095BC"/>
              </a:gs>
              <a:gs pos="72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0-d2nfaph8bjvh7rlj0i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6202"/>
            <a:ext cx="12192000" cy="26255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5960" y="738505"/>
            <a:ext cx="912495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Lock Types and Deadlocks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056440" y="983258"/>
            <a:ext cx="1106564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695960" y="1735455"/>
            <a:ext cx="563245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Shared Locks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5960" y="2493010"/>
            <a:ext cx="5067935" cy="17532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Shared locks allow multiple transactions to read the same data but prevent any transaction from modifying it until the lock is released.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56045" y="1749425"/>
            <a:ext cx="515239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Exclusive Locks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56045" y="2493010"/>
            <a:ext cx="5067935" cy="17532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Exclusive locks allow only one transaction to modify the data, blocking all other transactions from accessing it until the lock is released.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Advanced SQL Objects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7-d2nfar98bjvh7rlj0iug.jpg"/>
          <p:cNvPicPr>
            <a:picLocks noChangeAspect="1"/>
          </p:cNvPicPr>
          <p:nvPr/>
        </p:nvPicPr>
        <p:blipFill>
          <a:blip r:embed="rId3">
            <a:alphaModFix amt="52000"/>
          </a:blip>
          <a:srcRect/>
          <a:stretch/>
        </p:blipFill>
        <p:spPr>
          <a:xfrm flipH="1">
            <a:off x="0" y="0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4680" y="3733171"/>
            <a:ext cx="12232332" cy="2837808"/>
          </a:xfrm>
          <a:prstGeom prst="rect">
            <a:avLst/>
          </a:prstGeom>
          <a:solidFill>
            <a:srgbClr val="40404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24680" y="3733171"/>
            <a:ext cx="12232332" cy="2837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75293" y="1486555"/>
            <a:ext cx="236131" cy="236144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5293" y="1486555"/>
            <a:ext cx="236131" cy="236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305" y="485140"/>
            <a:ext cx="10487025" cy="885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Stored Procedures Benefits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1270532"/>
            <a:ext cx="12232331" cy="2247372"/>
          </a:xfrm>
          <a:prstGeom prst="rect">
            <a:avLst/>
          </a:prstGeom>
          <a:solidFill>
            <a:srgbClr val="FFFFFF">
              <a:alpha val="47843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0" y="1270532"/>
            <a:ext cx="12232331" cy="224737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51957" y="1486555"/>
            <a:ext cx="236131" cy="236144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51957" y="1486555"/>
            <a:ext cx="236131" cy="236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2" name="Image 1" descr="https://kimi-img.moonshot.cn/pub/slides/slides_tmpl/image/25-08-27-20:09:12-d2nfaq18bjvh7rlj0i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10" y="1386524"/>
            <a:ext cx="6985000" cy="3302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7409" y="3725815"/>
            <a:ext cx="360039" cy="637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0"/>
          <p:cNvSpPr/>
          <p:nvPr/>
        </p:nvSpPr>
        <p:spPr>
          <a:xfrm>
            <a:off x="767409" y="372581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67409" y="5807035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6" name="Text 12"/>
          <p:cNvSpPr/>
          <p:nvPr/>
        </p:nvSpPr>
        <p:spPr>
          <a:xfrm>
            <a:off x="767409" y="580703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789973" y="5807035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8" name="Text 14"/>
          <p:cNvSpPr/>
          <p:nvPr/>
        </p:nvSpPr>
        <p:spPr>
          <a:xfrm>
            <a:off x="6789973" y="580703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776915" y="3725815"/>
            <a:ext cx="360039" cy="637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6"/>
          <p:cNvSpPr/>
          <p:nvPr/>
        </p:nvSpPr>
        <p:spPr>
          <a:xfrm>
            <a:off x="6776915" y="372581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7700" y="1935480"/>
            <a:ext cx="548386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62169" y="23058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Stored procedures are predefined SQL queries that can be executed multiple times with different parameters, encapsulating complex logic.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7700" y="4386580"/>
            <a:ext cx="546481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Reusability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62169" y="47569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Stored procedures promote reusability by allowing you to execute the same logic repeatedly with different inputs, reducing redundancy.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650355" y="1935480"/>
            <a:ext cx="548386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665325" y="23058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They enhance security by limiting direct access to the database, exposing only the procedure interface to end-users.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6670040" y="4386580"/>
            <a:ext cx="546481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684733" y="4756920"/>
            <a:ext cx="5073791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Stored procedures can improve performance by reducing network traffic and optimizing execution plans.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1-d2nfapp8bjvh7rlj0in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87" y="0"/>
            <a:ext cx="467201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9768" y="1856646"/>
            <a:ext cx="4118258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Triggers Automate Logic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10-d2nfaph8bjvh7rlj0ih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257" y="1286340"/>
            <a:ext cx="635000" cy="368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3100" y="3244850"/>
            <a:ext cx="4212590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72843" y="3592270"/>
            <a:ext cx="3613829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Triggers are automatic actions that occur when specific database events like INSERT, UPDATE, or DELETE happen on a table.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09995" y="1484630"/>
            <a:ext cx="438467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Types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10009" y="1807120"/>
            <a:ext cx="4710824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Triggers can be set to execute BEFORE or AFTER an event, allowing you to enforce business rules or maintain data integrity.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09995" y="3911600"/>
            <a:ext cx="467804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Example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10009" y="4233929"/>
            <a:ext cx="4710824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Example: A trigger can automatically update a timestamp column whenever a row is modified, ensuring accurate tracking of changes.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79000">
                <a:srgbClr val="7095BC"/>
              </a:gs>
              <a:gs pos="96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2455" y="964565"/>
            <a:ext cx="8507730" cy="5417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Views Simplify Access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3-d2nfaq98bjvh7rlj0it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20" y="2115819"/>
            <a:ext cx="6348430" cy="4814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63285" y="1749425"/>
            <a:ext cx="584390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79160" y="2202815"/>
            <a:ext cx="5843905" cy="631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Views are virtual tables based on the result of a SELECT query, providing a simplified interface to complex data.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63285" y="4090035"/>
            <a:ext cx="584390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Benefits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79160" y="4543425"/>
            <a:ext cx="5843905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Views abstract away database structure, making it easier to query complex joins and filters without exposing underlying tables.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 &amp; Recap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63029" y="2857957"/>
            <a:ext cx="7856480" cy="3146642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3263029" y="2857957"/>
            <a:ext cx="7856480" cy="314664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75815" y="548406"/>
            <a:ext cx="8231218" cy="9233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Lab 1 Transactions in Action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7-d2nfaop8bjvh7rlj0i9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5392" y="2857957"/>
            <a:ext cx="3582356" cy="31466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46432" y="2852936"/>
            <a:ext cx="690128" cy="559777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7" name="Text 4"/>
          <p:cNvSpPr/>
          <p:nvPr/>
        </p:nvSpPr>
        <p:spPr>
          <a:xfrm>
            <a:off x="10446432" y="2852936"/>
            <a:ext cx="690128" cy="5597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632504" y="3140968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4835525" y="3573145"/>
            <a:ext cx="586105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Lab Objective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35525" y="4335145"/>
            <a:ext cx="591566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Practice transaction commands by beginning a transaction, performing multiple operations, and using ROLLBACK in case of errors to ensure data consistency.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6-d2nfar18bjvh7rlj0iu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4680" y="-27384"/>
            <a:ext cx="12232332" cy="6959798"/>
          </a:xfrm>
          <a:prstGeom prst="rect">
            <a:avLst/>
          </a:prstGeom>
          <a:solidFill>
            <a:srgbClr val="333F4F">
              <a:alpha val="47843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24680" y="-27384"/>
            <a:ext cx="12232332" cy="69597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8-27-20:09:12-d2nfaq18bjvh7rlj0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9080"/>
            <a:ext cx="12192000" cy="156198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0800000">
            <a:off x="1948002" y="493299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 rot="10800000">
            <a:off x="1948002" y="4932990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948003" y="4767462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9" name="Text 5"/>
          <p:cNvSpPr/>
          <p:nvPr/>
        </p:nvSpPr>
        <p:spPr>
          <a:xfrm>
            <a:off x="1948003" y="4767462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10800000">
            <a:off x="5928324" y="3759222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 rot="10800000">
            <a:off x="5928324" y="3759222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928325" y="3593694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3" name="Text 9"/>
          <p:cNvSpPr/>
          <p:nvPr/>
        </p:nvSpPr>
        <p:spPr>
          <a:xfrm>
            <a:off x="5928325" y="3593694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rot="10800000">
            <a:off x="9908654" y="4386616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 rot="10800000">
            <a:off x="9908654" y="4386616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908655" y="4221088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7" name="Text 13"/>
          <p:cNvSpPr/>
          <p:nvPr/>
        </p:nvSpPr>
        <p:spPr>
          <a:xfrm>
            <a:off x="9908655" y="4221088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858496" y="5783053"/>
            <a:ext cx="8352928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Lab 2 Advanced Objects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079776" y="1107270"/>
            <a:ext cx="0" cy="2740316"/>
          </a:xfrm>
          <a:prstGeom prst="straightConnector1">
            <a:avLst/>
          </a:prstGeom>
          <a:noFill/>
          <a:ln w="31750">
            <a:solidFill>
              <a:srgbClr val="C2F5E1">
                <a:alpha val="38824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060105" y="963760"/>
            <a:ext cx="0" cy="2740316"/>
          </a:xfrm>
          <a:prstGeom prst="straightConnector1">
            <a:avLst/>
          </a:prstGeom>
          <a:noFill/>
          <a:ln w="31750">
            <a:solidFill>
              <a:srgbClr val="C2F5E1">
                <a:alpha val="38824"/>
              </a:srgbClr>
            </a:solidFill>
            <a:prstDash val="solid"/>
            <a:headEnd type="none"/>
            <a:tailEnd type="triangle"/>
          </a:ln>
        </p:spPr>
      </p:sp>
      <p:pic>
        <p:nvPicPr>
          <p:cNvPr id="23" name="Image 2" descr="https://kimi-img.moonshot.cn/pub/slides/slides_tmpl/image/25-08-27-20:09:11-d2nfapp8bjvh7rlj0i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985" y="1536700"/>
            <a:ext cx="718185" cy="546100"/>
          </a:xfrm>
          <a:prstGeom prst="rect">
            <a:avLst/>
          </a:prstGeom>
        </p:spPr>
      </p:pic>
      <p:pic>
        <p:nvPicPr>
          <p:cNvPr id="24" name="Image 3" descr="https://kimi-img.moonshot.cn/pub/slides/slides_tmpl/image/25-08-27-20:09:11-d2nfapp8bjvh7rlj0im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6270" y="234950"/>
            <a:ext cx="764540" cy="581025"/>
          </a:xfrm>
          <a:prstGeom prst="rect">
            <a:avLst/>
          </a:prstGeom>
        </p:spPr>
      </p:pic>
      <p:pic>
        <p:nvPicPr>
          <p:cNvPr id="25" name="Image 4" descr="https://kimi-img.moonshot.cn/pub/slides/slides_tmpl/image/25-08-27-20:09:11-d2nfapp8bjvh7rlj0i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5335" y="982980"/>
            <a:ext cx="717550" cy="5454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4330" y="2011045"/>
            <a:ext cx="353822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Stored Procedure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77850" y="2434590"/>
            <a:ext cx="3090545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Create a stored procedure to insert a new employee, demonstrating how to encapsulate logic and improve reusability.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079875" y="765810"/>
            <a:ext cx="397954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Trigger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468495" y="1188720"/>
            <a:ext cx="3231515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Set up a trigger to automatically update a timestamp column on row modification, ensuring data consistency and accuracy.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8275320" y="1451610"/>
            <a:ext cx="344868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View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431530" y="1874520"/>
            <a:ext cx="3185160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Create a view to simplify querying employee details, abstracting away complex joins and making data access more intuitive.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r0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408127" y="2521292"/>
            <a:ext cx="6341541" cy="34730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1180" y="492760"/>
            <a:ext cx="6088380" cy="12858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Key Takeaways Roadmap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8305" y="1774825"/>
            <a:ext cx="556387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6119" y="2097392"/>
            <a:ext cx="5423544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Transactions ensure data consistency and integrity through commands like START TRANSACTION, COMMIT, and ROLLBACK.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61810" y="676275"/>
            <a:ext cx="496506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ACID Properties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61810" y="998855"/>
            <a:ext cx="4965700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ACID properties (Atomicity, Consistency, Isolation, Durability) form the foundation of reliable database systems.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7365" y="2708910"/>
            <a:ext cx="495935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Advanced SQL Features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61810" y="3049905"/>
            <a:ext cx="4965700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Stored procedures, triggers, and views automate database operations and improve performance by encapsulating logic and simplifying access.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7365" y="4645660"/>
            <a:ext cx="504253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61810" y="5039995"/>
            <a:ext cx="4965700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Continue practicing these concepts through labs, projects, and real-world applications to deepen your understanding.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solidFill>
            <a:srgbClr val="000000">
              <a:alpha val="0"/>
            </a:srgbClr>
          </a:solidFill>
          <a:ln w="85725">
            <a:gradFill flip="none" rotWithShape="1">
              <a:gsLst>
                <a:gs pos="0">
                  <a:srgbClr val="C2F5E1"/>
                </a:gs>
                <a:gs pos="20000">
                  <a:srgbClr val="AAC0E5"/>
                </a:gs>
                <a:gs pos="100000">
                  <a:srgbClr val="9DB4E1"/>
                </a:gs>
              </a:gsLst>
              <a:lin ang="7200000" scaled="1"/>
            </a:gra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8-d2nfap18bjvh7rlj0i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73" y="1407713"/>
            <a:ext cx="3092012" cy="46774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62830" y="764540"/>
            <a:ext cx="644906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Q&amp;A and Closing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06070" y="2719643"/>
            <a:ext cx="6450272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Open Floor for Questions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42815" y="3141980"/>
            <a:ext cx="671322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Open the floor for any questions or clarifications. Encourage participants to share their thoughts and experiences.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06070" y="4444266"/>
            <a:ext cx="6450272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Next Course Suggestions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42815" y="4866640"/>
            <a:ext cx="671322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Suggest continuing the learning journey with advanced topics such as Performance Tuning or Database Design.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s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617" y="1561401"/>
            <a:ext cx="4553512" cy="3552547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12-d2nfaq18bjvh7rlj0isg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3121" y="1561401"/>
            <a:ext cx="2434092" cy="24086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84213" y="3119957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84213" y="3119957"/>
            <a:ext cx="363255" cy="3632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147610" y="3138745"/>
            <a:ext cx="325677" cy="325677"/>
          </a:xfrm>
          <a:prstGeom prst="ellipse">
            <a:avLst/>
          </a:prstGeom>
          <a:solidFill>
            <a:srgbClr val="C2F4E0"/>
          </a:solidFill>
          <a:ln/>
        </p:spPr>
      </p:sp>
      <p:sp>
        <p:nvSpPr>
          <p:cNvPr id="9" name="Text 5"/>
          <p:cNvSpPr/>
          <p:nvPr/>
        </p:nvSpPr>
        <p:spPr>
          <a:xfrm>
            <a:off x="2147610" y="3138745"/>
            <a:ext cx="325677" cy="3256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209989" y="3287890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pic>
        <p:nvPicPr>
          <p:cNvPr id="11" name="Image 2" descr="https://kimi-img.moonshot.cn/pub/slides/slides_tmpl/image/25-08-27-20:09:13-d2nfaq98bjvh7rlj0it0.png"/>
          <p:cNvPicPr>
            <a:picLocks noChangeAspect="1"/>
          </p:cNvPicPr>
          <p:nvPr/>
        </p:nvPicPr>
        <p:blipFill>
          <a:blip r:embed="rId5"/>
          <a:srcRect r="29701" b="29746"/>
          <a:stretch/>
        </p:blipFill>
        <p:spPr>
          <a:xfrm>
            <a:off x="654685" y="1670685"/>
            <a:ext cx="8178063" cy="37027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4237" y="5373975"/>
            <a:ext cx="225468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274" y="5750335"/>
            <a:ext cx="4323764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</Words>
  <Application>Microsoft Office PowerPoint</Application>
  <PresentationFormat>Widescreen</PresentationFormat>
  <Paragraphs>115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Source Han Sans SC</vt:lpstr>
      <vt:lpstr>Source Han Sans SC Light</vt:lpstr>
      <vt:lpstr>Source Han Sans SC Medium</vt:lpstr>
      <vt:lpstr>Source Han Sans SC Normal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Transactions &amp; Advanced SQL</dc:title>
  <dc:subject>Transactions &amp; Advanced SQL</dc:subject>
  <dc:creator>Kimi</dc:creator>
  <cp:lastModifiedBy>Sean</cp:lastModifiedBy>
  <cp:revision>2</cp:revision>
  <dcterms:created xsi:type="dcterms:W3CDTF">2025-12-05T05:55:29Z</dcterms:created>
  <dcterms:modified xsi:type="dcterms:W3CDTF">2025-12-05T05:56:07Z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{"Label":"Transactions &amp; Advanced SQL","ContentProducer":"001191110108MACG2KBH8F10000","ProduceID":"d4p76r53v89vc8k19lr0","ReservedCode1":"","ContentPropagator":"001191110108MACG2KBH8F20000","PropagateID":"d4p76r53v89vc8k19lr0","ReservedCode2":""}</vt:lpwstr>
  </property>
</Properties>
</file>