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3" d="100"/>
          <a:sy n="63" d="100"/>
        </p:scale>
        <p:origin x="780"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323426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3.jpg"/><Relationship Id="rId5" Type="http://schemas.openxmlformats.org/officeDocument/2006/relationships/image" Target="../media/image12.jpg"/><Relationship Id="rId4" Type="http://schemas.openxmlformats.org/officeDocument/2006/relationships/image" Target="../media/image11.jpg"/></Relationships>
</file>

<file path=ppt/slides/_rels/slide5.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7.jpg"/><Relationship Id="rId4" Type="http://schemas.openxmlformats.org/officeDocument/2006/relationships/image" Target="../media/image16.jpg"/></Relationships>
</file>

<file path=ppt/slides/_rels/slide8.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jp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2.jpg"/><Relationship Id="rId5" Type="http://schemas.openxmlformats.org/officeDocument/2006/relationships/image" Target="../media/image21.jpg"/><Relationship Id="rId4" Type="http://schemas.openxmlformats.org/officeDocument/2006/relationships/image" Target="../media/image20.jpg"/></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1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image" Target="../media/image32.png"/></Relationships>
</file>

<file path=ppt/slides/_rels/slide1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22.xml.rels><?xml version="1.0" encoding="UTF-8" standalone="yes"?>
<Relationships xmlns="http://schemas.openxmlformats.org/package/2006/relationships"><Relationship Id="rId3" Type="http://schemas.openxmlformats.org/officeDocument/2006/relationships/image" Target="../media/image38.jpg"/><Relationship Id="rId7" Type="http://schemas.openxmlformats.org/officeDocument/2006/relationships/image" Target="../media/image33.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9.png"/></Relationships>
</file>

<file path=ppt/slides/_rels/slide23.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44.png"/><Relationship Id="rId4" Type="http://schemas.openxmlformats.org/officeDocument/2006/relationships/image" Target="../media/image43.jpe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20:09:09-d2nfap98bjvh7rlj0ieg.jpg"/>
          <p:cNvPicPr>
            <a:picLocks noChangeAspect="1"/>
          </p:cNvPicPr>
          <p:nvPr/>
        </p:nvPicPr>
        <p:blipFill>
          <a:blip r:embed="rId3"/>
          <a:srcRect/>
          <a:stretch/>
        </p:blipFill>
        <p:spPr>
          <a:xfrm rot="5400000">
            <a:off x="3017799" y="-3017800"/>
            <a:ext cx="6156401" cy="12192000"/>
          </a:xfrm>
          <a:prstGeom prst="rect">
            <a:avLst/>
          </a:prstGeom>
        </p:spPr>
      </p:pic>
      <p:sp>
        <p:nvSpPr>
          <p:cNvPr id="3" name="Shape 0"/>
          <p:cNvSpPr/>
          <p:nvPr/>
        </p:nvSpPr>
        <p:spPr>
          <a:xfrm>
            <a:off x="0" y="4609578"/>
            <a:ext cx="12192000" cy="2357278"/>
          </a:xfrm>
          <a:prstGeom prst="rect">
            <a:avLst/>
          </a:prstGeom>
          <a:solidFill>
            <a:srgbClr val="161616"/>
          </a:solidFill>
          <a:ln w="12700">
            <a:solidFill>
              <a:srgbClr val="09111E"/>
            </a:solidFill>
            <a:prstDash val="solid"/>
          </a:ln>
        </p:spPr>
      </p:sp>
      <p:sp>
        <p:nvSpPr>
          <p:cNvPr id="4" name="Text 1"/>
          <p:cNvSpPr/>
          <p:nvPr/>
        </p:nvSpPr>
        <p:spPr>
          <a:xfrm>
            <a:off x="0" y="4609578"/>
            <a:ext cx="12192000" cy="2357278"/>
          </a:xfrm>
          <a:prstGeom prst="rect">
            <a:avLst/>
          </a:prstGeom>
          <a:noFill/>
          <a:ln/>
        </p:spPr>
        <p:txBody>
          <a:bodyPr wrap="square" lIns="45720" tIns="91440" rIns="91440" bIns="45720" rtlCol="0" anchor="ctr"/>
          <a:lstStyle/>
          <a:p>
            <a:pPr>
              <a:lnSpc>
                <a:spcPct val="100000"/>
              </a:lnSpc>
            </a:pPr>
            <a:endParaRPr lang="en-US" sz="1600" dirty="0"/>
          </a:p>
        </p:txBody>
      </p:sp>
      <p:sp>
        <p:nvSpPr>
          <p:cNvPr id="5" name="Text 2"/>
          <p:cNvSpPr/>
          <p:nvPr/>
        </p:nvSpPr>
        <p:spPr>
          <a:xfrm>
            <a:off x="930466" y="5184885"/>
            <a:ext cx="6077403" cy="707886"/>
          </a:xfrm>
          <a:prstGeom prst="rect">
            <a:avLst/>
          </a:prstGeom>
          <a:noFill/>
          <a:ln/>
        </p:spPr>
        <p:txBody>
          <a:bodyPr wrap="square" lIns="91440" tIns="45720" rIns="91440" bIns="45720" rtlCol="0" anchor="t">
            <a:spAutoFit/>
          </a:bodyPr>
          <a:lstStyle/>
          <a:p>
            <a:pPr>
              <a:lnSpc>
                <a:spcPct val="100000"/>
              </a:lnSpc>
            </a:pPr>
            <a:r>
              <a:rPr lang="en-US" sz="4000" dirty="0">
                <a:solidFill>
                  <a:srgbClr val="FFFFFF"/>
                </a:solidFill>
                <a:latin typeface="Source Han Sans SC Medium" pitchFamily="34" charset="0"/>
                <a:ea typeface="Source Han Sans SC Medium" pitchFamily="34" charset="-122"/>
                <a:cs typeface="Source Han Sans SC Medium" pitchFamily="34" charset="-120"/>
              </a:rPr>
              <a:t>Day 4 Joins &amp; Subqueries</a:t>
            </a:r>
            <a:endParaRPr lang="en-US" sz="1600" dirty="0"/>
          </a:p>
        </p:txBody>
      </p:sp>
      <p:sp>
        <p:nvSpPr>
          <p:cNvPr id="6" name="Text 3"/>
          <p:cNvSpPr/>
          <p:nvPr/>
        </p:nvSpPr>
        <p:spPr>
          <a:xfrm>
            <a:off x="7959231" y="5662019"/>
            <a:ext cx="2254685" cy="400110"/>
          </a:xfrm>
          <a:prstGeom prst="rect">
            <a:avLst/>
          </a:prstGeom>
          <a:noFill/>
          <a:ln/>
        </p:spPr>
        <p:txBody>
          <a:bodyPr wrap="square" lIns="91440" tIns="45720" rIns="91440" bIns="45720" rtlCol="0" anchor="t">
            <a:spAutoFit/>
          </a:bodyPr>
          <a:lstStyle/>
          <a:p>
            <a:pPr>
              <a:lnSpc>
                <a:spcPct val="100000"/>
              </a:lnSpc>
            </a:pPr>
            <a:r>
              <a:rPr lang="en-US" sz="2000" dirty="0">
                <a:solidFill>
                  <a:srgbClr val="FFFFFF"/>
                </a:solidFill>
                <a:latin typeface="Source Han Sans SC" pitchFamily="34" charset="0"/>
                <a:ea typeface="Source Han Sans SC" pitchFamily="34" charset="-122"/>
                <a:cs typeface="Source Han Sans SC" pitchFamily="34" charset="-120"/>
              </a:rPr>
              <a:t>Sean Wong</a:t>
            </a:r>
            <a:endParaRPr lang="en-US" sz="1600" dirty="0"/>
          </a:p>
        </p:txBody>
      </p:sp>
      <p:sp>
        <p:nvSpPr>
          <p:cNvPr id="7" name="Text 4"/>
          <p:cNvSpPr/>
          <p:nvPr/>
        </p:nvSpPr>
        <p:spPr>
          <a:xfrm>
            <a:off x="7983268" y="6038379"/>
            <a:ext cx="4208732" cy="340717"/>
          </a:xfrm>
          <a:prstGeom prst="rect">
            <a:avLst/>
          </a:prstGeom>
          <a:noFill/>
          <a:ln/>
        </p:spPr>
        <p:txBody>
          <a:bodyPr wrap="square" lIns="91440" tIns="45720" rIns="91440" bIns="45720" rtlCol="0" anchor="t">
            <a:spAutoFit/>
          </a:bodyPr>
          <a:lstStyle/>
          <a:p>
            <a:pPr>
              <a:lnSpc>
                <a:spcPct val="100000"/>
              </a:lnSpc>
            </a:pPr>
            <a:r>
              <a:rPr lang="en-US" sz="2000" dirty="0">
                <a:solidFill>
                  <a:srgbClr val="FFFFFF"/>
                </a:solidFill>
                <a:latin typeface="Source Han Sans SC" pitchFamily="34" charset="0"/>
                <a:ea typeface="Source Han Sans SC" pitchFamily="34" charset="-122"/>
                <a:cs typeface="Source Han Sans SC" pitchFamily="34" charset="-120"/>
              </a:rPr>
              <a:t>2025/08/04</a:t>
            </a:r>
            <a:endParaRPr lang="en-US" sz="1600" dirty="0"/>
          </a:p>
        </p:txBody>
      </p:sp>
      <p:pic>
        <p:nvPicPr>
          <p:cNvPr id="8" name="Image 1" descr="https://kimi-img.moonshot.cn/pub/slides/slides_tmpl/image/25-08-27-20:09:02-d2nfanh8bjvh7rlj0hvg.png"/>
          <p:cNvPicPr>
            <a:picLocks noChangeAspect="1"/>
          </p:cNvPicPr>
          <p:nvPr/>
        </p:nvPicPr>
        <p:blipFill>
          <a:blip r:embed="rId4"/>
          <a:stretch>
            <a:fillRect/>
          </a:stretch>
        </p:blipFill>
        <p:spPr>
          <a:xfrm>
            <a:off x="10528741" y="5110209"/>
            <a:ext cx="1323439" cy="1323439"/>
          </a:xfrm>
          <a:prstGeom prst="rect">
            <a:avLst/>
          </a:prstGeom>
        </p:spPr>
      </p:pic>
      <p:pic>
        <p:nvPicPr>
          <p:cNvPr id="9" name="Image 2" descr="https://kimi-img.moonshot.cn/pub/slides/slides_tmpl/image/25-08-27-20:09:02-d2nfanh8bjvh7rlj0hu0.png"/>
          <p:cNvPicPr>
            <a:picLocks noChangeAspect="1"/>
          </p:cNvPicPr>
          <p:nvPr/>
        </p:nvPicPr>
        <p:blipFill>
          <a:blip r:embed="rId5"/>
          <a:stretch>
            <a:fillRect/>
          </a:stretch>
        </p:blipFill>
        <p:spPr>
          <a:xfrm>
            <a:off x="411387" y="5136798"/>
            <a:ext cx="463139" cy="463139"/>
          </a:xfrm>
          <a:prstGeom prst="rect">
            <a:avLst/>
          </a:prstGeom>
        </p:spPr>
      </p:pic>
      <p:pic>
        <p:nvPicPr>
          <p:cNvPr id="10" name="Image 3" descr="https://kimi-img.moonshot.cn/pub/slides/slides_tmpl/image/25-08-27-20:09:02-d2nfanh8bjvh7rlj0hug.png"/>
          <p:cNvPicPr>
            <a:picLocks noChangeAspect="1"/>
          </p:cNvPicPr>
          <p:nvPr/>
        </p:nvPicPr>
        <p:blipFill>
          <a:blip r:embed="rId6"/>
          <a:stretch>
            <a:fillRect/>
          </a:stretch>
        </p:blipFill>
        <p:spPr>
          <a:xfrm>
            <a:off x="47770" y="3069032"/>
            <a:ext cx="2420888" cy="2420888"/>
          </a:xfrm>
          <a:prstGeom prst="rect">
            <a:avLst/>
          </a:prstGeom>
        </p:spPr>
      </p:pic>
      <p:pic>
        <p:nvPicPr>
          <p:cNvPr id="11" name="Image 4" descr="https://kimi-img.moonshot.cn/pub/slides/slides_tmpl/image/25-08-27-20:09:02-d2nfanh8bjvh7rlj0hv0.png"/>
          <p:cNvPicPr>
            <a:picLocks noChangeAspect="1"/>
          </p:cNvPicPr>
          <p:nvPr/>
        </p:nvPicPr>
        <p:blipFill>
          <a:blip r:embed="rId7"/>
          <a:stretch>
            <a:fillRect/>
          </a:stretch>
        </p:blipFill>
        <p:spPr>
          <a:xfrm>
            <a:off x="8040216" y="5231637"/>
            <a:ext cx="635000" cy="368300"/>
          </a:xfrm>
          <a:prstGeom prst="rect">
            <a:avLst/>
          </a:prstGeom>
        </p:spPr>
      </p:pic>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2101764" y="0"/>
            <a:ext cx="2916401" cy="6858000"/>
          </a:xfrm>
          <a:custGeom>
            <a:avLst/>
            <a:gdLst/>
            <a:ahLst/>
            <a:cxnLst/>
            <a:rect l="l" t="t" r="r" b="b"/>
            <a:pathLst>
              <a:path w="2916401" h="6858000">
                <a:moveTo>
                  <a:pt x="0" y="0"/>
                </a:moveTo>
                <a:lnTo>
                  <a:pt x="1310838" y="0"/>
                </a:lnTo>
                <a:lnTo>
                  <a:pt x="1453357" y="123454"/>
                </a:lnTo>
                <a:cubicBezTo>
                  <a:pt x="2352136" y="940343"/>
                  <a:pt x="2916401" y="2118776"/>
                  <a:pt x="2916401" y="3429000"/>
                </a:cubicBezTo>
                <a:cubicBezTo>
                  <a:pt x="2916401" y="4739224"/>
                  <a:pt x="2352136" y="5917657"/>
                  <a:pt x="1453357" y="6734546"/>
                </a:cubicBezTo>
                <a:lnTo>
                  <a:pt x="1310838" y="6858000"/>
                </a:lnTo>
                <a:lnTo>
                  <a:pt x="220806" y="6858000"/>
                </a:lnTo>
                <a:lnTo>
                  <a:pt x="224168" y="6856279"/>
                </a:lnTo>
                <a:cubicBezTo>
                  <a:pt x="1419763" y="6206792"/>
                  <a:pt x="2231395" y="4940069"/>
                  <a:pt x="2231395" y="3483779"/>
                </a:cubicBezTo>
                <a:cubicBezTo>
                  <a:pt x="2231395" y="1961294"/>
                  <a:pt x="1344301" y="646001"/>
                  <a:pt x="58792" y="26579"/>
                </a:cubicBezTo>
                <a:close/>
              </a:path>
            </a:pathLst>
          </a:custGeom>
          <a:solidFill>
            <a:srgbClr val="F3F3F7"/>
          </a:solidFill>
          <a:ln/>
        </p:spPr>
      </p:sp>
      <p:sp>
        <p:nvSpPr>
          <p:cNvPr id="3" name="Text 1"/>
          <p:cNvSpPr/>
          <p:nvPr/>
        </p:nvSpPr>
        <p:spPr>
          <a:xfrm>
            <a:off x="2101764" y="0"/>
            <a:ext cx="2916401" cy="6858000"/>
          </a:xfrm>
          <a:prstGeom prst="rect">
            <a:avLst/>
          </a:prstGeom>
          <a:noFill/>
          <a:ln/>
        </p:spPr>
        <p:txBody>
          <a:bodyPr wrap="square" lIns="45720" tIns="91440" rIns="91440" bIns="45720" rtlCol="0" anchor="ctr"/>
          <a:lstStyle/>
          <a:p>
            <a:pPr>
              <a:lnSpc>
                <a:spcPct val="100000"/>
              </a:lnSpc>
            </a:pPr>
            <a:endParaRPr lang="en-US" sz="1600" dirty="0"/>
          </a:p>
        </p:txBody>
      </p:sp>
      <p:sp>
        <p:nvSpPr>
          <p:cNvPr id="4" name="Shape 2"/>
          <p:cNvSpPr/>
          <p:nvPr/>
        </p:nvSpPr>
        <p:spPr>
          <a:xfrm>
            <a:off x="958283" y="4784098"/>
            <a:ext cx="231418" cy="231418"/>
          </a:xfrm>
          <a:prstGeom prst="rect">
            <a:avLst/>
          </a:prstGeom>
          <a:solidFill>
            <a:srgbClr val="D2F9E9"/>
          </a:solidFill>
          <a:ln/>
        </p:spPr>
      </p:sp>
      <p:sp>
        <p:nvSpPr>
          <p:cNvPr id="5" name="Text 3"/>
          <p:cNvSpPr/>
          <p:nvPr/>
        </p:nvSpPr>
        <p:spPr>
          <a:xfrm>
            <a:off x="958283" y="4784098"/>
            <a:ext cx="231418" cy="231418"/>
          </a:xfrm>
          <a:prstGeom prst="rect">
            <a:avLst/>
          </a:prstGeom>
          <a:noFill/>
          <a:ln/>
        </p:spPr>
        <p:txBody>
          <a:bodyPr wrap="square" lIns="45720" tIns="91440" rIns="91440" bIns="45720" rtlCol="0" anchor="ctr"/>
          <a:lstStyle/>
          <a:p>
            <a:pPr>
              <a:lnSpc>
                <a:spcPct val="100000"/>
              </a:lnSpc>
            </a:pPr>
            <a:endParaRPr lang="en-US" sz="1600" dirty="0"/>
          </a:p>
        </p:txBody>
      </p:sp>
      <p:sp>
        <p:nvSpPr>
          <p:cNvPr id="6" name="Shape 4"/>
          <p:cNvSpPr/>
          <p:nvPr/>
        </p:nvSpPr>
        <p:spPr>
          <a:xfrm>
            <a:off x="958283" y="3070930"/>
            <a:ext cx="231418" cy="231418"/>
          </a:xfrm>
          <a:prstGeom prst="rect">
            <a:avLst/>
          </a:prstGeom>
          <a:solidFill>
            <a:srgbClr val="8FABDB"/>
          </a:solidFill>
          <a:ln/>
        </p:spPr>
      </p:sp>
      <p:sp>
        <p:nvSpPr>
          <p:cNvPr id="7" name="Text 5"/>
          <p:cNvSpPr/>
          <p:nvPr/>
        </p:nvSpPr>
        <p:spPr>
          <a:xfrm>
            <a:off x="958283" y="3070930"/>
            <a:ext cx="231418" cy="231418"/>
          </a:xfrm>
          <a:prstGeom prst="rect">
            <a:avLst/>
          </a:prstGeom>
          <a:noFill/>
          <a:ln/>
        </p:spPr>
        <p:txBody>
          <a:bodyPr wrap="square" lIns="45720" tIns="91440" rIns="91440" bIns="45720" rtlCol="0" anchor="ctr"/>
          <a:lstStyle/>
          <a:p>
            <a:pPr>
              <a:lnSpc>
                <a:spcPct val="100000"/>
              </a:lnSpc>
            </a:pPr>
            <a:endParaRPr lang="en-US" sz="1600" dirty="0"/>
          </a:p>
        </p:txBody>
      </p:sp>
      <p:sp>
        <p:nvSpPr>
          <p:cNvPr id="8" name="Shape 6"/>
          <p:cNvSpPr/>
          <p:nvPr/>
        </p:nvSpPr>
        <p:spPr>
          <a:xfrm>
            <a:off x="958283" y="3508088"/>
            <a:ext cx="231418" cy="231418"/>
          </a:xfrm>
          <a:prstGeom prst="rect">
            <a:avLst/>
          </a:prstGeom>
          <a:solidFill>
            <a:srgbClr val="B3C5E6"/>
          </a:solidFill>
          <a:ln/>
        </p:spPr>
      </p:sp>
      <p:sp>
        <p:nvSpPr>
          <p:cNvPr id="9" name="Text 7"/>
          <p:cNvSpPr/>
          <p:nvPr/>
        </p:nvSpPr>
        <p:spPr>
          <a:xfrm>
            <a:off x="958283" y="3508088"/>
            <a:ext cx="231418" cy="231418"/>
          </a:xfrm>
          <a:prstGeom prst="rect">
            <a:avLst/>
          </a:prstGeom>
          <a:noFill/>
          <a:ln/>
        </p:spPr>
        <p:txBody>
          <a:bodyPr wrap="square" lIns="45720" tIns="91440" rIns="91440" bIns="45720" rtlCol="0" anchor="ctr"/>
          <a:lstStyle/>
          <a:p>
            <a:pPr>
              <a:lnSpc>
                <a:spcPct val="100000"/>
              </a:lnSpc>
            </a:pPr>
            <a:endParaRPr lang="en-US" sz="1600" dirty="0"/>
          </a:p>
        </p:txBody>
      </p:sp>
      <p:sp>
        <p:nvSpPr>
          <p:cNvPr id="10" name="Shape 8"/>
          <p:cNvSpPr/>
          <p:nvPr/>
        </p:nvSpPr>
        <p:spPr>
          <a:xfrm>
            <a:off x="958283" y="3736938"/>
            <a:ext cx="231418" cy="231418"/>
          </a:xfrm>
          <a:prstGeom prst="rect">
            <a:avLst/>
          </a:prstGeom>
          <a:solidFill>
            <a:srgbClr val="B2D0E3"/>
          </a:solidFill>
          <a:ln/>
        </p:spPr>
      </p:sp>
      <p:sp>
        <p:nvSpPr>
          <p:cNvPr id="11" name="Text 9"/>
          <p:cNvSpPr/>
          <p:nvPr/>
        </p:nvSpPr>
        <p:spPr>
          <a:xfrm>
            <a:off x="958283" y="3736938"/>
            <a:ext cx="231418" cy="231418"/>
          </a:xfrm>
          <a:prstGeom prst="rect">
            <a:avLst/>
          </a:prstGeom>
          <a:noFill/>
          <a:ln/>
        </p:spPr>
        <p:txBody>
          <a:bodyPr wrap="square" lIns="45720" tIns="91440" rIns="91440" bIns="45720" rtlCol="0" anchor="ctr"/>
          <a:lstStyle/>
          <a:p>
            <a:pPr>
              <a:lnSpc>
                <a:spcPct val="100000"/>
              </a:lnSpc>
            </a:pPr>
            <a:endParaRPr lang="en-US" sz="1600" dirty="0"/>
          </a:p>
        </p:txBody>
      </p:sp>
      <p:sp>
        <p:nvSpPr>
          <p:cNvPr id="12" name="Shape 10"/>
          <p:cNvSpPr/>
          <p:nvPr/>
        </p:nvSpPr>
        <p:spPr>
          <a:xfrm>
            <a:off x="958283" y="3944784"/>
            <a:ext cx="231418" cy="231418"/>
          </a:xfrm>
          <a:prstGeom prst="rect">
            <a:avLst/>
          </a:prstGeom>
          <a:solidFill>
            <a:srgbClr val="B7DBE3"/>
          </a:solidFill>
          <a:ln/>
        </p:spPr>
      </p:sp>
      <p:sp>
        <p:nvSpPr>
          <p:cNvPr id="13" name="Text 11"/>
          <p:cNvSpPr/>
          <p:nvPr/>
        </p:nvSpPr>
        <p:spPr>
          <a:xfrm>
            <a:off x="958283" y="3944784"/>
            <a:ext cx="231418" cy="231418"/>
          </a:xfrm>
          <a:prstGeom prst="rect">
            <a:avLst/>
          </a:prstGeom>
          <a:noFill/>
          <a:ln/>
        </p:spPr>
        <p:txBody>
          <a:bodyPr wrap="square" lIns="45720" tIns="91440" rIns="91440" bIns="45720" rtlCol="0" anchor="ctr"/>
          <a:lstStyle/>
          <a:p>
            <a:pPr>
              <a:lnSpc>
                <a:spcPct val="100000"/>
              </a:lnSpc>
            </a:pPr>
            <a:endParaRPr lang="en-US" sz="1600" dirty="0"/>
          </a:p>
        </p:txBody>
      </p:sp>
      <p:sp>
        <p:nvSpPr>
          <p:cNvPr id="14" name="Shape 12"/>
          <p:cNvSpPr/>
          <p:nvPr/>
        </p:nvSpPr>
        <p:spPr>
          <a:xfrm>
            <a:off x="958283" y="4173384"/>
            <a:ext cx="231418" cy="231418"/>
          </a:xfrm>
          <a:prstGeom prst="rect">
            <a:avLst/>
          </a:prstGeom>
          <a:solidFill>
            <a:srgbClr val="BAE3E1"/>
          </a:solidFill>
          <a:ln/>
        </p:spPr>
      </p:sp>
      <p:sp>
        <p:nvSpPr>
          <p:cNvPr id="15" name="Text 13"/>
          <p:cNvSpPr/>
          <p:nvPr/>
        </p:nvSpPr>
        <p:spPr>
          <a:xfrm>
            <a:off x="958283" y="4173384"/>
            <a:ext cx="231418" cy="231418"/>
          </a:xfrm>
          <a:prstGeom prst="rect">
            <a:avLst/>
          </a:prstGeom>
          <a:noFill/>
          <a:ln/>
        </p:spPr>
        <p:txBody>
          <a:bodyPr wrap="square" lIns="45720" tIns="91440" rIns="91440" bIns="45720" rtlCol="0" anchor="ctr"/>
          <a:lstStyle/>
          <a:p>
            <a:pPr>
              <a:lnSpc>
                <a:spcPct val="100000"/>
              </a:lnSpc>
            </a:pPr>
            <a:endParaRPr lang="en-US" sz="1600" dirty="0"/>
          </a:p>
        </p:txBody>
      </p:sp>
      <p:sp>
        <p:nvSpPr>
          <p:cNvPr id="16" name="Shape 14"/>
          <p:cNvSpPr/>
          <p:nvPr/>
        </p:nvSpPr>
        <p:spPr>
          <a:xfrm>
            <a:off x="958283" y="4372618"/>
            <a:ext cx="231418" cy="231418"/>
          </a:xfrm>
          <a:prstGeom prst="rect">
            <a:avLst/>
          </a:prstGeom>
          <a:solidFill>
            <a:srgbClr val="BEEDE1"/>
          </a:solidFill>
          <a:ln/>
        </p:spPr>
      </p:sp>
      <p:sp>
        <p:nvSpPr>
          <p:cNvPr id="17" name="Text 15"/>
          <p:cNvSpPr/>
          <p:nvPr/>
        </p:nvSpPr>
        <p:spPr>
          <a:xfrm>
            <a:off x="958283" y="4372618"/>
            <a:ext cx="231418" cy="231418"/>
          </a:xfrm>
          <a:prstGeom prst="rect">
            <a:avLst/>
          </a:prstGeom>
          <a:noFill/>
          <a:ln/>
        </p:spPr>
        <p:txBody>
          <a:bodyPr wrap="square" lIns="45720" tIns="91440" rIns="91440" bIns="45720" rtlCol="0" anchor="ctr"/>
          <a:lstStyle/>
          <a:p>
            <a:pPr>
              <a:lnSpc>
                <a:spcPct val="100000"/>
              </a:lnSpc>
            </a:pPr>
            <a:endParaRPr lang="en-US" sz="1600" dirty="0"/>
          </a:p>
        </p:txBody>
      </p:sp>
      <p:sp>
        <p:nvSpPr>
          <p:cNvPr id="18" name="Shape 16"/>
          <p:cNvSpPr/>
          <p:nvPr/>
        </p:nvSpPr>
        <p:spPr>
          <a:xfrm>
            <a:off x="958283" y="4589788"/>
            <a:ext cx="231418" cy="231418"/>
          </a:xfrm>
          <a:prstGeom prst="rect">
            <a:avLst/>
          </a:prstGeom>
          <a:solidFill>
            <a:srgbClr val="C9F7E4"/>
          </a:solidFill>
          <a:ln/>
        </p:spPr>
      </p:sp>
      <p:sp>
        <p:nvSpPr>
          <p:cNvPr id="19" name="Text 17"/>
          <p:cNvSpPr/>
          <p:nvPr/>
        </p:nvSpPr>
        <p:spPr>
          <a:xfrm>
            <a:off x="958283" y="4589788"/>
            <a:ext cx="231418" cy="231418"/>
          </a:xfrm>
          <a:prstGeom prst="rect">
            <a:avLst/>
          </a:prstGeom>
          <a:noFill/>
          <a:ln/>
        </p:spPr>
        <p:txBody>
          <a:bodyPr wrap="square" lIns="45720" tIns="91440" rIns="91440" bIns="45720" rtlCol="0" anchor="ctr"/>
          <a:lstStyle/>
          <a:p>
            <a:pPr>
              <a:lnSpc>
                <a:spcPct val="100000"/>
              </a:lnSpc>
            </a:pPr>
            <a:endParaRPr lang="en-US" sz="1600" dirty="0"/>
          </a:p>
        </p:txBody>
      </p:sp>
      <p:sp>
        <p:nvSpPr>
          <p:cNvPr id="20" name="Shape 18"/>
          <p:cNvSpPr/>
          <p:nvPr/>
        </p:nvSpPr>
        <p:spPr>
          <a:xfrm>
            <a:off x="958283" y="5001268"/>
            <a:ext cx="231418" cy="231418"/>
          </a:xfrm>
          <a:prstGeom prst="rect">
            <a:avLst/>
          </a:prstGeom>
          <a:solidFill>
            <a:srgbClr val="DEFAEF"/>
          </a:solidFill>
          <a:ln/>
        </p:spPr>
      </p:sp>
      <p:sp>
        <p:nvSpPr>
          <p:cNvPr id="21" name="Text 19"/>
          <p:cNvSpPr/>
          <p:nvPr/>
        </p:nvSpPr>
        <p:spPr>
          <a:xfrm>
            <a:off x="958283" y="5001268"/>
            <a:ext cx="231418" cy="231418"/>
          </a:xfrm>
          <a:prstGeom prst="rect">
            <a:avLst/>
          </a:prstGeom>
          <a:noFill/>
          <a:ln/>
        </p:spPr>
        <p:txBody>
          <a:bodyPr wrap="square" lIns="45720" tIns="91440" rIns="91440" bIns="45720" rtlCol="0" anchor="ctr"/>
          <a:lstStyle/>
          <a:p>
            <a:pPr>
              <a:lnSpc>
                <a:spcPct val="100000"/>
              </a:lnSpc>
            </a:pPr>
            <a:endParaRPr lang="en-US" sz="1600" dirty="0"/>
          </a:p>
        </p:txBody>
      </p:sp>
      <p:sp>
        <p:nvSpPr>
          <p:cNvPr id="22" name="Shape 20"/>
          <p:cNvSpPr/>
          <p:nvPr/>
        </p:nvSpPr>
        <p:spPr>
          <a:xfrm>
            <a:off x="958283" y="5195578"/>
            <a:ext cx="231418" cy="231418"/>
          </a:xfrm>
          <a:prstGeom prst="rect">
            <a:avLst/>
          </a:prstGeom>
          <a:solidFill>
            <a:srgbClr val="E2FAF1"/>
          </a:solidFill>
          <a:ln/>
        </p:spPr>
      </p:sp>
      <p:sp>
        <p:nvSpPr>
          <p:cNvPr id="23" name="Text 21"/>
          <p:cNvSpPr/>
          <p:nvPr/>
        </p:nvSpPr>
        <p:spPr>
          <a:xfrm>
            <a:off x="958283" y="5195578"/>
            <a:ext cx="231418" cy="231418"/>
          </a:xfrm>
          <a:prstGeom prst="rect">
            <a:avLst/>
          </a:prstGeom>
          <a:noFill/>
          <a:ln/>
        </p:spPr>
        <p:txBody>
          <a:bodyPr wrap="square" lIns="45720" tIns="91440" rIns="91440" bIns="45720" rtlCol="0" anchor="ctr"/>
          <a:lstStyle/>
          <a:p>
            <a:pPr>
              <a:lnSpc>
                <a:spcPct val="100000"/>
              </a:lnSpc>
            </a:pPr>
            <a:endParaRPr lang="en-US" sz="1600" dirty="0"/>
          </a:p>
        </p:txBody>
      </p:sp>
      <p:sp>
        <p:nvSpPr>
          <p:cNvPr id="24" name="Shape 22"/>
          <p:cNvSpPr/>
          <p:nvPr/>
        </p:nvSpPr>
        <p:spPr>
          <a:xfrm>
            <a:off x="958283" y="5424178"/>
            <a:ext cx="231418" cy="231418"/>
          </a:xfrm>
          <a:prstGeom prst="rect">
            <a:avLst/>
          </a:prstGeom>
          <a:solidFill>
            <a:srgbClr val="EBFDF5"/>
          </a:solidFill>
          <a:ln/>
        </p:spPr>
      </p:sp>
      <p:sp>
        <p:nvSpPr>
          <p:cNvPr id="25" name="Text 23"/>
          <p:cNvSpPr/>
          <p:nvPr/>
        </p:nvSpPr>
        <p:spPr>
          <a:xfrm>
            <a:off x="958283" y="5424178"/>
            <a:ext cx="231418" cy="231418"/>
          </a:xfrm>
          <a:prstGeom prst="rect">
            <a:avLst/>
          </a:prstGeom>
          <a:noFill/>
          <a:ln/>
        </p:spPr>
        <p:txBody>
          <a:bodyPr wrap="square" lIns="45720" tIns="91440" rIns="91440" bIns="45720" rtlCol="0" anchor="ctr"/>
          <a:lstStyle/>
          <a:p>
            <a:pPr>
              <a:lnSpc>
                <a:spcPct val="100000"/>
              </a:lnSpc>
            </a:pPr>
            <a:endParaRPr lang="en-US" sz="1600" dirty="0"/>
          </a:p>
        </p:txBody>
      </p:sp>
      <p:sp>
        <p:nvSpPr>
          <p:cNvPr id="26" name="Shape 24"/>
          <p:cNvSpPr/>
          <p:nvPr/>
        </p:nvSpPr>
        <p:spPr>
          <a:xfrm>
            <a:off x="958283" y="5641348"/>
            <a:ext cx="231418" cy="231418"/>
          </a:xfrm>
          <a:prstGeom prst="rect">
            <a:avLst/>
          </a:prstGeom>
          <a:solidFill>
            <a:srgbClr val="F1FEF8"/>
          </a:solidFill>
          <a:ln/>
        </p:spPr>
      </p:sp>
      <p:sp>
        <p:nvSpPr>
          <p:cNvPr id="27" name="Text 25"/>
          <p:cNvSpPr/>
          <p:nvPr/>
        </p:nvSpPr>
        <p:spPr>
          <a:xfrm>
            <a:off x="958283" y="5641348"/>
            <a:ext cx="231418" cy="231418"/>
          </a:xfrm>
          <a:prstGeom prst="rect">
            <a:avLst/>
          </a:prstGeom>
          <a:noFill/>
          <a:ln/>
        </p:spPr>
        <p:txBody>
          <a:bodyPr wrap="square" lIns="45720" tIns="91440" rIns="91440" bIns="45720" rtlCol="0" anchor="ctr"/>
          <a:lstStyle/>
          <a:p>
            <a:pPr>
              <a:lnSpc>
                <a:spcPct val="100000"/>
              </a:lnSpc>
            </a:pPr>
            <a:endParaRPr lang="en-US" sz="1600" dirty="0"/>
          </a:p>
        </p:txBody>
      </p:sp>
      <p:sp>
        <p:nvSpPr>
          <p:cNvPr id="28" name="Shape 26"/>
          <p:cNvSpPr/>
          <p:nvPr/>
        </p:nvSpPr>
        <p:spPr>
          <a:xfrm>
            <a:off x="958283" y="5858518"/>
            <a:ext cx="231418" cy="231418"/>
          </a:xfrm>
          <a:prstGeom prst="rect">
            <a:avLst/>
          </a:prstGeom>
          <a:solidFill>
            <a:srgbClr val="F7FFFB"/>
          </a:solidFill>
          <a:ln/>
        </p:spPr>
      </p:sp>
      <p:sp>
        <p:nvSpPr>
          <p:cNvPr id="29" name="Text 27"/>
          <p:cNvSpPr/>
          <p:nvPr/>
        </p:nvSpPr>
        <p:spPr>
          <a:xfrm>
            <a:off x="958283" y="5858518"/>
            <a:ext cx="231418" cy="231418"/>
          </a:xfrm>
          <a:prstGeom prst="rect">
            <a:avLst/>
          </a:prstGeom>
          <a:noFill/>
          <a:ln/>
        </p:spPr>
        <p:txBody>
          <a:bodyPr wrap="square" lIns="45720" tIns="91440" rIns="91440" bIns="45720" rtlCol="0" anchor="ctr"/>
          <a:lstStyle/>
          <a:p>
            <a:pPr>
              <a:lnSpc>
                <a:spcPct val="100000"/>
              </a:lnSpc>
            </a:pPr>
            <a:endParaRPr lang="en-US" sz="1600" dirty="0"/>
          </a:p>
        </p:txBody>
      </p:sp>
      <p:sp>
        <p:nvSpPr>
          <p:cNvPr id="30" name="Shape 28"/>
          <p:cNvSpPr/>
          <p:nvPr/>
        </p:nvSpPr>
        <p:spPr>
          <a:xfrm>
            <a:off x="958283" y="3299530"/>
            <a:ext cx="231418" cy="231418"/>
          </a:xfrm>
          <a:prstGeom prst="rect">
            <a:avLst/>
          </a:prstGeom>
          <a:solidFill>
            <a:srgbClr val="9DB4E0"/>
          </a:solidFill>
          <a:ln/>
        </p:spPr>
      </p:sp>
      <p:sp>
        <p:nvSpPr>
          <p:cNvPr id="31" name="Text 29"/>
          <p:cNvSpPr/>
          <p:nvPr/>
        </p:nvSpPr>
        <p:spPr>
          <a:xfrm>
            <a:off x="958283" y="3299530"/>
            <a:ext cx="231418" cy="231418"/>
          </a:xfrm>
          <a:prstGeom prst="rect">
            <a:avLst/>
          </a:prstGeom>
          <a:noFill/>
          <a:ln/>
        </p:spPr>
        <p:txBody>
          <a:bodyPr wrap="square" lIns="45720" tIns="91440" rIns="91440" bIns="45720" rtlCol="0" anchor="ctr"/>
          <a:lstStyle/>
          <a:p>
            <a:pPr>
              <a:lnSpc>
                <a:spcPct val="100000"/>
              </a:lnSpc>
            </a:pPr>
            <a:endParaRPr lang="en-US" sz="1600" dirty="0"/>
          </a:p>
        </p:txBody>
      </p:sp>
      <p:pic>
        <p:nvPicPr>
          <p:cNvPr id="32" name="Image 0" descr="https://kimi-img.moonshot.cn/pub/slides/slides_tmpl/image/25-08-27-20:09:03-d2nfanp8bjvh7rlj0i1g.png"/>
          <p:cNvPicPr>
            <a:picLocks noChangeAspect="1"/>
          </p:cNvPicPr>
          <p:nvPr/>
        </p:nvPicPr>
        <p:blipFill>
          <a:blip r:embed="rId3"/>
          <a:stretch>
            <a:fillRect/>
          </a:stretch>
        </p:blipFill>
        <p:spPr>
          <a:xfrm>
            <a:off x="5047547" y="904096"/>
            <a:ext cx="6311900" cy="5511800"/>
          </a:xfrm>
          <a:prstGeom prst="rect">
            <a:avLst/>
          </a:prstGeom>
        </p:spPr>
      </p:pic>
      <p:pic>
        <p:nvPicPr>
          <p:cNvPr id="33" name="Image 1" descr="https://kimi-img.moonshot.cn/pub/slides/slides_tmpl/image/25-08-27-20:09:03-d2nfanp8bjvh7rlj0i00.png"/>
          <p:cNvPicPr>
            <a:picLocks noChangeAspect="1"/>
          </p:cNvPicPr>
          <p:nvPr/>
        </p:nvPicPr>
        <p:blipFill>
          <a:blip r:embed="rId4"/>
          <a:srcRect b="95767"/>
          <a:stretch/>
        </p:blipFill>
        <p:spPr>
          <a:xfrm>
            <a:off x="263525" y="741045"/>
            <a:ext cx="3962400" cy="95696"/>
          </a:xfrm>
          <a:prstGeom prst="rect">
            <a:avLst/>
          </a:prstGeom>
        </p:spPr>
      </p:pic>
      <p:sp>
        <p:nvSpPr>
          <p:cNvPr id="34" name="Text 30"/>
          <p:cNvSpPr/>
          <p:nvPr/>
        </p:nvSpPr>
        <p:spPr>
          <a:xfrm>
            <a:off x="1055370" y="1233805"/>
            <a:ext cx="4064000" cy="829945"/>
          </a:xfrm>
          <a:prstGeom prst="rect">
            <a:avLst/>
          </a:prstGeom>
          <a:noFill/>
          <a:ln/>
        </p:spPr>
        <p:txBody>
          <a:bodyPr wrap="square" lIns="91440" tIns="45720" rIns="91440" bIns="45720" rtlCol="0" anchor="t">
            <a:spAutoFit/>
          </a:bodyPr>
          <a:lstStyle/>
          <a:p>
            <a:pPr>
              <a:lnSpc>
                <a:spcPct val="100000"/>
              </a:lnSpc>
            </a:pPr>
            <a:r>
              <a:rPr lang="en-US" sz="4800" b="1" dirty="0">
                <a:solidFill>
                  <a:srgbClr val="000000"/>
                </a:solidFill>
                <a:latin typeface="Source Han Sans SC" pitchFamily="34" charset="0"/>
                <a:ea typeface="Source Han Sans SC" pitchFamily="34" charset="-122"/>
                <a:cs typeface="Source Han Sans SC" pitchFamily="34" charset="-120"/>
              </a:rPr>
              <a:t>CONTENTS</a:t>
            </a:r>
            <a:endParaRPr lang="en-US" sz="1600" dirty="0"/>
          </a:p>
        </p:txBody>
      </p:sp>
      <p:sp>
        <p:nvSpPr>
          <p:cNvPr id="35" name="Text 31"/>
          <p:cNvSpPr/>
          <p:nvPr/>
        </p:nvSpPr>
        <p:spPr>
          <a:xfrm>
            <a:off x="5693789" y="2809287"/>
            <a:ext cx="2910694" cy="615553"/>
          </a:xfrm>
          <a:prstGeom prst="rect">
            <a:avLst/>
          </a:prstGeom>
          <a:noFill/>
          <a:ln/>
        </p:spPr>
        <p:txBody>
          <a:bodyPr wrap="square" lIns="91440" tIns="45720" rIns="91440" bIns="45720" rtlCol="0" anchor="t">
            <a:spAutoFit/>
          </a:bodyPr>
          <a:lstStyle/>
          <a:p>
            <a:pPr>
              <a:lnSpc>
                <a:spcPct val="100000"/>
              </a:lnSpc>
            </a:pPr>
            <a:r>
              <a:rPr lang="en-US" sz="1600" dirty="0">
                <a:solidFill>
                  <a:srgbClr val="000000"/>
                </a:solidFill>
                <a:latin typeface="Source Han Sans SC" pitchFamily="34" charset="0"/>
                <a:ea typeface="Source Han Sans SC" pitchFamily="34" charset="-122"/>
                <a:cs typeface="Source Han Sans SC" pitchFamily="34" charset="-120"/>
              </a:rPr>
              <a:t>Kick-off &amp; Recap</a:t>
            </a:r>
            <a:endParaRPr lang="en-US" sz="1600" dirty="0"/>
          </a:p>
        </p:txBody>
      </p:sp>
      <p:sp>
        <p:nvSpPr>
          <p:cNvPr id="36" name="Text 32"/>
          <p:cNvSpPr/>
          <p:nvPr/>
        </p:nvSpPr>
        <p:spPr>
          <a:xfrm>
            <a:off x="9017954" y="2809287"/>
            <a:ext cx="2910694" cy="584775"/>
          </a:xfrm>
          <a:prstGeom prst="rect">
            <a:avLst/>
          </a:prstGeom>
          <a:noFill/>
          <a:ln/>
        </p:spPr>
        <p:txBody>
          <a:bodyPr wrap="square" lIns="91440" tIns="45720" rIns="91440" bIns="45720" rtlCol="0" anchor="t">
            <a:spAutoFit/>
          </a:bodyPr>
          <a:lstStyle/>
          <a:p>
            <a:pPr>
              <a:lnSpc>
                <a:spcPct val="100000"/>
              </a:lnSpc>
            </a:pPr>
            <a:r>
              <a:rPr lang="en-US" sz="1600" dirty="0">
                <a:solidFill>
                  <a:srgbClr val="000000"/>
                </a:solidFill>
                <a:latin typeface="Source Han Sans SC" pitchFamily="34" charset="0"/>
                <a:ea typeface="Source Han Sans SC" pitchFamily="34" charset="-122"/>
                <a:cs typeface="Source Han Sans SC" pitchFamily="34" charset="-120"/>
              </a:rPr>
              <a:t>Join Fundamentals</a:t>
            </a:r>
            <a:endParaRPr lang="en-US" sz="1600" dirty="0"/>
          </a:p>
        </p:txBody>
      </p:sp>
      <p:sp>
        <p:nvSpPr>
          <p:cNvPr id="37" name="Text 33"/>
          <p:cNvSpPr/>
          <p:nvPr/>
        </p:nvSpPr>
        <p:spPr>
          <a:xfrm>
            <a:off x="5693789" y="5752134"/>
            <a:ext cx="2910694" cy="615553"/>
          </a:xfrm>
          <a:prstGeom prst="rect">
            <a:avLst/>
          </a:prstGeom>
          <a:noFill/>
          <a:ln/>
        </p:spPr>
        <p:txBody>
          <a:bodyPr wrap="square" lIns="91440" tIns="45720" rIns="91440" bIns="45720" rtlCol="0" anchor="t">
            <a:spAutoFit/>
          </a:bodyPr>
          <a:lstStyle/>
          <a:p>
            <a:pPr>
              <a:lnSpc>
                <a:spcPct val="100000"/>
              </a:lnSpc>
            </a:pPr>
            <a:r>
              <a:rPr lang="en-US" sz="1600" dirty="0">
                <a:solidFill>
                  <a:srgbClr val="000000"/>
                </a:solidFill>
                <a:latin typeface="Source Han Sans SC" pitchFamily="34" charset="0"/>
                <a:ea typeface="Source Han Sans SC" pitchFamily="34" charset="-122"/>
                <a:cs typeface="Source Han Sans SC" pitchFamily="34" charset="-120"/>
              </a:rPr>
              <a:t>Subquery Power</a:t>
            </a:r>
            <a:endParaRPr lang="en-US" sz="1600" dirty="0"/>
          </a:p>
        </p:txBody>
      </p:sp>
      <p:sp>
        <p:nvSpPr>
          <p:cNvPr id="38" name="Text 34"/>
          <p:cNvSpPr/>
          <p:nvPr/>
        </p:nvSpPr>
        <p:spPr>
          <a:xfrm>
            <a:off x="9008488" y="5752134"/>
            <a:ext cx="2910694" cy="615553"/>
          </a:xfrm>
          <a:prstGeom prst="rect">
            <a:avLst/>
          </a:prstGeom>
          <a:noFill/>
          <a:ln/>
        </p:spPr>
        <p:txBody>
          <a:bodyPr wrap="square" lIns="91440" tIns="45720" rIns="91440" bIns="45720" rtlCol="0" anchor="t">
            <a:spAutoFit/>
          </a:bodyPr>
          <a:lstStyle/>
          <a:p>
            <a:pPr>
              <a:lnSpc>
                <a:spcPct val="100000"/>
              </a:lnSpc>
            </a:pPr>
            <a:r>
              <a:rPr lang="en-US" sz="1600" dirty="0">
                <a:solidFill>
                  <a:srgbClr val="000000"/>
                </a:solidFill>
                <a:latin typeface="Source Han Sans SC" pitchFamily="34" charset="0"/>
                <a:ea typeface="Source Han Sans SC" pitchFamily="34" charset="-122"/>
                <a:cs typeface="Source Han Sans SC" pitchFamily="34" charset="-120"/>
              </a:rPr>
              <a:t>Practice &amp; Wrap-up</a:t>
            </a:r>
            <a:endParaRPr lang="en-US" sz="1600"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51180" y="2952115"/>
            <a:ext cx="5887085" cy="953135"/>
          </a:xfrm>
          <a:prstGeom prst="rect">
            <a:avLst/>
          </a:prstGeom>
          <a:noFill/>
          <a:ln/>
        </p:spPr>
        <p:txBody>
          <a:bodyPr wrap="square" lIns="91440" tIns="45720" rIns="91440" bIns="45720" rtlCol="0" anchor="t">
            <a:spAutoFit/>
          </a:bodyPr>
          <a:lstStyle/>
          <a:p>
            <a:pPr>
              <a:lnSpc>
                <a:spcPct val="100000"/>
              </a:lnSpc>
            </a:pPr>
            <a:r>
              <a:rPr lang="en-US" sz="2800" dirty="0">
                <a:solidFill>
                  <a:srgbClr val="000000"/>
                </a:solidFill>
                <a:latin typeface="Source Han Sans SC" pitchFamily="34" charset="0"/>
                <a:ea typeface="Source Han Sans SC" pitchFamily="34" charset="-122"/>
                <a:cs typeface="Source Han Sans SC" pitchFamily="34" charset="-120"/>
              </a:rPr>
              <a:t>Kick-off &amp; Recap</a:t>
            </a:r>
            <a:endParaRPr lang="en-US" sz="1600" dirty="0"/>
          </a:p>
        </p:txBody>
      </p:sp>
      <p:sp>
        <p:nvSpPr>
          <p:cNvPr id="3" name="Shape 1"/>
          <p:cNvSpPr/>
          <p:nvPr/>
        </p:nvSpPr>
        <p:spPr>
          <a:xfrm>
            <a:off x="711202" y="786574"/>
            <a:ext cx="3434078" cy="0"/>
          </a:xfrm>
          <a:prstGeom prst="line">
            <a:avLst/>
          </a:prstGeom>
          <a:noFill/>
          <a:ln w="15875">
            <a:solidFill>
              <a:srgbClr val="000000"/>
            </a:solidFill>
            <a:prstDash val="solid"/>
            <a:headEnd type="none"/>
            <a:tailEnd type="none"/>
          </a:ln>
        </p:spPr>
      </p:sp>
      <p:pic>
        <p:nvPicPr>
          <p:cNvPr id="4" name="Image 0" descr="https://kimi-img.moonshot.cn/pub/slides/slides_tmpl/image/25-08-27-20:09:03-d2nfanp8bjvh7rlj0i40.jpg"/>
          <p:cNvPicPr>
            <a:picLocks noChangeAspect="1"/>
          </p:cNvPicPr>
          <p:nvPr/>
        </p:nvPicPr>
        <p:blipFill>
          <a:blip r:embed="rId3"/>
          <a:stretch>
            <a:fillRect/>
          </a:stretch>
        </p:blipFill>
        <p:spPr>
          <a:xfrm>
            <a:off x="8046721" y="1008555"/>
            <a:ext cx="3553129" cy="5196386"/>
          </a:xfrm>
          <a:prstGeom prst="rect">
            <a:avLst/>
          </a:prstGeom>
        </p:spPr>
      </p:pic>
      <p:pic>
        <p:nvPicPr>
          <p:cNvPr id="5" name="Image 1" descr="https://kimi-img.moonshot.cn/pub/slides/slides_tmpl/image/25-08-27-20:09:03-d2nfanp8bjvh7rlj0i3g.png"/>
          <p:cNvPicPr>
            <a:picLocks noChangeAspect="1"/>
          </p:cNvPicPr>
          <p:nvPr/>
        </p:nvPicPr>
        <p:blipFill>
          <a:blip r:embed="rId4"/>
          <a:srcRect r="60768" b="-4844"/>
          <a:stretch/>
        </p:blipFill>
        <p:spPr>
          <a:xfrm>
            <a:off x="551180" y="404495"/>
            <a:ext cx="4320336" cy="503981"/>
          </a:xfrm>
          <a:prstGeom prst="rect">
            <a:avLst/>
          </a:prstGeom>
        </p:spPr>
      </p:pic>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3185" y="-99695"/>
            <a:ext cx="12440920" cy="7056755"/>
          </a:xfrm>
          <a:prstGeom prst="rect">
            <a:avLst/>
          </a:prstGeom>
          <a:solidFill>
            <a:srgbClr val="161616"/>
          </a:solidFill>
          <a:ln/>
        </p:spPr>
      </p:sp>
      <p:sp>
        <p:nvSpPr>
          <p:cNvPr id="3" name="Text 1"/>
          <p:cNvSpPr/>
          <p:nvPr/>
        </p:nvSpPr>
        <p:spPr>
          <a:xfrm>
            <a:off x="-83185" y="-99695"/>
            <a:ext cx="12440920" cy="7056755"/>
          </a:xfrm>
          <a:prstGeom prst="rect">
            <a:avLst/>
          </a:prstGeom>
          <a:noFill/>
          <a:ln/>
        </p:spPr>
        <p:txBody>
          <a:bodyPr wrap="square" lIns="45720" tIns="91440" rIns="91440" bIns="45720" rtlCol="0" anchor="ctr"/>
          <a:lstStyle/>
          <a:p>
            <a:pPr>
              <a:lnSpc>
                <a:spcPct val="100000"/>
              </a:lnSpc>
            </a:pPr>
            <a:endParaRPr lang="en-US" sz="1600" dirty="0"/>
          </a:p>
        </p:txBody>
      </p:sp>
      <p:sp>
        <p:nvSpPr>
          <p:cNvPr id="4" name="Shape 2"/>
          <p:cNvSpPr/>
          <p:nvPr/>
        </p:nvSpPr>
        <p:spPr>
          <a:xfrm>
            <a:off x="2135505" y="546100"/>
            <a:ext cx="3051810" cy="3366770"/>
          </a:xfrm>
          <a:prstGeom prst="rect">
            <a:avLst/>
          </a:prstGeom>
          <a:solidFill>
            <a:srgbClr val="FFFFFF"/>
          </a:solidFill>
          <a:ln/>
        </p:spPr>
      </p:sp>
      <p:sp>
        <p:nvSpPr>
          <p:cNvPr id="5" name="Text 3"/>
          <p:cNvSpPr/>
          <p:nvPr/>
        </p:nvSpPr>
        <p:spPr>
          <a:xfrm>
            <a:off x="2135505" y="546100"/>
            <a:ext cx="3051810" cy="3366770"/>
          </a:xfrm>
          <a:prstGeom prst="rect">
            <a:avLst/>
          </a:prstGeom>
          <a:noFill/>
          <a:ln/>
        </p:spPr>
        <p:txBody>
          <a:bodyPr wrap="square" lIns="45720" tIns="91440" rIns="91440" bIns="45720" rtlCol="0" anchor="ctr"/>
          <a:lstStyle/>
          <a:p>
            <a:pPr>
              <a:lnSpc>
                <a:spcPct val="100000"/>
              </a:lnSpc>
            </a:pPr>
            <a:endParaRPr lang="en-US" sz="1600" dirty="0"/>
          </a:p>
        </p:txBody>
      </p:sp>
      <p:pic>
        <p:nvPicPr>
          <p:cNvPr id="6" name="Image 0" descr="https://kimi-img.moonshot.cn/pub/slides/slides_tmpl/image/25-08-27-20:09:11-d2nfapp8bjvh7rlj0ij0.jpg"/>
          <p:cNvPicPr>
            <a:picLocks noChangeAspect="1"/>
          </p:cNvPicPr>
          <p:nvPr/>
        </p:nvPicPr>
        <p:blipFill>
          <a:blip r:embed="rId3"/>
          <a:srcRect/>
          <a:stretch/>
        </p:blipFill>
        <p:spPr>
          <a:xfrm>
            <a:off x="-165752" y="832007"/>
            <a:ext cx="2254593" cy="2706833"/>
          </a:xfrm>
          <a:prstGeom prst="rect">
            <a:avLst/>
          </a:prstGeom>
        </p:spPr>
      </p:pic>
      <p:pic>
        <p:nvPicPr>
          <p:cNvPr id="7" name="Image 1" descr="https://kimi-img.moonshot.cn/pub/slides/slides_tmpl/image/25-08-27-20:09:11-d2nfapp8bjvh7rlj0ijg.jpg"/>
          <p:cNvPicPr>
            <a:picLocks noChangeAspect="1"/>
          </p:cNvPicPr>
          <p:nvPr/>
        </p:nvPicPr>
        <p:blipFill>
          <a:blip r:embed="rId4"/>
          <a:srcRect/>
          <a:stretch/>
        </p:blipFill>
        <p:spPr>
          <a:xfrm>
            <a:off x="5230462" y="832007"/>
            <a:ext cx="2254593" cy="2706833"/>
          </a:xfrm>
          <a:prstGeom prst="rect">
            <a:avLst/>
          </a:prstGeom>
        </p:spPr>
      </p:pic>
      <p:pic>
        <p:nvPicPr>
          <p:cNvPr id="8" name="Image 2" descr="https://kimi-img.moonshot.cn/pub/slides/slides_tmpl/image/25-08-27-20:09:11-d2nfapp8bjvh7rlj0ikg.jpg"/>
          <p:cNvPicPr>
            <a:picLocks noChangeAspect="1"/>
          </p:cNvPicPr>
          <p:nvPr/>
        </p:nvPicPr>
        <p:blipFill>
          <a:blip r:embed="rId5"/>
          <a:srcRect/>
          <a:stretch/>
        </p:blipFill>
        <p:spPr>
          <a:xfrm>
            <a:off x="7544745" y="832007"/>
            <a:ext cx="2254250" cy="2706834"/>
          </a:xfrm>
          <a:prstGeom prst="rect">
            <a:avLst/>
          </a:prstGeom>
        </p:spPr>
      </p:pic>
      <p:pic>
        <p:nvPicPr>
          <p:cNvPr id="9" name="Image 3" descr="https://kimi-img.moonshot.cn/pub/slides/slides_tmpl/image/25-08-27-20:09:11-d2nfapp8bjvh7rlj0il0.jpg"/>
          <p:cNvPicPr>
            <a:picLocks noChangeAspect="1"/>
          </p:cNvPicPr>
          <p:nvPr/>
        </p:nvPicPr>
        <p:blipFill>
          <a:blip r:embed="rId6"/>
          <a:srcRect/>
          <a:stretch/>
        </p:blipFill>
        <p:spPr>
          <a:xfrm>
            <a:off x="9858685" y="832007"/>
            <a:ext cx="2254250" cy="2706833"/>
          </a:xfrm>
          <a:prstGeom prst="rect">
            <a:avLst/>
          </a:prstGeom>
        </p:spPr>
      </p:pic>
      <p:sp>
        <p:nvSpPr>
          <p:cNvPr id="10" name="Shape 4"/>
          <p:cNvSpPr/>
          <p:nvPr/>
        </p:nvSpPr>
        <p:spPr>
          <a:xfrm>
            <a:off x="2178798" y="819083"/>
            <a:ext cx="2961707" cy="2719757"/>
          </a:xfrm>
          <a:prstGeom prst="rect">
            <a:avLst/>
          </a:prstGeom>
          <a:solidFill>
            <a:srgbClr val="FFFFFF">
              <a:alpha val="90980"/>
            </a:srgbClr>
          </a:solidFill>
          <a:ln/>
        </p:spPr>
      </p:sp>
      <p:sp>
        <p:nvSpPr>
          <p:cNvPr id="11" name="Text 5"/>
          <p:cNvSpPr/>
          <p:nvPr/>
        </p:nvSpPr>
        <p:spPr>
          <a:xfrm>
            <a:off x="2178798" y="819083"/>
            <a:ext cx="2961707" cy="2719757"/>
          </a:xfrm>
          <a:prstGeom prst="rect">
            <a:avLst/>
          </a:prstGeom>
          <a:noFill/>
          <a:ln/>
        </p:spPr>
        <p:txBody>
          <a:bodyPr wrap="square" lIns="45720" tIns="91440" rIns="91440" bIns="45720" rtlCol="0" anchor="ctr"/>
          <a:lstStyle/>
          <a:p>
            <a:pPr>
              <a:lnSpc>
                <a:spcPct val="100000"/>
              </a:lnSpc>
            </a:pPr>
            <a:endParaRPr lang="en-US" sz="1600" dirty="0"/>
          </a:p>
        </p:txBody>
      </p:sp>
      <p:sp>
        <p:nvSpPr>
          <p:cNvPr id="12" name="Text 6"/>
          <p:cNvSpPr/>
          <p:nvPr/>
        </p:nvSpPr>
        <p:spPr>
          <a:xfrm>
            <a:off x="592465" y="4391794"/>
            <a:ext cx="3896724" cy="1949450"/>
          </a:xfrm>
          <a:prstGeom prst="rect">
            <a:avLst/>
          </a:prstGeom>
          <a:noFill/>
          <a:ln/>
        </p:spPr>
        <p:txBody>
          <a:bodyPr wrap="square" lIns="91440" tIns="45720" rIns="91440" bIns="45720" rtlCol="0" anchor="t">
            <a:spAutoFit/>
          </a:bodyPr>
          <a:lstStyle/>
          <a:p>
            <a:pPr>
              <a:lnSpc>
                <a:spcPct val="100000"/>
              </a:lnSpc>
            </a:pPr>
            <a:r>
              <a:rPr lang="en-US" sz="3600" dirty="0">
                <a:solidFill>
                  <a:srgbClr val="C2F5E1"/>
                </a:solidFill>
                <a:latin typeface="Source Han Sans SC" pitchFamily="34" charset="0"/>
                <a:ea typeface="Source Han Sans SC" pitchFamily="34" charset="-122"/>
                <a:cs typeface="Source Han Sans SC" pitchFamily="34" charset="-120"/>
              </a:rPr>
              <a:t>Welcome to Joins &amp; Subqueries</a:t>
            </a:r>
            <a:endParaRPr lang="en-US" sz="1600" dirty="0"/>
          </a:p>
        </p:txBody>
      </p:sp>
      <p:sp>
        <p:nvSpPr>
          <p:cNvPr id="13" name="Shape 7"/>
          <p:cNvSpPr/>
          <p:nvPr/>
        </p:nvSpPr>
        <p:spPr>
          <a:xfrm>
            <a:off x="4439563" y="3320027"/>
            <a:ext cx="747408" cy="578224"/>
          </a:xfrm>
          <a:prstGeom prst="rect">
            <a:avLst/>
          </a:prstGeom>
          <a:solidFill>
            <a:srgbClr val="C2F5E1"/>
          </a:solidFill>
          <a:ln/>
        </p:spPr>
      </p:sp>
      <p:sp>
        <p:nvSpPr>
          <p:cNvPr id="14" name="Text 8"/>
          <p:cNvSpPr/>
          <p:nvPr/>
        </p:nvSpPr>
        <p:spPr>
          <a:xfrm>
            <a:off x="4439563" y="3320027"/>
            <a:ext cx="747408" cy="578224"/>
          </a:xfrm>
          <a:prstGeom prst="rect">
            <a:avLst/>
          </a:prstGeom>
          <a:noFill/>
          <a:ln/>
        </p:spPr>
        <p:txBody>
          <a:bodyPr wrap="square" lIns="45720" tIns="91440" rIns="91440" bIns="45720" rtlCol="0" anchor="ctr"/>
          <a:lstStyle/>
          <a:p>
            <a:pPr>
              <a:lnSpc>
                <a:spcPct val="100000"/>
              </a:lnSpc>
            </a:pPr>
            <a:endParaRPr lang="en-US" sz="1600" dirty="0"/>
          </a:p>
        </p:txBody>
      </p:sp>
      <p:sp>
        <p:nvSpPr>
          <p:cNvPr id="15" name="Shape 9"/>
          <p:cNvSpPr/>
          <p:nvPr/>
        </p:nvSpPr>
        <p:spPr>
          <a:xfrm>
            <a:off x="4707858" y="3623227"/>
            <a:ext cx="288032" cy="0"/>
          </a:xfrm>
          <a:prstGeom prst="straightConnector1">
            <a:avLst/>
          </a:prstGeom>
          <a:noFill/>
          <a:ln w="19050">
            <a:solidFill>
              <a:srgbClr val="000000"/>
            </a:solidFill>
            <a:prstDash val="solid"/>
            <a:headEnd type="none"/>
            <a:tailEnd type="triangle"/>
          </a:ln>
        </p:spPr>
      </p:sp>
      <p:sp>
        <p:nvSpPr>
          <p:cNvPr id="16" name="Text 10"/>
          <p:cNvSpPr/>
          <p:nvPr/>
        </p:nvSpPr>
        <p:spPr>
          <a:xfrm>
            <a:off x="2237411" y="755209"/>
            <a:ext cx="2831340" cy="270867"/>
          </a:xfrm>
          <a:prstGeom prst="rect">
            <a:avLst/>
          </a:prstGeom>
          <a:noFill/>
          <a:ln/>
        </p:spPr>
        <p:txBody>
          <a:bodyPr wrap="square" lIns="91440" tIns="45720" rIns="91440" bIns="45720" rtlCol="0" anchor="t">
            <a:spAutoFit/>
          </a:bodyPr>
          <a:lstStyle/>
          <a:p>
            <a:pPr>
              <a:lnSpc>
                <a:spcPct val="100000"/>
              </a:lnSpc>
            </a:pPr>
            <a:r>
              <a:rPr lang="en-US" sz="1600" dirty="0">
                <a:solidFill>
                  <a:srgbClr val="000000"/>
                </a:solidFill>
                <a:latin typeface="Source Han Sans SC" pitchFamily="34" charset="0"/>
                <a:ea typeface="Source Han Sans SC" pitchFamily="34" charset="-122"/>
                <a:cs typeface="Source Han Sans SC" pitchFamily="34" charset="-120"/>
              </a:rPr>
              <a:t>Day 4 Focus</a:t>
            </a:r>
            <a:endParaRPr lang="en-US" sz="1600" dirty="0"/>
          </a:p>
        </p:txBody>
      </p:sp>
      <p:sp>
        <p:nvSpPr>
          <p:cNvPr id="17" name="Text 11"/>
          <p:cNvSpPr/>
          <p:nvPr/>
        </p:nvSpPr>
        <p:spPr>
          <a:xfrm>
            <a:off x="2237105" y="1228090"/>
            <a:ext cx="2679065" cy="1941195"/>
          </a:xfrm>
          <a:prstGeom prst="rect">
            <a:avLst/>
          </a:prstGeom>
          <a:noFill/>
          <a:ln/>
        </p:spPr>
        <p:txBody>
          <a:bodyPr wrap="square" lIns="91440" tIns="45720" rIns="91440" bIns="45720" rtlCol="0" anchor="t"/>
          <a:lstStyle/>
          <a:p>
            <a:pPr>
              <a:lnSpc>
                <a:spcPct val="100000"/>
              </a:lnSpc>
            </a:pPr>
            <a:r>
              <a:rPr lang="en-US" sz="1600" dirty="0">
                <a:solidFill>
                  <a:srgbClr val="000000"/>
                </a:solidFill>
                <a:latin typeface="Source Han Sans SC Normal" pitchFamily="34" charset="0"/>
                <a:ea typeface="Source Han Sans SC Normal" pitchFamily="34" charset="-122"/>
                <a:cs typeface="Source Han Sans SC Normal" pitchFamily="34" charset="-120"/>
              </a:rPr>
              <a:t>Today, we dive into the powerful world of SQL joins and subqueries. These tools enable you to combine data from multiple tables and perform complex data retrieval tasks, unlocking the full potential of relational databases.</a:t>
            </a:r>
            <a:endParaRPr lang="en-US" sz="1600" dirty="0"/>
          </a:p>
        </p:txBody>
      </p:sp>
      <p:sp>
        <p:nvSpPr>
          <p:cNvPr id="18" name="Text 12"/>
          <p:cNvSpPr/>
          <p:nvPr/>
        </p:nvSpPr>
        <p:spPr>
          <a:xfrm>
            <a:off x="4932963" y="3962809"/>
            <a:ext cx="6482734" cy="270867"/>
          </a:xfrm>
          <a:prstGeom prst="rect">
            <a:avLst/>
          </a:prstGeom>
          <a:noFill/>
          <a:ln/>
        </p:spPr>
        <p:txBody>
          <a:bodyPr wrap="square" lIns="91440" tIns="45720" rIns="91440" bIns="45720" rtlCol="0" anchor="t">
            <a:spAutoFit/>
          </a:bodyPr>
          <a:lstStyle/>
          <a:p>
            <a:pPr algn="r">
              <a:lnSpc>
                <a:spcPct val="100000"/>
              </a:lnSpc>
            </a:pPr>
            <a:r>
              <a:rPr lang="en-US" sz="1600" dirty="0">
                <a:solidFill>
                  <a:srgbClr val="C2F5E1"/>
                </a:solidFill>
                <a:latin typeface="Source Han Sans SC" pitchFamily="34" charset="0"/>
                <a:ea typeface="Source Han Sans SC" pitchFamily="34" charset="-122"/>
                <a:cs typeface="Source Han Sans SC" pitchFamily="34" charset="-120"/>
              </a:rPr>
              <a:t>Learning Outcomes</a:t>
            </a:r>
            <a:endParaRPr lang="en-US" sz="1600" dirty="0"/>
          </a:p>
        </p:txBody>
      </p:sp>
      <p:sp>
        <p:nvSpPr>
          <p:cNvPr id="19" name="Text 13"/>
          <p:cNvSpPr/>
          <p:nvPr/>
        </p:nvSpPr>
        <p:spPr>
          <a:xfrm>
            <a:off x="5069205" y="4277360"/>
            <a:ext cx="6346190" cy="1159867"/>
          </a:xfrm>
          <a:prstGeom prst="rect">
            <a:avLst/>
          </a:prstGeom>
          <a:noFill/>
          <a:ln/>
        </p:spPr>
        <p:txBody>
          <a:bodyPr wrap="square" lIns="91440" tIns="45720" rIns="91440" bIns="45720" rtlCol="0" anchor="t">
            <a:spAutoFit/>
          </a:bodyPr>
          <a:lstStyle/>
          <a:p>
            <a:pPr>
              <a:lnSpc>
                <a:spcPct val="100000"/>
              </a:lnSpc>
            </a:pPr>
            <a:r>
              <a:rPr lang="en-US" sz="1600" dirty="0">
                <a:solidFill>
                  <a:srgbClr val="FFFFFF"/>
                </a:solidFill>
                <a:latin typeface="Source Han Sans SC Normal" pitchFamily="34" charset="0"/>
                <a:ea typeface="Source Han Sans SC Normal" pitchFamily="34" charset="-122"/>
                <a:cs typeface="Source Han Sans SC Normal" pitchFamily="34" charset="-120"/>
              </a:rPr>
              <a:t>By the end of this session, you will master various join types to merge tables efficiently and use subqueries to solve intricate data problems. These skills are essential for advanced data analysis and reporting.</a:t>
            </a:r>
            <a:endParaRPr lang="en-US" sz="1600" dirty="0"/>
          </a:p>
        </p:txBody>
      </p:sp>
      <p:sp>
        <p:nvSpPr>
          <p:cNvPr id="20" name="Text 14"/>
          <p:cNvSpPr/>
          <p:nvPr/>
        </p:nvSpPr>
        <p:spPr>
          <a:xfrm>
            <a:off x="5004214" y="5309475"/>
            <a:ext cx="6482735" cy="270867"/>
          </a:xfrm>
          <a:prstGeom prst="rect">
            <a:avLst/>
          </a:prstGeom>
          <a:noFill/>
          <a:ln/>
        </p:spPr>
        <p:txBody>
          <a:bodyPr wrap="square" lIns="91440" tIns="45720" rIns="91440" bIns="45720" rtlCol="0" anchor="t">
            <a:spAutoFit/>
          </a:bodyPr>
          <a:lstStyle/>
          <a:p>
            <a:pPr algn="r">
              <a:lnSpc>
                <a:spcPct val="100000"/>
              </a:lnSpc>
            </a:pPr>
            <a:r>
              <a:rPr lang="en-US" sz="1600" dirty="0">
                <a:solidFill>
                  <a:srgbClr val="C2F5E1"/>
                </a:solidFill>
                <a:latin typeface="Source Han Sans SC" pitchFamily="34" charset="0"/>
                <a:ea typeface="Source Han Sans SC" pitchFamily="34" charset="-122"/>
                <a:cs typeface="Source Han Sans SC" pitchFamily="34" charset="-120"/>
              </a:rPr>
              <a:t>Practical Application</a:t>
            </a:r>
            <a:endParaRPr lang="en-US" sz="1600" dirty="0"/>
          </a:p>
        </p:txBody>
      </p:sp>
      <p:sp>
        <p:nvSpPr>
          <p:cNvPr id="21" name="Text 15"/>
          <p:cNvSpPr/>
          <p:nvPr/>
        </p:nvSpPr>
        <p:spPr>
          <a:xfrm>
            <a:off x="5172075" y="5572760"/>
            <a:ext cx="6314440" cy="1159867"/>
          </a:xfrm>
          <a:prstGeom prst="rect">
            <a:avLst/>
          </a:prstGeom>
          <a:noFill/>
          <a:ln/>
        </p:spPr>
        <p:txBody>
          <a:bodyPr wrap="square" lIns="91440" tIns="45720" rIns="91440" bIns="45720" rtlCol="0" anchor="t">
            <a:spAutoFit/>
          </a:bodyPr>
          <a:lstStyle/>
          <a:p>
            <a:pPr>
              <a:lnSpc>
                <a:spcPct val="100000"/>
              </a:lnSpc>
            </a:pPr>
            <a:r>
              <a:rPr lang="en-US" sz="1600" dirty="0">
                <a:solidFill>
                  <a:srgbClr val="FFFFFF"/>
                </a:solidFill>
                <a:latin typeface="Source Han Sans SC Normal" pitchFamily="34" charset="0"/>
                <a:ea typeface="Source Han Sans SC Normal" pitchFamily="34" charset="-122"/>
                <a:cs typeface="Source Han Sans SC Normal" pitchFamily="34" charset="-120"/>
              </a:rPr>
              <a:t>You will see real-world examples and practice exercises to solidify your understanding. Whether you’re working with employee records or sales data, these techniques will be invaluable.</a:t>
            </a:r>
            <a:endParaRPr lang="en-US" sz="1600"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7536" y="1196752"/>
            <a:ext cx="2042939" cy="2426331"/>
          </a:xfrm>
          <a:prstGeom prst="rect">
            <a:avLst/>
          </a:prstGeom>
          <a:solidFill>
            <a:srgbClr val="000000">
              <a:alpha val="0"/>
            </a:srgbClr>
          </a:solidFill>
          <a:ln w="85725">
            <a:gradFill flip="none" rotWithShape="1">
              <a:gsLst>
                <a:gs pos="0">
                  <a:srgbClr val="C2F5E1"/>
                </a:gs>
                <a:gs pos="20000">
                  <a:srgbClr val="AAC0E5"/>
                </a:gs>
                <a:gs pos="100000">
                  <a:srgbClr val="9DB4E1"/>
                </a:gs>
              </a:gsLst>
              <a:lin ang="7200000" scaled="1"/>
            </a:gradFill>
            <a:prstDash val="solid"/>
          </a:ln>
        </p:spPr>
      </p:sp>
      <p:sp>
        <p:nvSpPr>
          <p:cNvPr id="3" name="Text 1"/>
          <p:cNvSpPr/>
          <p:nvPr/>
        </p:nvSpPr>
        <p:spPr>
          <a:xfrm>
            <a:off x="877536" y="1196752"/>
            <a:ext cx="2042939" cy="2426331"/>
          </a:xfrm>
          <a:prstGeom prst="rect">
            <a:avLst/>
          </a:prstGeom>
          <a:noFill/>
          <a:ln/>
        </p:spPr>
        <p:txBody>
          <a:bodyPr wrap="square" lIns="45720" tIns="91440" rIns="91440" bIns="45720" rtlCol="0" anchor="ctr"/>
          <a:lstStyle/>
          <a:p>
            <a:pPr>
              <a:lnSpc>
                <a:spcPct val="100000"/>
              </a:lnSpc>
            </a:pPr>
            <a:endParaRPr lang="en-US" sz="1600" dirty="0"/>
          </a:p>
        </p:txBody>
      </p:sp>
      <p:pic>
        <p:nvPicPr>
          <p:cNvPr id="4" name="Image 0" descr="https://kimi-img.moonshot.cn/pub/slides/slides_tmpl/image/25-08-27-20:09:08-d2nfap18bjvh7rlj0ib0.jpg"/>
          <p:cNvPicPr>
            <a:picLocks noChangeAspect="1"/>
          </p:cNvPicPr>
          <p:nvPr/>
        </p:nvPicPr>
        <p:blipFill>
          <a:blip r:embed="rId3"/>
          <a:stretch>
            <a:fillRect/>
          </a:stretch>
        </p:blipFill>
        <p:spPr>
          <a:xfrm>
            <a:off x="1224873" y="1407713"/>
            <a:ext cx="3092012" cy="4677457"/>
          </a:xfrm>
          <a:prstGeom prst="rect">
            <a:avLst/>
          </a:prstGeom>
        </p:spPr>
      </p:pic>
      <p:sp>
        <p:nvSpPr>
          <p:cNvPr id="5" name="Text 2"/>
          <p:cNvSpPr/>
          <p:nvPr/>
        </p:nvSpPr>
        <p:spPr>
          <a:xfrm>
            <a:off x="4862830" y="764540"/>
            <a:ext cx="6449060" cy="611584"/>
          </a:xfrm>
          <a:prstGeom prst="rect">
            <a:avLst/>
          </a:prstGeom>
          <a:noFill/>
          <a:ln/>
        </p:spPr>
        <p:txBody>
          <a:bodyPr wrap="square" lIns="91440" tIns="45720" rIns="91440" bIns="45720" rtlCol="0" anchor="t">
            <a:spAutoFit/>
          </a:bodyPr>
          <a:lstStyle/>
          <a:p>
            <a:pPr algn="r">
              <a:lnSpc>
                <a:spcPct val="100000"/>
              </a:lnSpc>
            </a:pPr>
            <a:r>
              <a:rPr lang="en-US" sz="3600" dirty="0">
                <a:solidFill>
                  <a:srgbClr val="000000"/>
                </a:solidFill>
                <a:latin typeface="Source Han Sans SC" pitchFamily="34" charset="0"/>
                <a:ea typeface="Source Han Sans SC" pitchFamily="34" charset="-122"/>
                <a:cs typeface="Source Han Sans SC" pitchFamily="34" charset="-120"/>
              </a:rPr>
              <a:t>Course Progress Snapshot</a:t>
            </a:r>
            <a:endParaRPr lang="en-US" sz="1600" dirty="0"/>
          </a:p>
        </p:txBody>
      </p:sp>
      <p:sp>
        <p:nvSpPr>
          <p:cNvPr id="6" name="Text 3"/>
          <p:cNvSpPr/>
          <p:nvPr/>
        </p:nvSpPr>
        <p:spPr>
          <a:xfrm>
            <a:off x="5006070" y="2719643"/>
            <a:ext cx="6450272" cy="402034"/>
          </a:xfrm>
          <a:prstGeom prst="rect">
            <a:avLst/>
          </a:prstGeom>
          <a:noFill/>
          <a:ln/>
        </p:spPr>
        <p:txBody>
          <a:bodyPr wrap="square" lIns="91440" tIns="45720" rIns="91440" bIns="45720" rtlCol="0" anchor="t">
            <a:spAutoFit/>
          </a:bodyPr>
          <a:lstStyle/>
          <a:p>
            <a:pPr algn="r">
              <a:lnSpc>
                <a:spcPct val="100000"/>
              </a:lnSpc>
            </a:pPr>
            <a:r>
              <a:rPr lang="en-US" sz="2400" dirty="0">
                <a:solidFill>
                  <a:srgbClr val="000000"/>
                </a:solidFill>
                <a:latin typeface="Source Han Sans SC" pitchFamily="34" charset="0"/>
                <a:ea typeface="Source Han Sans SC" pitchFamily="34" charset="-122"/>
                <a:cs typeface="Source Han Sans SC" pitchFamily="34" charset="-120"/>
              </a:rPr>
              <a:t>Recap of Days 1-3</a:t>
            </a:r>
            <a:endParaRPr lang="en-US" sz="1600" dirty="0"/>
          </a:p>
        </p:txBody>
      </p:sp>
      <p:sp>
        <p:nvSpPr>
          <p:cNvPr id="7" name="Text 4"/>
          <p:cNvSpPr/>
          <p:nvPr/>
        </p:nvSpPr>
        <p:spPr>
          <a:xfrm>
            <a:off x="4742815" y="3141980"/>
            <a:ext cx="6713220" cy="1292225"/>
          </a:xfrm>
          <a:prstGeom prst="rect">
            <a:avLst/>
          </a:prstGeom>
          <a:noFill/>
          <a:ln/>
        </p:spPr>
        <p:txBody>
          <a:bodyPr wrap="square" lIns="91440" tIns="45720" rIns="91440" bIns="45720" rtlCol="0" anchor="t">
            <a:spAutoFit/>
          </a:bodyPr>
          <a:lstStyle/>
          <a:p>
            <a:pPr>
              <a:lnSpc>
                <a:spcPct val="100000"/>
              </a:lnSpc>
            </a:pPr>
            <a:r>
              <a:rPr lang="en-US" sz="1800" dirty="0">
                <a:solidFill>
                  <a:srgbClr val="000000"/>
                </a:solidFill>
                <a:latin typeface="Source Han Sans SC Normal" pitchFamily="34" charset="0"/>
                <a:ea typeface="Source Han Sans SC Normal" pitchFamily="34" charset="-122"/>
                <a:cs typeface="Source Han Sans SC Normal" pitchFamily="34" charset="-120"/>
              </a:rPr>
              <a:t>So far, we’ve covered MySQL installation, table creation, CRUD operations, and data types. You’ve built a solid foundation in managing and manipulating data within a single table.</a:t>
            </a:r>
            <a:endParaRPr lang="en-US" sz="1600" dirty="0"/>
          </a:p>
        </p:txBody>
      </p:sp>
      <p:sp>
        <p:nvSpPr>
          <p:cNvPr id="8" name="Text 5"/>
          <p:cNvSpPr/>
          <p:nvPr/>
        </p:nvSpPr>
        <p:spPr>
          <a:xfrm>
            <a:off x="5006070" y="4444266"/>
            <a:ext cx="6450272" cy="402034"/>
          </a:xfrm>
          <a:prstGeom prst="rect">
            <a:avLst/>
          </a:prstGeom>
          <a:noFill/>
          <a:ln/>
        </p:spPr>
        <p:txBody>
          <a:bodyPr wrap="square" lIns="91440" tIns="45720" rIns="91440" bIns="45720" rtlCol="0" anchor="t">
            <a:spAutoFit/>
          </a:bodyPr>
          <a:lstStyle/>
          <a:p>
            <a:pPr algn="r">
              <a:lnSpc>
                <a:spcPct val="100000"/>
              </a:lnSpc>
            </a:pPr>
            <a:r>
              <a:rPr lang="en-US" sz="2400" dirty="0">
                <a:solidFill>
                  <a:srgbClr val="000000"/>
                </a:solidFill>
                <a:latin typeface="Source Han Sans SC" pitchFamily="34" charset="0"/>
                <a:ea typeface="Source Han Sans SC" pitchFamily="34" charset="-122"/>
                <a:cs typeface="Source Han Sans SC" pitchFamily="34" charset="-120"/>
              </a:rPr>
              <a:t>Day 4 Objectives</a:t>
            </a:r>
            <a:endParaRPr lang="en-US" sz="1600" dirty="0"/>
          </a:p>
        </p:txBody>
      </p:sp>
      <p:sp>
        <p:nvSpPr>
          <p:cNvPr id="9" name="Text 6"/>
          <p:cNvSpPr/>
          <p:nvPr/>
        </p:nvSpPr>
        <p:spPr>
          <a:xfrm>
            <a:off x="4742815" y="4866640"/>
            <a:ext cx="6713220" cy="1292225"/>
          </a:xfrm>
          <a:prstGeom prst="rect">
            <a:avLst/>
          </a:prstGeom>
          <a:noFill/>
          <a:ln/>
        </p:spPr>
        <p:txBody>
          <a:bodyPr wrap="square" lIns="91440" tIns="45720" rIns="91440" bIns="45720" rtlCol="0" anchor="t">
            <a:spAutoFit/>
          </a:bodyPr>
          <a:lstStyle/>
          <a:p>
            <a:pPr>
              <a:lnSpc>
                <a:spcPct val="100000"/>
              </a:lnSpc>
            </a:pPr>
            <a:r>
              <a:rPr lang="en-US" sz="1800" dirty="0">
                <a:solidFill>
                  <a:srgbClr val="000000"/>
                </a:solidFill>
                <a:latin typeface="Source Han Sans SC Normal" pitchFamily="34" charset="0"/>
                <a:ea typeface="Source Han Sans SC Normal" pitchFamily="34" charset="-122"/>
                <a:cs typeface="Source Han Sans SC Normal" pitchFamily="34" charset="-120"/>
              </a:rPr>
              <a:t>Today, we’ll expand your skill set by exploring how to integrate data from multiple tables using joins and subqueries, preparing you for more complex database interactions.</a:t>
            </a:r>
            <a:endParaRPr lang="en-US" sz="1600" dirty="0"/>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51180" y="2952115"/>
            <a:ext cx="5887085" cy="471884"/>
          </a:xfrm>
          <a:prstGeom prst="rect">
            <a:avLst/>
          </a:prstGeom>
          <a:noFill/>
          <a:ln/>
        </p:spPr>
        <p:txBody>
          <a:bodyPr wrap="square" lIns="91440" tIns="45720" rIns="91440" bIns="45720" rtlCol="0" anchor="t">
            <a:spAutoFit/>
          </a:bodyPr>
          <a:lstStyle/>
          <a:p>
            <a:pPr>
              <a:lnSpc>
                <a:spcPct val="100000"/>
              </a:lnSpc>
            </a:pPr>
            <a:r>
              <a:rPr lang="en-US" sz="2800" dirty="0">
                <a:solidFill>
                  <a:srgbClr val="000000"/>
                </a:solidFill>
                <a:latin typeface="Source Han Sans SC" pitchFamily="34" charset="0"/>
                <a:ea typeface="Source Han Sans SC" pitchFamily="34" charset="-122"/>
                <a:cs typeface="Source Han Sans SC" pitchFamily="34" charset="-120"/>
              </a:rPr>
              <a:t>Join Fundamentals</a:t>
            </a:r>
            <a:endParaRPr lang="en-US" sz="1600" dirty="0"/>
          </a:p>
        </p:txBody>
      </p:sp>
      <p:sp>
        <p:nvSpPr>
          <p:cNvPr id="3" name="Shape 1"/>
          <p:cNvSpPr/>
          <p:nvPr/>
        </p:nvSpPr>
        <p:spPr>
          <a:xfrm>
            <a:off x="711202" y="786574"/>
            <a:ext cx="3434078" cy="0"/>
          </a:xfrm>
          <a:prstGeom prst="line">
            <a:avLst/>
          </a:prstGeom>
          <a:noFill/>
          <a:ln w="15875">
            <a:solidFill>
              <a:srgbClr val="000000"/>
            </a:solidFill>
            <a:prstDash val="solid"/>
            <a:headEnd type="none"/>
            <a:tailEnd type="none"/>
          </a:ln>
        </p:spPr>
      </p:sp>
      <p:pic>
        <p:nvPicPr>
          <p:cNvPr id="4" name="Image 0" descr="https://kimi-img.moonshot.cn/pub/slides/slides_tmpl/image/25-08-27-20:09:03-d2nfanp8bjvh7rlj0i40.jpg"/>
          <p:cNvPicPr>
            <a:picLocks noChangeAspect="1"/>
          </p:cNvPicPr>
          <p:nvPr/>
        </p:nvPicPr>
        <p:blipFill>
          <a:blip r:embed="rId3"/>
          <a:stretch>
            <a:fillRect/>
          </a:stretch>
        </p:blipFill>
        <p:spPr>
          <a:xfrm>
            <a:off x="8046721" y="1008555"/>
            <a:ext cx="3553129" cy="5196386"/>
          </a:xfrm>
          <a:prstGeom prst="rect">
            <a:avLst/>
          </a:prstGeom>
        </p:spPr>
      </p:pic>
      <p:pic>
        <p:nvPicPr>
          <p:cNvPr id="5" name="Image 1" descr="https://kimi-img.moonshot.cn/pub/slides/slides_tmpl/image/25-08-27-20:09:03-d2nfanp8bjvh7rlj0i3g.png"/>
          <p:cNvPicPr>
            <a:picLocks noChangeAspect="1"/>
          </p:cNvPicPr>
          <p:nvPr/>
        </p:nvPicPr>
        <p:blipFill>
          <a:blip r:embed="rId4"/>
          <a:srcRect r="60768" b="-4844"/>
          <a:stretch/>
        </p:blipFill>
        <p:spPr>
          <a:xfrm>
            <a:off x="551180" y="404495"/>
            <a:ext cx="4320336" cy="503981"/>
          </a:xfrm>
          <a:prstGeom prst="rect">
            <a:avLst/>
          </a:prstGeom>
        </p:spPr>
      </p:pic>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635" cy="6858000"/>
          </a:xfrm>
          <a:prstGeom prst="rect">
            <a:avLst/>
          </a:prstGeom>
          <a:solidFill>
            <a:srgbClr val="0D0D0D"/>
          </a:solidFill>
          <a:ln/>
        </p:spPr>
      </p:sp>
      <p:sp>
        <p:nvSpPr>
          <p:cNvPr id="3" name="Text 1"/>
          <p:cNvSpPr/>
          <p:nvPr/>
        </p:nvSpPr>
        <p:spPr>
          <a:xfrm>
            <a:off x="0" y="0"/>
            <a:ext cx="12192635" cy="6858000"/>
          </a:xfrm>
          <a:prstGeom prst="rect">
            <a:avLst/>
          </a:prstGeom>
          <a:noFill/>
          <a:ln/>
        </p:spPr>
        <p:txBody>
          <a:bodyPr wrap="square" lIns="45720" tIns="91440" rIns="91440" bIns="45720" rtlCol="0" anchor="ctr"/>
          <a:lstStyle/>
          <a:p>
            <a:pPr>
              <a:lnSpc>
                <a:spcPct val="100000"/>
              </a:lnSpc>
            </a:pPr>
            <a:endParaRPr lang="en-US" sz="1600" dirty="0"/>
          </a:p>
        </p:txBody>
      </p:sp>
      <p:sp>
        <p:nvSpPr>
          <p:cNvPr id="4" name="Shape 2"/>
          <p:cNvSpPr/>
          <p:nvPr/>
        </p:nvSpPr>
        <p:spPr>
          <a:xfrm>
            <a:off x="3215680" y="1182980"/>
            <a:ext cx="1584176" cy="3060160"/>
          </a:xfrm>
          <a:custGeom>
            <a:avLst/>
            <a:gdLst/>
            <a:ahLst/>
            <a:cxnLst/>
            <a:rect l="l" t="t" r="r" b="b"/>
            <a:pathLst>
              <a:path w="1584176" h="3060160">
                <a:moveTo>
                  <a:pt x="0" y="0"/>
                </a:moveTo>
                <a:lnTo>
                  <a:pt x="1584176" y="0"/>
                </a:lnTo>
                <a:lnTo>
                  <a:pt x="1584176" y="115069"/>
                </a:lnTo>
                <a:lnTo>
                  <a:pt x="1584176" y="249136"/>
                </a:lnTo>
                <a:lnTo>
                  <a:pt x="1584176" y="3060160"/>
                </a:lnTo>
                <a:lnTo>
                  <a:pt x="1160548" y="3060160"/>
                </a:lnTo>
                <a:lnTo>
                  <a:pt x="1160548" y="249136"/>
                </a:lnTo>
                <a:lnTo>
                  <a:pt x="0" y="249136"/>
                </a:lnTo>
                <a:close/>
              </a:path>
            </a:pathLst>
          </a:custGeom>
          <a:gradFill flip="none" rotWithShape="1">
            <a:gsLst>
              <a:gs pos="0">
                <a:srgbClr val="3A4F72"/>
              </a:gs>
              <a:gs pos="67000">
                <a:srgbClr val="7EA2AA"/>
              </a:gs>
              <a:gs pos="100000">
                <a:srgbClr val="C2F5E1"/>
              </a:gs>
            </a:gsLst>
            <a:lin ang="5400000" scaled="1"/>
          </a:gradFill>
          <a:ln/>
        </p:spPr>
      </p:sp>
      <p:sp>
        <p:nvSpPr>
          <p:cNvPr id="5" name="Text 3"/>
          <p:cNvSpPr/>
          <p:nvPr/>
        </p:nvSpPr>
        <p:spPr>
          <a:xfrm>
            <a:off x="3215680" y="1182980"/>
            <a:ext cx="1584176" cy="3060160"/>
          </a:xfrm>
          <a:prstGeom prst="rect">
            <a:avLst/>
          </a:prstGeom>
          <a:noFill/>
          <a:ln/>
        </p:spPr>
        <p:txBody>
          <a:bodyPr wrap="square" lIns="45720" tIns="91440" rIns="91440" bIns="45720" rtlCol="0" anchor="ctr"/>
          <a:lstStyle/>
          <a:p>
            <a:pPr>
              <a:lnSpc>
                <a:spcPct val="100000"/>
              </a:lnSpc>
            </a:pPr>
            <a:endParaRPr lang="en-US" sz="1600" dirty="0"/>
          </a:p>
        </p:txBody>
      </p:sp>
      <p:sp>
        <p:nvSpPr>
          <p:cNvPr id="6" name="Text 4"/>
          <p:cNvSpPr/>
          <p:nvPr/>
        </p:nvSpPr>
        <p:spPr>
          <a:xfrm>
            <a:off x="623392" y="4659597"/>
            <a:ext cx="4425189" cy="1280517"/>
          </a:xfrm>
          <a:prstGeom prst="rect">
            <a:avLst/>
          </a:prstGeom>
          <a:noFill/>
          <a:ln/>
        </p:spPr>
        <p:txBody>
          <a:bodyPr wrap="square" lIns="91440" tIns="45720" rIns="91440" bIns="45720" rtlCol="0" anchor="t">
            <a:spAutoFit/>
          </a:bodyPr>
          <a:lstStyle/>
          <a:p>
            <a:pPr>
              <a:lnSpc>
                <a:spcPct val="100000"/>
              </a:lnSpc>
            </a:pPr>
            <a:r>
              <a:rPr lang="en-US" sz="3600" dirty="0">
                <a:solidFill>
                  <a:srgbClr val="FFFFFF"/>
                </a:solidFill>
                <a:latin typeface="Source Han Sans SC" pitchFamily="34" charset="0"/>
                <a:ea typeface="Source Han Sans SC" pitchFamily="34" charset="-122"/>
                <a:cs typeface="Source Han Sans SC" pitchFamily="34" charset="-120"/>
              </a:rPr>
              <a:t>Why Relational Data Needs Joins</a:t>
            </a:r>
            <a:endParaRPr lang="en-US" sz="1600" dirty="0"/>
          </a:p>
        </p:txBody>
      </p:sp>
      <p:sp>
        <p:nvSpPr>
          <p:cNvPr id="7" name="Shape 5"/>
          <p:cNvSpPr/>
          <p:nvPr/>
        </p:nvSpPr>
        <p:spPr>
          <a:xfrm>
            <a:off x="8544272" y="843214"/>
            <a:ext cx="252602" cy="252616"/>
          </a:xfrm>
          <a:prstGeom prst="ellipse">
            <a:avLst/>
          </a:prstGeom>
          <a:solidFill>
            <a:srgbClr val="000000">
              <a:alpha val="0"/>
            </a:srgbClr>
          </a:solidFill>
          <a:ln w="76200">
            <a:solidFill>
              <a:srgbClr val="B5C7E7"/>
            </a:solidFill>
            <a:prstDash val="solid"/>
          </a:ln>
        </p:spPr>
      </p:sp>
      <p:sp>
        <p:nvSpPr>
          <p:cNvPr id="8" name="Text 6"/>
          <p:cNvSpPr/>
          <p:nvPr/>
        </p:nvSpPr>
        <p:spPr>
          <a:xfrm>
            <a:off x="8544272" y="843214"/>
            <a:ext cx="252602" cy="252616"/>
          </a:xfrm>
          <a:prstGeom prst="rect">
            <a:avLst/>
          </a:prstGeom>
          <a:noFill/>
          <a:ln/>
        </p:spPr>
        <p:txBody>
          <a:bodyPr wrap="square" lIns="0" tIns="0" rIns="0" bIns="0" rtlCol="0" anchor="ctr"/>
          <a:lstStyle/>
          <a:p>
            <a:pPr>
              <a:lnSpc>
                <a:spcPct val="100000"/>
              </a:lnSpc>
            </a:pPr>
            <a:endParaRPr lang="en-US" sz="1600" dirty="0"/>
          </a:p>
        </p:txBody>
      </p:sp>
      <p:pic>
        <p:nvPicPr>
          <p:cNvPr id="9" name="Image 0" descr="https://kimi-img.moonshot.cn/pub/slides/slides_tmpl/image/25-08-27-20:09:12-d2nfaq18bjvh7rlj0ip0.jpg"/>
          <p:cNvPicPr>
            <a:picLocks noChangeAspect="1"/>
          </p:cNvPicPr>
          <p:nvPr/>
        </p:nvPicPr>
        <p:blipFill>
          <a:blip r:embed="rId3"/>
          <a:stretch>
            <a:fillRect/>
          </a:stretch>
        </p:blipFill>
        <p:spPr>
          <a:xfrm>
            <a:off x="688636" y="1429732"/>
            <a:ext cx="1812087" cy="1180827"/>
          </a:xfrm>
          <a:prstGeom prst="rect">
            <a:avLst/>
          </a:prstGeom>
        </p:spPr>
      </p:pic>
      <p:pic>
        <p:nvPicPr>
          <p:cNvPr id="10" name="Image 1" descr="https://kimi-img.moonshot.cn/pub/slides/slides_tmpl/image/25-08-27-20:09:12-d2nfaq18bjvh7rlj0ipg.jpg"/>
          <p:cNvPicPr>
            <a:picLocks noChangeAspect="1"/>
          </p:cNvPicPr>
          <p:nvPr/>
        </p:nvPicPr>
        <p:blipFill>
          <a:blip r:embed="rId4"/>
          <a:stretch>
            <a:fillRect/>
          </a:stretch>
        </p:blipFill>
        <p:spPr>
          <a:xfrm>
            <a:off x="2699736" y="1418626"/>
            <a:ext cx="1812088" cy="1177204"/>
          </a:xfrm>
          <a:prstGeom prst="rect">
            <a:avLst/>
          </a:prstGeom>
        </p:spPr>
      </p:pic>
      <p:pic>
        <p:nvPicPr>
          <p:cNvPr id="11" name="Image 2" descr="https://kimi-img.moonshot.cn/pub/slides/slides_tmpl/image/25-08-27-20:09:12-d2nfaq18bjvh7rlj0iq0.jpg"/>
          <p:cNvPicPr>
            <a:picLocks noChangeAspect="1"/>
          </p:cNvPicPr>
          <p:nvPr/>
        </p:nvPicPr>
        <p:blipFill>
          <a:blip r:embed="rId5"/>
          <a:srcRect/>
          <a:stretch/>
        </p:blipFill>
        <p:spPr>
          <a:xfrm>
            <a:off x="682895" y="2889263"/>
            <a:ext cx="3828929" cy="1353877"/>
          </a:xfrm>
          <a:prstGeom prst="rect">
            <a:avLst/>
          </a:prstGeom>
        </p:spPr>
      </p:pic>
      <p:sp>
        <p:nvSpPr>
          <p:cNvPr id="12" name="Shape 7"/>
          <p:cNvSpPr/>
          <p:nvPr/>
        </p:nvSpPr>
        <p:spPr>
          <a:xfrm>
            <a:off x="682895" y="3843470"/>
            <a:ext cx="423820" cy="399670"/>
          </a:xfrm>
          <a:prstGeom prst="rect">
            <a:avLst/>
          </a:prstGeom>
          <a:solidFill>
            <a:srgbClr val="9DB4E0"/>
          </a:solidFill>
          <a:ln/>
        </p:spPr>
      </p:sp>
      <p:sp>
        <p:nvSpPr>
          <p:cNvPr id="13" name="Text 8"/>
          <p:cNvSpPr/>
          <p:nvPr/>
        </p:nvSpPr>
        <p:spPr>
          <a:xfrm>
            <a:off x="682895" y="3843470"/>
            <a:ext cx="423820" cy="399670"/>
          </a:xfrm>
          <a:prstGeom prst="rect">
            <a:avLst/>
          </a:prstGeom>
          <a:noFill/>
          <a:ln/>
        </p:spPr>
        <p:txBody>
          <a:bodyPr wrap="square" lIns="45720" tIns="91440" rIns="91440" bIns="45720" rtlCol="0" anchor="ctr"/>
          <a:lstStyle/>
          <a:p>
            <a:pPr>
              <a:lnSpc>
                <a:spcPct val="100000"/>
              </a:lnSpc>
            </a:pPr>
            <a:endParaRPr lang="en-US" sz="1600" dirty="0"/>
          </a:p>
        </p:txBody>
      </p:sp>
      <p:sp>
        <p:nvSpPr>
          <p:cNvPr id="14" name="Shape 9"/>
          <p:cNvSpPr/>
          <p:nvPr/>
        </p:nvSpPr>
        <p:spPr>
          <a:xfrm>
            <a:off x="8544272" y="3804009"/>
            <a:ext cx="252602" cy="252616"/>
          </a:xfrm>
          <a:prstGeom prst="ellipse">
            <a:avLst/>
          </a:prstGeom>
          <a:solidFill>
            <a:srgbClr val="000000">
              <a:alpha val="0"/>
            </a:srgbClr>
          </a:solidFill>
          <a:ln w="76200">
            <a:solidFill>
              <a:srgbClr val="B5C7E7"/>
            </a:solidFill>
            <a:prstDash val="solid"/>
          </a:ln>
        </p:spPr>
      </p:sp>
      <p:sp>
        <p:nvSpPr>
          <p:cNvPr id="15" name="Text 10"/>
          <p:cNvSpPr/>
          <p:nvPr/>
        </p:nvSpPr>
        <p:spPr>
          <a:xfrm>
            <a:off x="8544272" y="3804009"/>
            <a:ext cx="252602" cy="252616"/>
          </a:xfrm>
          <a:prstGeom prst="rect">
            <a:avLst/>
          </a:prstGeom>
          <a:noFill/>
          <a:ln/>
        </p:spPr>
        <p:txBody>
          <a:bodyPr wrap="square" lIns="0" tIns="0" rIns="0" bIns="0" rtlCol="0" anchor="ctr"/>
          <a:lstStyle/>
          <a:p>
            <a:pPr>
              <a:lnSpc>
                <a:spcPct val="100000"/>
              </a:lnSpc>
            </a:pPr>
            <a:endParaRPr lang="en-US" sz="1600" dirty="0"/>
          </a:p>
        </p:txBody>
      </p:sp>
      <p:sp>
        <p:nvSpPr>
          <p:cNvPr id="16" name="Shape 11"/>
          <p:cNvSpPr/>
          <p:nvPr/>
        </p:nvSpPr>
        <p:spPr>
          <a:xfrm>
            <a:off x="5268637" y="843214"/>
            <a:ext cx="252602" cy="252616"/>
          </a:xfrm>
          <a:prstGeom prst="ellipse">
            <a:avLst/>
          </a:prstGeom>
          <a:solidFill>
            <a:srgbClr val="000000">
              <a:alpha val="0"/>
            </a:srgbClr>
          </a:solidFill>
          <a:ln w="76200">
            <a:solidFill>
              <a:srgbClr val="B5C7E7"/>
            </a:solidFill>
            <a:prstDash val="solid"/>
          </a:ln>
        </p:spPr>
      </p:sp>
      <p:sp>
        <p:nvSpPr>
          <p:cNvPr id="17" name="Text 12"/>
          <p:cNvSpPr/>
          <p:nvPr/>
        </p:nvSpPr>
        <p:spPr>
          <a:xfrm>
            <a:off x="5268637" y="843214"/>
            <a:ext cx="252602" cy="252616"/>
          </a:xfrm>
          <a:prstGeom prst="rect">
            <a:avLst/>
          </a:prstGeom>
          <a:noFill/>
          <a:ln/>
        </p:spPr>
        <p:txBody>
          <a:bodyPr wrap="square" lIns="0" tIns="0" rIns="0" bIns="0" rtlCol="0" anchor="ctr"/>
          <a:lstStyle/>
          <a:p>
            <a:pPr>
              <a:lnSpc>
                <a:spcPct val="100000"/>
              </a:lnSpc>
            </a:pPr>
            <a:endParaRPr lang="en-US" sz="1600" dirty="0"/>
          </a:p>
        </p:txBody>
      </p:sp>
      <p:sp>
        <p:nvSpPr>
          <p:cNvPr id="18" name="Shape 13"/>
          <p:cNvSpPr/>
          <p:nvPr/>
        </p:nvSpPr>
        <p:spPr>
          <a:xfrm>
            <a:off x="5268637" y="3799372"/>
            <a:ext cx="252602" cy="252616"/>
          </a:xfrm>
          <a:prstGeom prst="ellipse">
            <a:avLst/>
          </a:prstGeom>
          <a:solidFill>
            <a:srgbClr val="000000">
              <a:alpha val="0"/>
            </a:srgbClr>
          </a:solidFill>
          <a:ln w="76200">
            <a:solidFill>
              <a:srgbClr val="B5C7E7"/>
            </a:solidFill>
            <a:prstDash val="solid"/>
          </a:ln>
        </p:spPr>
      </p:sp>
      <p:sp>
        <p:nvSpPr>
          <p:cNvPr id="19" name="Text 14"/>
          <p:cNvSpPr/>
          <p:nvPr/>
        </p:nvSpPr>
        <p:spPr>
          <a:xfrm>
            <a:off x="5268637" y="3799372"/>
            <a:ext cx="252602" cy="252616"/>
          </a:xfrm>
          <a:prstGeom prst="rect">
            <a:avLst/>
          </a:prstGeom>
          <a:noFill/>
          <a:ln/>
        </p:spPr>
        <p:txBody>
          <a:bodyPr wrap="square" lIns="0" tIns="0" rIns="0" bIns="0" rtlCol="0" anchor="ctr"/>
          <a:lstStyle/>
          <a:p>
            <a:pPr>
              <a:lnSpc>
                <a:spcPct val="100000"/>
              </a:lnSpc>
            </a:pPr>
            <a:endParaRPr lang="en-US" sz="1600" dirty="0"/>
          </a:p>
        </p:txBody>
      </p:sp>
      <p:sp>
        <p:nvSpPr>
          <p:cNvPr id="20" name="Shape 15"/>
          <p:cNvSpPr/>
          <p:nvPr/>
        </p:nvSpPr>
        <p:spPr>
          <a:xfrm>
            <a:off x="767408" y="4066765"/>
            <a:ext cx="288032" cy="0"/>
          </a:xfrm>
          <a:prstGeom prst="straightConnector1">
            <a:avLst/>
          </a:prstGeom>
          <a:noFill/>
          <a:ln w="19050">
            <a:solidFill>
              <a:srgbClr val="000000"/>
            </a:solidFill>
            <a:prstDash val="solid"/>
            <a:headEnd type="none"/>
            <a:tailEnd type="triangle"/>
          </a:ln>
        </p:spPr>
      </p:sp>
      <p:sp>
        <p:nvSpPr>
          <p:cNvPr id="21" name="Text 16"/>
          <p:cNvSpPr/>
          <p:nvPr/>
        </p:nvSpPr>
        <p:spPr>
          <a:xfrm>
            <a:off x="5340644" y="901706"/>
            <a:ext cx="2983571" cy="340717"/>
          </a:xfrm>
          <a:prstGeom prst="rect">
            <a:avLst/>
          </a:prstGeom>
          <a:noFill/>
          <a:ln/>
        </p:spPr>
        <p:txBody>
          <a:bodyPr wrap="square" lIns="91440" tIns="45720" rIns="91440" bIns="45720" rtlCol="0" anchor="t">
            <a:spAutoFit/>
          </a:bodyPr>
          <a:lstStyle/>
          <a:p>
            <a:pPr>
              <a:lnSpc>
                <a:spcPct val="100000"/>
              </a:lnSpc>
            </a:pPr>
            <a:r>
              <a:rPr lang="en-US" sz="2000" dirty="0">
                <a:solidFill>
                  <a:srgbClr val="FFFFFF"/>
                </a:solidFill>
                <a:latin typeface="Source Han Sans SC" pitchFamily="34" charset="0"/>
                <a:ea typeface="Source Han Sans SC" pitchFamily="34" charset="-122"/>
                <a:cs typeface="Source Han Sans SC" pitchFamily="34" charset="-120"/>
              </a:rPr>
              <a:t>Definition</a:t>
            </a:r>
            <a:endParaRPr lang="en-US" sz="1600" dirty="0"/>
          </a:p>
        </p:txBody>
      </p:sp>
      <p:sp>
        <p:nvSpPr>
          <p:cNvPr id="22" name="Text 17"/>
          <p:cNvSpPr/>
          <p:nvPr/>
        </p:nvSpPr>
        <p:spPr>
          <a:xfrm>
            <a:off x="5340350" y="1605280"/>
            <a:ext cx="3172460" cy="567134"/>
          </a:xfrm>
          <a:prstGeom prst="rect">
            <a:avLst/>
          </a:prstGeom>
          <a:noFill/>
          <a:ln/>
        </p:spPr>
        <p:txBody>
          <a:bodyPr wrap="square" lIns="91440" tIns="45720" rIns="91440" bIns="45720" rtlCol="0" anchor="t">
            <a:spAutoFit/>
          </a:bodyPr>
          <a:lstStyle/>
          <a:p>
            <a:pPr>
              <a:lnSpc>
                <a:spcPct val="100000"/>
              </a:lnSpc>
            </a:pPr>
            <a:r>
              <a:rPr lang="en-US" sz="1600" dirty="0">
                <a:solidFill>
                  <a:srgbClr val="FFFFFF"/>
                </a:solidFill>
                <a:latin typeface="Source Han Sans SC Light" pitchFamily="34" charset="0"/>
                <a:ea typeface="Source Han Sans SC Light" pitchFamily="34" charset="-122"/>
                <a:cs typeface="Source Han Sans SC Light" pitchFamily="34" charset="-120"/>
              </a:rPr>
              <a:t>Joins are essential in relational databases to combine data from two or more tables into a single result set. They bridge the gap between normalized data.</a:t>
            </a:r>
            <a:endParaRPr lang="en-US" sz="1600" dirty="0"/>
          </a:p>
        </p:txBody>
      </p:sp>
      <p:sp>
        <p:nvSpPr>
          <p:cNvPr id="23" name="Text 18"/>
          <p:cNvSpPr/>
          <p:nvPr/>
        </p:nvSpPr>
        <p:spPr>
          <a:xfrm>
            <a:off x="8616279" y="901706"/>
            <a:ext cx="2983571" cy="707886"/>
          </a:xfrm>
          <a:prstGeom prst="rect">
            <a:avLst/>
          </a:prstGeom>
          <a:noFill/>
          <a:ln/>
        </p:spPr>
        <p:txBody>
          <a:bodyPr wrap="square" lIns="91440" tIns="45720" rIns="91440" bIns="45720" rtlCol="0" anchor="t">
            <a:spAutoFit/>
          </a:bodyPr>
          <a:lstStyle/>
          <a:p>
            <a:pPr>
              <a:lnSpc>
                <a:spcPct val="100000"/>
              </a:lnSpc>
            </a:pPr>
            <a:r>
              <a:rPr lang="en-US" sz="2000" dirty="0">
                <a:solidFill>
                  <a:srgbClr val="FFFFFF"/>
                </a:solidFill>
                <a:latin typeface="Source Han Sans SC" pitchFamily="34" charset="0"/>
                <a:ea typeface="Source Han Sans SC" pitchFamily="34" charset="-122"/>
                <a:cs typeface="Source Han Sans SC" pitchFamily="34" charset="-120"/>
              </a:rPr>
              <a:t>Purpose</a:t>
            </a:r>
            <a:endParaRPr lang="en-US" sz="1600" dirty="0"/>
          </a:p>
        </p:txBody>
      </p:sp>
      <p:sp>
        <p:nvSpPr>
          <p:cNvPr id="24" name="Text 19"/>
          <p:cNvSpPr/>
          <p:nvPr/>
        </p:nvSpPr>
        <p:spPr>
          <a:xfrm>
            <a:off x="8616315" y="1605280"/>
            <a:ext cx="3162300" cy="2061210"/>
          </a:xfrm>
          <a:prstGeom prst="rect">
            <a:avLst/>
          </a:prstGeom>
          <a:noFill/>
          <a:ln/>
        </p:spPr>
        <p:txBody>
          <a:bodyPr wrap="square" lIns="91440" tIns="45720" rIns="91440" bIns="45720" rtlCol="0" anchor="t">
            <a:spAutoFit/>
          </a:bodyPr>
          <a:lstStyle/>
          <a:p>
            <a:pPr>
              <a:lnSpc>
                <a:spcPct val="100000"/>
              </a:lnSpc>
            </a:pPr>
            <a:r>
              <a:rPr lang="en-US" sz="1600" dirty="0">
                <a:solidFill>
                  <a:srgbClr val="FFFFFF"/>
                </a:solidFill>
                <a:latin typeface="Source Han Sans SC Light" pitchFamily="34" charset="0"/>
                <a:ea typeface="Source Han Sans SC Light" pitchFamily="34" charset="-122"/>
                <a:cs typeface="Source Han Sans SC Light" pitchFamily="34" charset="-120"/>
              </a:rPr>
              <a:t>Joins allow you to retrieve related data efficiently, ensuring that you can gather comprehensive information without duplicating data across tables.</a:t>
            </a:r>
            <a:endParaRPr lang="en-US" sz="1600" dirty="0"/>
          </a:p>
        </p:txBody>
      </p:sp>
      <p:sp>
        <p:nvSpPr>
          <p:cNvPr id="25" name="Text 20"/>
          <p:cNvSpPr/>
          <p:nvPr/>
        </p:nvSpPr>
        <p:spPr>
          <a:xfrm>
            <a:off x="5340644" y="3857864"/>
            <a:ext cx="2983571" cy="707886"/>
          </a:xfrm>
          <a:prstGeom prst="rect">
            <a:avLst/>
          </a:prstGeom>
          <a:noFill/>
          <a:ln/>
        </p:spPr>
        <p:txBody>
          <a:bodyPr wrap="square" lIns="91440" tIns="45720" rIns="91440" bIns="45720" rtlCol="0" anchor="t">
            <a:spAutoFit/>
          </a:bodyPr>
          <a:lstStyle/>
          <a:p>
            <a:pPr>
              <a:lnSpc>
                <a:spcPct val="100000"/>
              </a:lnSpc>
            </a:pPr>
            <a:r>
              <a:rPr lang="en-US" sz="2000" dirty="0">
                <a:solidFill>
                  <a:srgbClr val="FFFFFF"/>
                </a:solidFill>
                <a:latin typeface="Source Han Sans SC" pitchFamily="34" charset="0"/>
                <a:ea typeface="Source Han Sans SC" pitchFamily="34" charset="-122"/>
                <a:cs typeface="Source Han Sans SC" pitchFamily="34" charset="-120"/>
              </a:rPr>
              <a:t>Business Impact</a:t>
            </a:r>
            <a:endParaRPr lang="en-US" sz="1600" dirty="0"/>
          </a:p>
        </p:txBody>
      </p:sp>
      <p:sp>
        <p:nvSpPr>
          <p:cNvPr id="26" name="Text 21"/>
          <p:cNvSpPr/>
          <p:nvPr/>
        </p:nvSpPr>
        <p:spPr>
          <a:xfrm>
            <a:off x="5340350" y="4561840"/>
            <a:ext cx="3204210" cy="2061210"/>
          </a:xfrm>
          <a:prstGeom prst="rect">
            <a:avLst/>
          </a:prstGeom>
          <a:noFill/>
          <a:ln/>
        </p:spPr>
        <p:txBody>
          <a:bodyPr wrap="square" lIns="91440" tIns="45720" rIns="91440" bIns="45720" rtlCol="0" anchor="t">
            <a:spAutoFit/>
          </a:bodyPr>
          <a:lstStyle/>
          <a:p>
            <a:pPr>
              <a:lnSpc>
                <a:spcPct val="100000"/>
              </a:lnSpc>
            </a:pPr>
            <a:r>
              <a:rPr lang="en-US" sz="1600" dirty="0">
                <a:solidFill>
                  <a:srgbClr val="FFFFFF"/>
                </a:solidFill>
                <a:latin typeface="Source Han Sans SC Light" pitchFamily="34" charset="0"/>
                <a:ea typeface="Source Han Sans SC Light" pitchFamily="34" charset="-122"/>
                <a:cs typeface="Source Han Sans SC Light" pitchFamily="34" charset="-120"/>
              </a:rPr>
              <a:t>In real-world applications, joins help in generating meaningful reports, such as combining employee details with department information for HR analytics.</a:t>
            </a:r>
            <a:endParaRPr lang="en-US" sz="1600" dirty="0"/>
          </a:p>
        </p:txBody>
      </p:sp>
      <p:sp>
        <p:nvSpPr>
          <p:cNvPr id="27" name="Text 22"/>
          <p:cNvSpPr/>
          <p:nvPr/>
        </p:nvSpPr>
        <p:spPr>
          <a:xfrm>
            <a:off x="8616279" y="3862501"/>
            <a:ext cx="2983571" cy="707886"/>
          </a:xfrm>
          <a:prstGeom prst="rect">
            <a:avLst/>
          </a:prstGeom>
          <a:noFill/>
          <a:ln/>
        </p:spPr>
        <p:txBody>
          <a:bodyPr wrap="square" lIns="91440" tIns="45720" rIns="91440" bIns="45720" rtlCol="0" anchor="t">
            <a:spAutoFit/>
          </a:bodyPr>
          <a:lstStyle/>
          <a:p>
            <a:pPr>
              <a:lnSpc>
                <a:spcPct val="100000"/>
              </a:lnSpc>
            </a:pPr>
            <a:r>
              <a:rPr lang="en-US" sz="2000" dirty="0">
                <a:solidFill>
                  <a:srgbClr val="FFFFFF"/>
                </a:solidFill>
                <a:latin typeface="Source Han Sans SC" pitchFamily="34" charset="0"/>
                <a:ea typeface="Source Han Sans SC" pitchFamily="34" charset="-122"/>
                <a:cs typeface="Source Han Sans SC" pitchFamily="34" charset="-120"/>
              </a:rPr>
              <a:t>Example</a:t>
            </a:r>
            <a:endParaRPr lang="en-US" sz="1600" dirty="0"/>
          </a:p>
        </p:txBody>
      </p:sp>
      <p:sp>
        <p:nvSpPr>
          <p:cNvPr id="28" name="Text 23"/>
          <p:cNvSpPr/>
          <p:nvPr/>
        </p:nvSpPr>
        <p:spPr>
          <a:xfrm>
            <a:off x="8616315" y="4566285"/>
            <a:ext cx="3131820" cy="2061210"/>
          </a:xfrm>
          <a:prstGeom prst="rect">
            <a:avLst/>
          </a:prstGeom>
          <a:noFill/>
          <a:ln/>
        </p:spPr>
        <p:txBody>
          <a:bodyPr wrap="square" lIns="91440" tIns="45720" rIns="91440" bIns="45720" rtlCol="0" anchor="t">
            <a:spAutoFit/>
          </a:bodyPr>
          <a:lstStyle/>
          <a:p>
            <a:pPr>
              <a:lnSpc>
                <a:spcPct val="100000"/>
              </a:lnSpc>
            </a:pPr>
            <a:r>
              <a:rPr lang="en-US" sz="1600" dirty="0">
                <a:solidFill>
                  <a:srgbClr val="FFFFFF"/>
                </a:solidFill>
                <a:latin typeface="Source Han Sans SC Light" pitchFamily="34" charset="0"/>
                <a:ea typeface="Source Han Sans SC Light" pitchFamily="34" charset="-122"/>
                <a:cs typeface="Source Han Sans SC Light" pitchFamily="34" charset="-120"/>
              </a:rPr>
              <a:t>For instance, joining an orders table with a products table can provide detailed insights into customer purchases, enhancing decision-making processes.</a:t>
            </a:r>
            <a:endParaRPr lang="en-US" sz="1600" dirty="0"/>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2880320" y="13704"/>
            <a:ext cx="9311680" cy="6858000"/>
          </a:xfrm>
          <a:prstGeom prst="rect">
            <a:avLst/>
          </a:prstGeom>
          <a:solidFill>
            <a:srgbClr val="F2F3F6"/>
          </a:solidFill>
          <a:ln/>
        </p:spPr>
      </p:sp>
      <p:sp>
        <p:nvSpPr>
          <p:cNvPr id="3" name="Text 1"/>
          <p:cNvSpPr/>
          <p:nvPr/>
        </p:nvSpPr>
        <p:spPr>
          <a:xfrm>
            <a:off x="2880320" y="13704"/>
            <a:ext cx="9311680" cy="6858000"/>
          </a:xfrm>
          <a:prstGeom prst="rect">
            <a:avLst/>
          </a:prstGeom>
          <a:noFill/>
          <a:ln/>
        </p:spPr>
        <p:txBody>
          <a:bodyPr wrap="square" lIns="45720" tIns="91440" rIns="91440" bIns="45720" rtlCol="0" anchor="ctr"/>
          <a:lstStyle/>
          <a:p>
            <a:pPr>
              <a:lnSpc>
                <a:spcPct val="100000"/>
              </a:lnSpc>
            </a:pPr>
            <a:endParaRPr lang="en-US" sz="1600" dirty="0"/>
          </a:p>
        </p:txBody>
      </p:sp>
      <p:pic>
        <p:nvPicPr>
          <p:cNvPr id="4" name="Image 0" descr="https://kimi-img.moonshot.cn/pub/slides/slides_tmpl/image/25-08-27-20:09:07-d2nfaop8bjvh7rlj0ia0.jpg"/>
          <p:cNvPicPr>
            <a:picLocks noChangeAspect="1"/>
          </p:cNvPicPr>
          <p:nvPr/>
        </p:nvPicPr>
        <p:blipFill>
          <a:blip r:embed="rId3"/>
          <a:stretch>
            <a:fillRect/>
          </a:stretch>
        </p:blipFill>
        <p:spPr>
          <a:xfrm>
            <a:off x="1775520" y="1131784"/>
            <a:ext cx="3952387" cy="5269500"/>
          </a:xfrm>
          <a:prstGeom prst="rect">
            <a:avLst/>
          </a:prstGeom>
        </p:spPr>
      </p:pic>
      <p:sp>
        <p:nvSpPr>
          <p:cNvPr id="5" name="Shape 2"/>
          <p:cNvSpPr/>
          <p:nvPr/>
        </p:nvSpPr>
        <p:spPr>
          <a:xfrm>
            <a:off x="612068" y="4959623"/>
            <a:ext cx="1775520" cy="1440160"/>
          </a:xfrm>
          <a:prstGeom prst="rect">
            <a:avLst/>
          </a:prstGeom>
          <a:solidFill>
            <a:srgbClr val="9DB4E0"/>
          </a:solidFill>
          <a:ln/>
        </p:spPr>
      </p:sp>
      <p:sp>
        <p:nvSpPr>
          <p:cNvPr id="6" name="Text 3"/>
          <p:cNvSpPr/>
          <p:nvPr/>
        </p:nvSpPr>
        <p:spPr>
          <a:xfrm>
            <a:off x="612068" y="4959623"/>
            <a:ext cx="1775520" cy="1440160"/>
          </a:xfrm>
          <a:prstGeom prst="rect">
            <a:avLst/>
          </a:prstGeom>
          <a:noFill/>
          <a:ln/>
        </p:spPr>
        <p:txBody>
          <a:bodyPr wrap="square" lIns="45720" tIns="91440" rIns="91440" bIns="45720" rtlCol="0" anchor="ctr"/>
          <a:lstStyle/>
          <a:p>
            <a:pPr>
              <a:lnSpc>
                <a:spcPct val="100000"/>
              </a:lnSpc>
            </a:pPr>
            <a:endParaRPr lang="en-US" sz="1600" dirty="0"/>
          </a:p>
        </p:txBody>
      </p:sp>
      <p:sp>
        <p:nvSpPr>
          <p:cNvPr id="7" name="Text 4"/>
          <p:cNvSpPr/>
          <p:nvPr/>
        </p:nvSpPr>
        <p:spPr>
          <a:xfrm>
            <a:off x="2762885" y="211455"/>
            <a:ext cx="7725410" cy="2691130"/>
          </a:xfrm>
          <a:prstGeom prst="rect">
            <a:avLst/>
          </a:prstGeom>
          <a:noFill/>
          <a:ln/>
        </p:spPr>
        <p:txBody>
          <a:bodyPr wrap="square" lIns="91440" tIns="45720" rIns="91440" bIns="45720" rtlCol="0" anchor="t"/>
          <a:lstStyle/>
          <a:p>
            <a:pPr>
              <a:lnSpc>
                <a:spcPct val="100000"/>
              </a:lnSpc>
            </a:pPr>
            <a:r>
              <a:rPr lang="en-US" sz="4000" dirty="0">
                <a:solidFill>
                  <a:srgbClr val="000000"/>
                </a:solidFill>
                <a:latin typeface="Source Han Sans SC Medium" pitchFamily="34" charset="0"/>
                <a:ea typeface="Source Han Sans SC Medium" pitchFamily="34" charset="-122"/>
                <a:cs typeface="Source Han Sans SC Medium" pitchFamily="34" charset="-120"/>
              </a:rPr>
              <a:t>Four Join Types You Must Know</a:t>
            </a:r>
            <a:endParaRPr lang="en-US" sz="1600" dirty="0"/>
          </a:p>
        </p:txBody>
      </p:sp>
      <p:sp>
        <p:nvSpPr>
          <p:cNvPr id="8" name="Shape 5"/>
          <p:cNvSpPr/>
          <p:nvPr/>
        </p:nvSpPr>
        <p:spPr>
          <a:xfrm>
            <a:off x="10488488" y="1131784"/>
            <a:ext cx="1008112" cy="899070"/>
          </a:xfrm>
          <a:prstGeom prst="rect">
            <a:avLst/>
          </a:prstGeom>
          <a:solidFill>
            <a:srgbClr val="9DB4E0"/>
          </a:solidFill>
          <a:ln/>
        </p:spPr>
      </p:sp>
      <p:sp>
        <p:nvSpPr>
          <p:cNvPr id="9" name="Text 6"/>
          <p:cNvSpPr/>
          <p:nvPr/>
        </p:nvSpPr>
        <p:spPr>
          <a:xfrm>
            <a:off x="10488488" y="1131784"/>
            <a:ext cx="1008112" cy="899070"/>
          </a:xfrm>
          <a:prstGeom prst="rect">
            <a:avLst/>
          </a:prstGeom>
          <a:noFill/>
          <a:ln/>
        </p:spPr>
        <p:txBody>
          <a:bodyPr wrap="square" lIns="45720" tIns="91440" rIns="91440" bIns="45720" rtlCol="0" anchor="ctr"/>
          <a:lstStyle/>
          <a:p>
            <a:pPr>
              <a:lnSpc>
                <a:spcPct val="100000"/>
              </a:lnSpc>
            </a:pPr>
            <a:endParaRPr lang="en-US" sz="1600" dirty="0"/>
          </a:p>
        </p:txBody>
      </p:sp>
      <p:sp>
        <p:nvSpPr>
          <p:cNvPr id="10" name="Shape 7"/>
          <p:cNvSpPr/>
          <p:nvPr/>
        </p:nvSpPr>
        <p:spPr>
          <a:xfrm>
            <a:off x="10848528" y="1556792"/>
            <a:ext cx="288032" cy="0"/>
          </a:xfrm>
          <a:prstGeom prst="straightConnector1">
            <a:avLst/>
          </a:prstGeom>
          <a:noFill/>
          <a:ln w="19050">
            <a:solidFill>
              <a:srgbClr val="000000"/>
            </a:solidFill>
            <a:prstDash val="solid"/>
            <a:headEnd type="none"/>
            <a:tailEnd type="triangle"/>
          </a:ln>
        </p:spPr>
      </p:sp>
      <p:sp>
        <p:nvSpPr>
          <p:cNvPr id="11" name="Text 8"/>
          <p:cNvSpPr/>
          <p:nvPr/>
        </p:nvSpPr>
        <p:spPr>
          <a:xfrm>
            <a:off x="5863590" y="2647950"/>
            <a:ext cx="5720080" cy="583565"/>
          </a:xfrm>
          <a:prstGeom prst="rect">
            <a:avLst/>
          </a:prstGeom>
          <a:noFill/>
          <a:ln/>
        </p:spPr>
        <p:txBody>
          <a:bodyPr wrap="square" lIns="91440" tIns="45720" rIns="91440" bIns="45720" rtlCol="0" anchor="b">
            <a:spAutoFit/>
          </a:bodyPr>
          <a:lstStyle/>
          <a:p>
            <a:pPr>
              <a:lnSpc>
                <a:spcPct val="100000"/>
              </a:lnSpc>
            </a:pPr>
            <a:r>
              <a:rPr lang="en-US" sz="3200" dirty="0">
                <a:solidFill>
                  <a:srgbClr val="9DB4E0"/>
                </a:solidFill>
                <a:latin typeface="Source Han Sans SC" pitchFamily="34" charset="0"/>
                <a:ea typeface="Source Han Sans SC" pitchFamily="34" charset="-122"/>
                <a:cs typeface="Source Han Sans SC" pitchFamily="34" charset="-120"/>
              </a:rPr>
              <a:t>Join Types Overview</a:t>
            </a:r>
            <a:endParaRPr lang="en-US" sz="1600" dirty="0"/>
          </a:p>
        </p:txBody>
      </p:sp>
      <p:sp>
        <p:nvSpPr>
          <p:cNvPr id="12" name="Text 9"/>
          <p:cNvSpPr/>
          <p:nvPr/>
        </p:nvSpPr>
        <p:spPr>
          <a:xfrm>
            <a:off x="5863590" y="3573145"/>
            <a:ext cx="5720080" cy="1938020"/>
          </a:xfrm>
          <a:prstGeom prst="rect">
            <a:avLst/>
          </a:prstGeom>
          <a:noFill/>
          <a:ln/>
        </p:spPr>
        <p:txBody>
          <a:bodyPr wrap="square" lIns="91440" tIns="45720" rIns="91440" bIns="45720" rtlCol="0" anchor="t">
            <a:spAutoFit/>
          </a:bodyPr>
          <a:lstStyle/>
          <a:p>
            <a:pPr>
              <a:lnSpc>
                <a:spcPct val="100000"/>
              </a:lnSpc>
            </a:pPr>
            <a:r>
              <a:rPr lang="en-US" sz="2000" dirty="0">
                <a:solidFill>
                  <a:srgbClr val="000000"/>
                </a:solidFill>
                <a:latin typeface="Source Han Sans SC Normal" pitchFamily="34" charset="0"/>
                <a:ea typeface="Source Han Sans SC Normal" pitchFamily="34" charset="-122"/>
                <a:cs typeface="Source Han Sans SC Normal" pitchFamily="34" charset="-120"/>
              </a:rPr>
              <a:t>There are four primary join types: INNER JOIN, LEFT JOIN, RIGHT JOIN, and FULL JOIN. Each serves a unique purpose in combining data from multiple tables, and understanding their differences is crucial for effective data retrieval.</a:t>
            </a:r>
            <a:endParaRPr lang="en-US" sz="1600" dirty="0"/>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alpha val="40000"/>
          </a:srgbClr>
        </a:solidFill>
        <a:effectLst/>
      </p:bgPr>
    </p:bg>
    <p:spTree>
      <p:nvGrpSpPr>
        <p:cNvPr id="1" name=""/>
        <p:cNvGrpSpPr/>
        <p:nvPr/>
      </p:nvGrpSpPr>
      <p:grpSpPr>
        <a:xfrm>
          <a:off x="0" y="0"/>
          <a:ext cx="0" cy="0"/>
          <a:chOff x="0" y="0"/>
          <a:chExt cx="0" cy="0"/>
        </a:xfrm>
      </p:grpSpPr>
      <p:pic>
        <p:nvPicPr>
          <p:cNvPr id="2" name="Image 0" descr="https://kimi-img.moonshot.cn/pub/slides/slides_tmpl/image/25-08-27-20:09:09-d2nfap98bjvh7rlj0id0.png"/>
          <p:cNvPicPr>
            <a:picLocks noChangeAspect="1"/>
          </p:cNvPicPr>
          <p:nvPr/>
        </p:nvPicPr>
        <p:blipFill>
          <a:blip r:embed="rId3"/>
          <a:srcRect t="35461"/>
          <a:stretch/>
        </p:blipFill>
        <p:spPr>
          <a:xfrm>
            <a:off x="-957580" y="1616075"/>
            <a:ext cx="14110335" cy="5241925"/>
          </a:xfrm>
          <a:prstGeom prst="rect">
            <a:avLst/>
          </a:prstGeom>
        </p:spPr>
      </p:pic>
      <p:sp>
        <p:nvSpPr>
          <p:cNvPr id="3" name="Text 0"/>
          <p:cNvSpPr/>
          <p:nvPr/>
        </p:nvSpPr>
        <p:spPr>
          <a:xfrm>
            <a:off x="686435" y="620713"/>
            <a:ext cx="10944225" cy="645160"/>
          </a:xfrm>
          <a:prstGeom prst="rect">
            <a:avLst/>
          </a:prstGeom>
          <a:noFill/>
          <a:ln/>
        </p:spPr>
        <p:txBody>
          <a:bodyPr wrap="square" lIns="91440" tIns="45720" rIns="91440" bIns="45720" rtlCol="0" anchor="ctr">
            <a:spAutoFit/>
          </a:bodyPr>
          <a:lstStyle/>
          <a:p>
            <a:pPr algn="ctr">
              <a:lnSpc>
                <a:spcPct val="100000"/>
              </a:lnSpc>
            </a:pPr>
            <a:r>
              <a:rPr lang="en-US" sz="3600" dirty="0">
                <a:solidFill>
                  <a:srgbClr val="000000"/>
                </a:solidFill>
                <a:latin typeface="Source Han Sans SC Medium" pitchFamily="34" charset="0"/>
                <a:ea typeface="Source Han Sans SC Medium" pitchFamily="34" charset="-122"/>
                <a:cs typeface="Source Han Sans SC Medium" pitchFamily="34" charset="-120"/>
              </a:rPr>
              <a:t>INNER JOIN in Action</a:t>
            </a:r>
            <a:endParaRPr lang="en-US" sz="1600" dirty="0"/>
          </a:p>
        </p:txBody>
      </p:sp>
      <p:pic>
        <p:nvPicPr>
          <p:cNvPr id="4" name="Image 1" descr="https://kimi-img.moonshot.cn/pub/slides/slides_tmpl/image/25-08-27-20:09:09-d2nfap98bjvh7rlj0idg.jpg"/>
          <p:cNvPicPr>
            <a:picLocks noChangeAspect="1"/>
          </p:cNvPicPr>
          <p:nvPr/>
        </p:nvPicPr>
        <p:blipFill>
          <a:blip r:embed="rId4"/>
          <a:srcRect/>
          <a:stretch/>
        </p:blipFill>
        <p:spPr>
          <a:xfrm>
            <a:off x="2961045" y="2195814"/>
            <a:ext cx="2989665" cy="1549147"/>
          </a:xfrm>
          <a:prstGeom prst="rect">
            <a:avLst/>
          </a:prstGeom>
        </p:spPr>
      </p:pic>
      <p:sp>
        <p:nvSpPr>
          <p:cNvPr id="5" name="Shape 1"/>
          <p:cNvSpPr/>
          <p:nvPr/>
        </p:nvSpPr>
        <p:spPr>
          <a:xfrm>
            <a:off x="728892" y="4079855"/>
            <a:ext cx="270304" cy="270319"/>
          </a:xfrm>
          <a:prstGeom prst="ellipse">
            <a:avLst/>
          </a:prstGeom>
          <a:solidFill>
            <a:srgbClr val="000000">
              <a:alpha val="0"/>
            </a:srgbClr>
          </a:solidFill>
          <a:ln w="92075">
            <a:solidFill>
              <a:srgbClr val="9DB4E1"/>
            </a:solidFill>
            <a:prstDash val="solid"/>
          </a:ln>
        </p:spPr>
      </p:sp>
      <p:sp>
        <p:nvSpPr>
          <p:cNvPr id="6" name="Text 2"/>
          <p:cNvSpPr/>
          <p:nvPr/>
        </p:nvSpPr>
        <p:spPr>
          <a:xfrm>
            <a:off x="728892" y="4079855"/>
            <a:ext cx="270304" cy="270319"/>
          </a:xfrm>
          <a:prstGeom prst="rect">
            <a:avLst/>
          </a:prstGeom>
          <a:noFill/>
          <a:ln/>
        </p:spPr>
        <p:txBody>
          <a:bodyPr wrap="square" lIns="0" tIns="0" rIns="0" bIns="0" rtlCol="0" anchor="ctr"/>
          <a:lstStyle/>
          <a:p>
            <a:pPr>
              <a:lnSpc>
                <a:spcPct val="100000"/>
              </a:lnSpc>
            </a:pPr>
            <a:endParaRPr lang="en-US" sz="1600" dirty="0"/>
          </a:p>
        </p:txBody>
      </p:sp>
      <p:sp>
        <p:nvSpPr>
          <p:cNvPr id="7" name="Shape 3"/>
          <p:cNvSpPr/>
          <p:nvPr/>
        </p:nvSpPr>
        <p:spPr>
          <a:xfrm>
            <a:off x="6474237" y="4079855"/>
            <a:ext cx="270304" cy="270319"/>
          </a:xfrm>
          <a:prstGeom prst="ellipse">
            <a:avLst/>
          </a:prstGeom>
          <a:solidFill>
            <a:srgbClr val="000000">
              <a:alpha val="0"/>
            </a:srgbClr>
          </a:solidFill>
          <a:ln w="92075">
            <a:solidFill>
              <a:srgbClr val="9DB4E1"/>
            </a:solidFill>
            <a:prstDash val="solid"/>
          </a:ln>
        </p:spPr>
      </p:sp>
      <p:sp>
        <p:nvSpPr>
          <p:cNvPr id="8" name="Text 4"/>
          <p:cNvSpPr/>
          <p:nvPr/>
        </p:nvSpPr>
        <p:spPr>
          <a:xfrm>
            <a:off x="6474237" y="4079855"/>
            <a:ext cx="270304" cy="270319"/>
          </a:xfrm>
          <a:prstGeom prst="rect">
            <a:avLst/>
          </a:prstGeom>
          <a:noFill/>
          <a:ln/>
        </p:spPr>
        <p:txBody>
          <a:bodyPr wrap="square" lIns="0" tIns="0" rIns="0" bIns="0" rtlCol="0" anchor="ctr"/>
          <a:lstStyle/>
          <a:p>
            <a:pPr>
              <a:lnSpc>
                <a:spcPct val="100000"/>
              </a:lnSpc>
            </a:pPr>
            <a:endParaRPr lang="en-US" sz="1600" dirty="0"/>
          </a:p>
        </p:txBody>
      </p:sp>
      <p:pic>
        <p:nvPicPr>
          <p:cNvPr id="9" name="Image 2" descr="https://kimi-img.moonshot.cn/pub/slides/slides_tmpl/image/25-08-27-20:09:09-d2nfap98bjvh7rlj0ie0.jpg"/>
          <p:cNvPicPr>
            <a:picLocks noChangeAspect="1"/>
          </p:cNvPicPr>
          <p:nvPr/>
        </p:nvPicPr>
        <p:blipFill>
          <a:blip r:embed="rId5"/>
          <a:srcRect/>
          <a:stretch/>
        </p:blipFill>
        <p:spPr>
          <a:xfrm>
            <a:off x="8986337" y="2188285"/>
            <a:ext cx="2613513" cy="1530702"/>
          </a:xfrm>
          <a:prstGeom prst="rect">
            <a:avLst/>
          </a:prstGeom>
        </p:spPr>
      </p:pic>
      <p:pic>
        <p:nvPicPr>
          <p:cNvPr id="10" name="Image 3" descr="https://kimi-img.moonshot.cn/pub/slides/slides_tmpl/image/25-08-27-20:09:09-d2nfap98bjvh7rlj0ifg.jpg"/>
          <p:cNvPicPr>
            <a:picLocks noChangeAspect="1"/>
          </p:cNvPicPr>
          <p:nvPr/>
        </p:nvPicPr>
        <p:blipFill>
          <a:blip r:embed="rId6"/>
          <a:srcRect/>
          <a:stretch/>
        </p:blipFill>
        <p:spPr>
          <a:xfrm>
            <a:off x="6159291" y="2182214"/>
            <a:ext cx="2599731" cy="1522629"/>
          </a:xfrm>
          <a:prstGeom prst="rect">
            <a:avLst/>
          </a:prstGeom>
        </p:spPr>
      </p:pic>
      <p:pic>
        <p:nvPicPr>
          <p:cNvPr id="11" name="Image 4" descr="https://kimi-img.moonshot.cn/pub/slides/slides_tmpl/image/25-08-27-20:09:09-d2nfap98bjvh7rlj0if0.jpg"/>
          <p:cNvPicPr>
            <a:picLocks noChangeAspect="1"/>
          </p:cNvPicPr>
          <p:nvPr/>
        </p:nvPicPr>
        <p:blipFill>
          <a:blip r:embed="rId7"/>
          <a:srcRect/>
          <a:stretch/>
        </p:blipFill>
        <p:spPr>
          <a:xfrm>
            <a:off x="478102" y="2199944"/>
            <a:ext cx="2274362" cy="1556154"/>
          </a:xfrm>
          <a:prstGeom prst="rect">
            <a:avLst/>
          </a:prstGeom>
        </p:spPr>
      </p:pic>
      <p:sp>
        <p:nvSpPr>
          <p:cNvPr id="12" name="Text 5"/>
          <p:cNvSpPr/>
          <p:nvPr/>
        </p:nvSpPr>
        <p:spPr>
          <a:xfrm>
            <a:off x="-96688" y="4140646"/>
            <a:ext cx="6482735" cy="521970"/>
          </a:xfrm>
          <a:prstGeom prst="rect">
            <a:avLst/>
          </a:prstGeom>
          <a:noFill/>
          <a:ln/>
        </p:spPr>
        <p:txBody>
          <a:bodyPr wrap="square" lIns="91440" tIns="45720" rIns="91440" bIns="45720" rtlCol="0" anchor="t">
            <a:spAutoFit/>
          </a:bodyPr>
          <a:lstStyle/>
          <a:p>
            <a:pPr algn="ctr">
              <a:lnSpc>
                <a:spcPct val="100000"/>
              </a:lnSpc>
            </a:pPr>
            <a:r>
              <a:rPr lang="en-US" sz="2800" dirty="0">
                <a:solidFill>
                  <a:srgbClr val="000000"/>
                </a:solidFill>
                <a:latin typeface="Source Han Sans SC" pitchFamily="34" charset="0"/>
                <a:ea typeface="Source Han Sans SC" pitchFamily="34" charset="-122"/>
                <a:cs typeface="Source Han Sans SC" pitchFamily="34" charset="-120"/>
              </a:rPr>
              <a:t>Syntax</a:t>
            </a:r>
            <a:endParaRPr lang="en-US" sz="1600" dirty="0"/>
          </a:p>
        </p:txBody>
      </p:sp>
      <p:sp>
        <p:nvSpPr>
          <p:cNvPr id="13" name="Text 6"/>
          <p:cNvSpPr/>
          <p:nvPr/>
        </p:nvSpPr>
        <p:spPr>
          <a:xfrm>
            <a:off x="388566" y="4737408"/>
            <a:ext cx="5512227" cy="1476375"/>
          </a:xfrm>
          <a:prstGeom prst="rect">
            <a:avLst/>
          </a:prstGeom>
          <a:noFill/>
          <a:ln/>
        </p:spPr>
        <p:txBody>
          <a:bodyPr wrap="square" lIns="91440" tIns="45720" rIns="91440" bIns="45720" rtlCol="0" anchor="t">
            <a:spAutoFit/>
          </a:bodyPr>
          <a:lstStyle/>
          <a:p>
            <a:pPr>
              <a:lnSpc>
                <a:spcPct val="100000"/>
              </a:lnSpc>
            </a:pPr>
            <a:r>
              <a:rPr lang="en-US" sz="1800" dirty="0">
                <a:solidFill>
                  <a:srgbClr val="000000"/>
                </a:solidFill>
                <a:latin typeface="Source Han Sans SC Normal" pitchFamily="34" charset="0"/>
                <a:ea typeface="Source Han Sans SC Normal" pitchFamily="34" charset="-122"/>
                <a:cs typeface="Source Han Sans SC Normal" pitchFamily="34" charset="-120"/>
              </a:rPr>
              <a:t>The INNER JOIN syntax combines rows from two tables where there is a match in specified columns. It ensures that only matching records are included in the result set.</a:t>
            </a:r>
            <a:endParaRPr lang="en-US" sz="1600" dirty="0"/>
          </a:p>
        </p:txBody>
      </p:sp>
      <p:sp>
        <p:nvSpPr>
          <p:cNvPr id="14" name="Text 7"/>
          <p:cNvSpPr/>
          <p:nvPr/>
        </p:nvSpPr>
        <p:spPr>
          <a:xfrm>
            <a:off x="5640084" y="4140646"/>
            <a:ext cx="6482735" cy="521970"/>
          </a:xfrm>
          <a:prstGeom prst="rect">
            <a:avLst/>
          </a:prstGeom>
          <a:noFill/>
          <a:ln/>
        </p:spPr>
        <p:txBody>
          <a:bodyPr wrap="square" lIns="91440" tIns="45720" rIns="91440" bIns="45720" rtlCol="0" anchor="t">
            <a:spAutoFit/>
          </a:bodyPr>
          <a:lstStyle/>
          <a:p>
            <a:pPr algn="ctr">
              <a:lnSpc>
                <a:spcPct val="100000"/>
              </a:lnSpc>
            </a:pPr>
            <a:r>
              <a:rPr lang="en-US" sz="2800" dirty="0">
                <a:solidFill>
                  <a:srgbClr val="000000"/>
                </a:solidFill>
                <a:latin typeface="Source Han Sans SC" pitchFamily="34" charset="0"/>
                <a:ea typeface="Source Han Sans SC" pitchFamily="34" charset="-122"/>
                <a:cs typeface="Source Han Sans SC" pitchFamily="34" charset="-120"/>
              </a:rPr>
              <a:t>Example</a:t>
            </a:r>
            <a:endParaRPr lang="en-US" sz="1600" dirty="0"/>
          </a:p>
        </p:txBody>
      </p:sp>
      <p:sp>
        <p:nvSpPr>
          <p:cNvPr id="15" name="Text 8"/>
          <p:cNvSpPr/>
          <p:nvPr/>
        </p:nvSpPr>
        <p:spPr>
          <a:xfrm>
            <a:off x="6125338" y="4737408"/>
            <a:ext cx="5512227" cy="1476375"/>
          </a:xfrm>
          <a:prstGeom prst="rect">
            <a:avLst/>
          </a:prstGeom>
          <a:noFill/>
          <a:ln/>
        </p:spPr>
        <p:txBody>
          <a:bodyPr wrap="square" lIns="91440" tIns="45720" rIns="91440" bIns="45720" rtlCol="0" anchor="t">
            <a:spAutoFit/>
          </a:bodyPr>
          <a:lstStyle/>
          <a:p>
            <a:pPr>
              <a:lnSpc>
                <a:spcPct val="100000"/>
              </a:lnSpc>
            </a:pPr>
            <a:r>
              <a:rPr lang="en-US" sz="1800" dirty="0">
                <a:solidFill>
                  <a:srgbClr val="000000"/>
                </a:solidFill>
                <a:latin typeface="Source Han Sans SC Normal" pitchFamily="34" charset="0"/>
                <a:ea typeface="Source Han Sans SC Normal" pitchFamily="34" charset="-122"/>
                <a:cs typeface="Source Han Sans SC Normal" pitchFamily="34" charset="-120"/>
              </a:rPr>
              <a:t>For example, joining an employees table with a departments table using department_id will return only those employees who have a matching department entry, ensuring data consistency.</a:t>
            </a:r>
            <a:endParaRPr lang="en-US" sz="1600" dirty="0"/>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20:09:10-d2nfaph8bjvh7rlj0igg.png"/>
          <p:cNvPicPr>
            <a:picLocks noChangeAspect="1"/>
          </p:cNvPicPr>
          <p:nvPr/>
        </p:nvPicPr>
        <p:blipFill>
          <a:blip r:embed="rId3"/>
          <a:srcRect r="51634"/>
          <a:stretch/>
        </p:blipFill>
        <p:spPr>
          <a:xfrm>
            <a:off x="637540" y="4911725"/>
            <a:ext cx="11061065" cy="2183765"/>
          </a:xfrm>
          <a:prstGeom prst="rect">
            <a:avLst/>
          </a:prstGeom>
        </p:spPr>
      </p:pic>
      <p:sp>
        <p:nvSpPr>
          <p:cNvPr id="3" name="Text 0"/>
          <p:cNvSpPr/>
          <p:nvPr/>
        </p:nvSpPr>
        <p:spPr>
          <a:xfrm>
            <a:off x="527685" y="617855"/>
            <a:ext cx="9599930" cy="922020"/>
          </a:xfrm>
          <a:prstGeom prst="rect">
            <a:avLst/>
          </a:prstGeom>
          <a:noFill/>
          <a:ln/>
        </p:spPr>
        <p:txBody>
          <a:bodyPr wrap="square" lIns="91440" tIns="45720" rIns="91440" bIns="45720" rtlCol="0" anchor="t">
            <a:spAutoFit/>
          </a:bodyPr>
          <a:lstStyle/>
          <a:p>
            <a:pPr>
              <a:lnSpc>
                <a:spcPct val="100000"/>
              </a:lnSpc>
            </a:pPr>
            <a:r>
              <a:rPr lang="en-US" sz="3600" b="1" dirty="0">
                <a:solidFill>
                  <a:srgbClr val="9DB4E1"/>
                </a:solidFill>
                <a:latin typeface="Source Han Sans SC" pitchFamily="34" charset="0"/>
                <a:ea typeface="Source Han Sans SC" pitchFamily="34" charset="-122"/>
                <a:cs typeface="Source Han Sans SC" pitchFamily="34" charset="-120"/>
              </a:rPr>
              <a:t>LEFT JOIN Keeps Every Left Row</a:t>
            </a:r>
            <a:endParaRPr lang="en-US" sz="1600" dirty="0"/>
          </a:p>
        </p:txBody>
      </p:sp>
      <p:sp>
        <p:nvSpPr>
          <p:cNvPr id="4" name="Shape 1"/>
          <p:cNvSpPr/>
          <p:nvPr/>
        </p:nvSpPr>
        <p:spPr>
          <a:xfrm>
            <a:off x="629349" y="1499631"/>
            <a:ext cx="359844" cy="359864"/>
          </a:xfrm>
          <a:prstGeom prst="ellipse">
            <a:avLst/>
          </a:prstGeom>
          <a:solidFill>
            <a:srgbClr val="000000">
              <a:alpha val="0"/>
            </a:srgbClr>
          </a:solidFill>
          <a:ln w="107950">
            <a:solidFill>
              <a:srgbClr val="9DB4E1"/>
            </a:solidFill>
            <a:prstDash val="solid"/>
          </a:ln>
        </p:spPr>
      </p:sp>
      <p:sp>
        <p:nvSpPr>
          <p:cNvPr id="5" name="Text 2"/>
          <p:cNvSpPr/>
          <p:nvPr/>
        </p:nvSpPr>
        <p:spPr>
          <a:xfrm>
            <a:off x="629349" y="1499631"/>
            <a:ext cx="359844" cy="359864"/>
          </a:xfrm>
          <a:prstGeom prst="rect">
            <a:avLst/>
          </a:prstGeom>
          <a:noFill/>
          <a:ln/>
        </p:spPr>
        <p:txBody>
          <a:bodyPr wrap="square" lIns="0" tIns="0" rIns="0" bIns="0" rtlCol="0" anchor="ctr"/>
          <a:lstStyle/>
          <a:p>
            <a:pPr>
              <a:lnSpc>
                <a:spcPct val="100000"/>
              </a:lnSpc>
            </a:pPr>
            <a:endParaRPr lang="en-US" sz="1600" dirty="0"/>
          </a:p>
        </p:txBody>
      </p:sp>
      <p:pic>
        <p:nvPicPr>
          <p:cNvPr id="6" name="Image 1" descr="https://kimi-img.moonshot.cn/pub/slides/slides_tmpl/image/25-08-27-20:09:10-d2nfaph8bjvh7rlj0ih0.png"/>
          <p:cNvPicPr>
            <a:picLocks noChangeAspect="1"/>
          </p:cNvPicPr>
          <p:nvPr/>
        </p:nvPicPr>
        <p:blipFill>
          <a:blip r:embed="rId4"/>
          <a:stretch>
            <a:fillRect/>
          </a:stretch>
        </p:blipFill>
        <p:spPr>
          <a:xfrm>
            <a:off x="629350" y="4361149"/>
            <a:ext cx="2157390" cy="1957574"/>
          </a:xfrm>
          <a:prstGeom prst="rect">
            <a:avLst/>
          </a:prstGeom>
        </p:spPr>
      </p:pic>
      <p:sp>
        <p:nvSpPr>
          <p:cNvPr id="7" name="Shape 3"/>
          <p:cNvSpPr/>
          <p:nvPr/>
        </p:nvSpPr>
        <p:spPr>
          <a:xfrm>
            <a:off x="4367808" y="1499631"/>
            <a:ext cx="359844" cy="359864"/>
          </a:xfrm>
          <a:prstGeom prst="ellipse">
            <a:avLst/>
          </a:prstGeom>
          <a:solidFill>
            <a:srgbClr val="000000">
              <a:alpha val="0"/>
            </a:srgbClr>
          </a:solidFill>
          <a:ln w="107950">
            <a:solidFill>
              <a:srgbClr val="9DB4E1"/>
            </a:solidFill>
            <a:prstDash val="solid"/>
          </a:ln>
        </p:spPr>
      </p:sp>
      <p:sp>
        <p:nvSpPr>
          <p:cNvPr id="8" name="Text 4"/>
          <p:cNvSpPr/>
          <p:nvPr/>
        </p:nvSpPr>
        <p:spPr>
          <a:xfrm>
            <a:off x="4367808" y="1499631"/>
            <a:ext cx="359844" cy="359864"/>
          </a:xfrm>
          <a:prstGeom prst="rect">
            <a:avLst/>
          </a:prstGeom>
          <a:noFill/>
          <a:ln/>
        </p:spPr>
        <p:txBody>
          <a:bodyPr wrap="square" lIns="0" tIns="0" rIns="0" bIns="0" rtlCol="0" anchor="ctr"/>
          <a:lstStyle/>
          <a:p>
            <a:pPr>
              <a:lnSpc>
                <a:spcPct val="100000"/>
              </a:lnSpc>
            </a:pPr>
            <a:endParaRPr lang="en-US" sz="1600" dirty="0"/>
          </a:p>
        </p:txBody>
      </p:sp>
      <p:sp>
        <p:nvSpPr>
          <p:cNvPr id="9" name="Shape 5"/>
          <p:cNvSpPr/>
          <p:nvPr/>
        </p:nvSpPr>
        <p:spPr>
          <a:xfrm>
            <a:off x="8122968" y="1499631"/>
            <a:ext cx="359844" cy="359864"/>
          </a:xfrm>
          <a:prstGeom prst="ellipse">
            <a:avLst/>
          </a:prstGeom>
          <a:solidFill>
            <a:srgbClr val="000000">
              <a:alpha val="0"/>
            </a:srgbClr>
          </a:solidFill>
          <a:ln w="107950">
            <a:solidFill>
              <a:srgbClr val="9DB4E1"/>
            </a:solidFill>
            <a:prstDash val="solid"/>
          </a:ln>
        </p:spPr>
      </p:sp>
      <p:sp>
        <p:nvSpPr>
          <p:cNvPr id="10" name="Text 6"/>
          <p:cNvSpPr/>
          <p:nvPr/>
        </p:nvSpPr>
        <p:spPr>
          <a:xfrm>
            <a:off x="8122968" y="1499631"/>
            <a:ext cx="359844" cy="359864"/>
          </a:xfrm>
          <a:prstGeom prst="rect">
            <a:avLst/>
          </a:prstGeom>
          <a:noFill/>
          <a:ln/>
        </p:spPr>
        <p:txBody>
          <a:bodyPr wrap="square" lIns="0" tIns="0" rIns="0" bIns="0" rtlCol="0" anchor="ctr"/>
          <a:lstStyle/>
          <a:p>
            <a:pPr>
              <a:lnSpc>
                <a:spcPct val="100000"/>
              </a:lnSpc>
            </a:pPr>
            <a:endParaRPr lang="en-US" sz="1600" dirty="0"/>
          </a:p>
        </p:txBody>
      </p:sp>
      <p:sp>
        <p:nvSpPr>
          <p:cNvPr id="11" name="Text 7"/>
          <p:cNvSpPr/>
          <p:nvPr/>
        </p:nvSpPr>
        <p:spPr>
          <a:xfrm>
            <a:off x="623392" y="1609265"/>
            <a:ext cx="3542747" cy="829945"/>
          </a:xfrm>
          <a:prstGeom prst="rect">
            <a:avLst/>
          </a:prstGeom>
          <a:noFill/>
          <a:ln/>
        </p:spPr>
        <p:txBody>
          <a:bodyPr wrap="square" lIns="91440" tIns="45720" rIns="91440" bIns="45720" rtlCol="0" anchor="t">
            <a:spAutoFit/>
          </a:bodyPr>
          <a:lstStyle/>
          <a:p>
            <a:pPr>
              <a:lnSpc>
                <a:spcPct val="100000"/>
              </a:lnSpc>
            </a:pPr>
            <a:r>
              <a:rPr lang="en-US" sz="2400" dirty="0">
                <a:solidFill>
                  <a:srgbClr val="000000"/>
                </a:solidFill>
                <a:latin typeface="Source Han Sans SC" pitchFamily="34" charset="0"/>
                <a:ea typeface="Source Han Sans SC" pitchFamily="34" charset="-122"/>
                <a:cs typeface="Source Han Sans SC" pitchFamily="34" charset="-120"/>
              </a:rPr>
              <a:t>LEFT JOIN Definition</a:t>
            </a:r>
            <a:endParaRPr lang="en-US" sz="1600" dirty="0"/>
          </a:p>
        </p:txBody>
      </p:sp>
      <p:sp>
        <p:nvSpPr>
          <p:cNvPr id="12" name="Text 8"/>
          <p:cNvSpPr/>
          <p:nvPr/>
        </p:nvSpPr>
        <p:spPr>
          <a:xfrm>
            <a:off x="637750" y="2405563"/>
            <a:ext cx="3384373" cy="2061210"/>
          </a:xfrm>
          <a:prstGeom prst="rect">
            <a:avLst/>
          </a:prstGeom>
          <a:noFill/>
          <a:ln/>
        </p:spPr>
        <p:txBody>
          <a:bodyPr wrap="square" lIns="91440" tIns="45720" rIns="91440" bIns="45720" rtlCol="0" anchor="t">
            <a:spAutoFit/>
          </a:bodyPr>
          <a:lstStyle/>
          <a:p>
            <a:pPr>
              <a:lnSpc>
                <a:spcPct val="100000"/>
              </a:lnSpc>
            </a:pPr>
            <a:r>
              <a:rPr lang="en-US" sz="1600" dirty="0">
                <a:solidFill>
                  <a:srgbClr val="000000"/>
                </a:solidFill>
                <a:latin typeface="Source Han Sans SC Normal" pitchFamily="34" charset="0"/>
                <a:ea typeface="Source Han Sans SC Normal" pitchFamily="34" charset="-122"/>
                <a:cs typeface="Source Han Sans SC Normal" pitchFamily="34" charset="-120"/>
              </a:rPr>
              <a:t>A LEFT JOIN returns all rows from the left table and the matched rows from the right table. If no match is found, NULL values are returned for the right table’s columns.</a:t>
            </a:r>
            <a:endParaRPr lang="en-US" sz="1600" dirty="0"/>
          </a:p>
        </p:txBody>
      </p:sp>
      <p:sp>
        <p:nvSpPr>
          <p:cNvPr id="13" name="Text 9"/>
          <p:cNvSpPr/>
          <p:nvPr/>
        </p:nvSpPr>
        <p:spPr>
          <a:xfrm>
            <a:off x="4411330" y="1609265"/>
            <a:ext cx="3542747" cy="829945"/>
          </a:xfrm>
          <a:prstGeom prst="rect">
            <a:avLst/>
          </a:prstGeom>
          <a:noFill/>
          <a:ln/>
        </p:spPr>
        <p:txBody>
          <a:bodyPr wrap="square" lIns="91440" tIns="45720" rIns="91440" bIns="45720" rtlCol="0" anchor="t">
            <a:spAutoFit/>
          </a:bodyPr>
          <a:lstStyle/>
          <a:p>
            <a:pPr>
              <a:lnSpc>
                <a:spcPct val="100000"/>
              </a:lnSpc>
            </a:pPr>
            <a:r>
              <a:rPr lang="en-US" sz="2400" dirty="0">
                <a:solidFill>
                  <a:srgbClr val="000000"/>
                </a:solidFill>
                <a:latin typeface="Source Han Sans SC" pitchFamily="34" charset="0"/>
                <a:ea typeface="Source Han Sans SC" pitchFamily="34" charset="-122"/>
                <a:cs typeface="Source Han Sans SC" pitchFamily="34" charset="-120"/>
              </a:rPr>
              <a:t>Use Case</a:t>
            </a:r>
            <a:endParaRPr lang="en-US" sz="1600" dirty="0"/>
          </a:p>
        </p:txBody>
      </p:sp>
      <p:sp>
        <p:nvSpPr>
          <p:cNvPr id="14" name="Text 10"/>
          <p:cNvSpPr/>
          <p:nvPr/>
        </p:nvSpPr>
        <p:spPr>
          <a:xfrm>
            <a:off x="4425688" y="2405563"/>
            <a:ext cx="3384373" cy="2061210"/>
          </a:xfrm>
          <a:prstGeom prst="rect">
            <a:avLst/>
          </a:prstGeom>
          <a:noFill/>
          <a:ln/>
        </p:spPr>
        <p:txBody>
          <a:bodyPr wrap="square" lIns="91440" tIns="45720" rIns="91440" bIns="45720" rtlCol="0" anchor="t">
            <a:spAutoFit/>
          </a:bodyPr>
          <a:lstStyle/>
          <a:p>
            <a:pPr>
              <a:lnSpc>
                <a:spcPct val="100000"/>
              </a:lnSpc>
            </a:pPr>
            <a:r>
              <a:rPr lang="en-US" sz="1600" dirty="0">
                <a:solidFill>
                  <a:srgbClr val="000000"/>
                </a:solidFill>
                <a:latin typeface="Source Han Sans SC Normal" pitchFamily="34" charset="0"/>
                <a:ea typeface="Source Han Sans SC Normal" pitchFamily="34" charset="-122"/>
                <a:cs typeface="Source Han Sans SC Normal" pitchFamily="34" charset="-120"/>
              </a:rPr>
              <a:t>This type of join is useful when you need to include all records from the primary table, such as listing all employees along with their department details, even if some employees do not have a department assigned.</a:t>
            </a:r>
            <a:endParaRPr lang="en-US" sz="1600" dirty="0"/>
          </a:p>
        </p:txBody>
      </p:sp>
      <p:sp>
        <p:nvSpPr>
          <p:cNvPr id="15" name="Text 11"/>
          <p:cNvSpPr/>
          <p:nvPr/>
        </p:nvSpPr>
        <p:spPr>
          <a:xfrm>
            <a:off x="8155340" y="1609265"/>
            <a:ext cx="3542747" cy="829945"/>
          </a:xfrm>
          <a:prstGeom prst="rect">
            <a:avLst/>
          </a:prstGeom>
          <a:noFill/>
          <a:ln/>
        </p:spPr>
        <p:txBody>
          <a:bodyPr wrap="square" lIns="91440" tIns="45720" rIns="91440" bIns="45720" rtlCol="0" anchor="t">
            <a:spAutoFit/>
          </a:bodyPr>
          <a:lstStyle/>
          <a:p>
            <a:pPr>
              <a:lnSpc>
                <a:spcPct val="100000"/>
              </a:lnSpc>
            </a:pPr>
            <a:r>
              <a:rPr lang="en-US" sz="2400" dirty="0">
                <a:solidFill>
                  <a:srgbClr val="000000"/>
                </a:solidFill>
                <a:latin typeface="Source Han Sans SC" pitchFamily="34" charset="0"/>
                <a:ea typeface="Source Han Sans SC" pitchFamily="34" charset="-122"/>
                <a:cs typeface="Source Han Sans SC" pitchFamily="34" charset="-120"/>
              </a:rPr>
              <a:t>Visual Aid</a:t>
            </a:r>
            <a:endParaRPr lang="en-US" sz="1600" dirty="0"/>
          </a:p>
        </p:txBody>
      </p:sp>
      <p:sp>
        <p:nvSpPr>
          <p:cNvPr id="16" name="Text 12"/>
          <p:cNvSpPr/>
          <p:nvPr/>
        </p:nvSpPr>
        <p:spPr>
          <a:xfrm>
            <a:off x="8169698" y="2405563"/>
            <a:ext cx="3384373" cy="2061210"/>
          </a:xfrm>
          <a:prstGeom prst="rect">
            <a:avLst/>
          </a:prstGeom>
          <a:noFill/>
          <a:ln/>
        </p:spPr>
        <p:txBody>
          <a:bodyPr wrap="square" lIns="91440" tIns="45720" rIns="91440" bIns="45720" rtlCol="0" anchor="t">
            <a:spAutoFit/>
          </a:bodyPr>
          <a:lstStyle/>
          <a:p>
            <a:pPr>
              <a:lnSpc>
                <a:spcPct val="100000"/>
              </a:lnSpc>
            </a:pPr>
            <a:r>
              <a:rPr lang="en-US" sz="1600" dirty="0">
                <a:solidFill>
                  <a:srgbClr val="000000"/>
                </a:solidFill>
                <a:latin typeface="Source Han Sans SC Normal" pitchFamily="34" charset="0"/>
                <a:ea typeface="Source Han Sans SC Normal" pitchFamily="34" charset="-122"/>
                <a:cs typeface="Source Han Sans SC Normal" pitchFamily="34" charset="-120"/>
              </a:rPr>
              <a:t>A Venn diagram can help visualize this join, showing all elements of the left table and the intersection with the right table.</a:t>
            </a:r>
            <a:endParaRPr lang="en-US" sz="1600" dirty="0"/>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flip="none" rotWithShape="1">
            <a:gsLst>
              <a:gs pos="0">
                <a:srgbClr val="2F5596"/>
              </a:gs>
              <a:gs pos="79000">
                <a:srgbClr val="7095BC"/>
              </a:gs>
              <a:gs pos="96000">
                <a:srgbClr val="B0D5E1"/>
              </a:gs>
              <a:gs pos="100000">
                <a:srgbClr val="C2F5E1"/>
              </a:gs>
            </a:gsLst>
            <a:lin ang="4800000" scaled="1"/>
          </a:gradFill>
          <a:ln w="12700">
            <a:solidFill>
              <a:srgbClr val="09111E"/>
            </a:solidFill>
            <a:prstDash val="solid"/>
          </a:ln>
        </p:spPr>
      </p:sp>
      <p:sp>
        <p:nvSpPr>
          <p:cNvPr id="3" name="Text 1"/>
          <p:cNvSpPr/>
          <p:nvPr/>
        </p:nvSpPr>
        <p:spPr>
          <a:xfrm>
            <a:off x="0" y="0"/>
            <a:ext cx="12192000" cy="6858000"/>
          </a:xfrm>
          <a:prstGeom prst="rect">
            <a:avLst/>
          </a:prstGeom>
          <a:noFill/>
          <a:ln/>
        </p:spPr>
        <p:txBody>
          <a:bodyPr wrap="square" lIns="45720" tIns="91440" rIns="91440" bIns="45720" rtlCol="0" anchor="ctr"/>
          <a:lstStyle/>
          <a:p>
            <a:pPr>
              <a:lnSpc>
                <a:spcPct val="100000"/>
              </a:lnSpc>
            </a:pPr>
            <a:endParaRPr lang="en-US" sz="1600" dirty="0"/>
          </a:p>
        </p:txBody>
      </p:sp>
      <p:sp>
        <p:nvSpPr>
          <p:cNvPr id="4" name="Text 2"/>
          <p:cNvSpPr/>
          <p:nvPr/>
        </p:nvSpPr>
        <p:spPr>
          <a:xfrm>
            <a:off x="592455" y="964565"/>
            <a:ext cx="8507730" cy="583565"/>
          </a:xfrm>
          <a:prstGeom prst="rect">
            <a:avLst/>
          </a:prstGeom>
          <a:noFill/>
          <a:ln/>
        </p:spPr>
        <p:txBody>
          <a:bodyPr wrap="square" lIns="91440" tIns="45720" rIns="91440" bIns="45720" rtlCol="0" anchor="t">
            <a:spAutoFit/>
          </a:bodyPr>
          <a:lstStyle/>
          <a:p>
            <a:pPr>
              <a:lnSpc>
                <a:spcPct val="100000"/>
              </a:lnSpc>
            </a:pPr>
            <a:r>
              <a:rPr lang="en-US" sz="3200" b="1" dirty="0">
                <a:solidFill>
                  <a:srgbClr val="FFFFFF"/>
                </a:solidFill>
                <a:latin typeface="Source Han Sans SC" pitchFamily="34" charset="0"/>
                <a:ea typeface="Source Han Sans SC" pitchFamily="34" charset="-122"/>
                <a:cs typeface="Source Han Sans SC" pitchFamily="34" charset="-120"/>
              </a:rPr>
              <a:t>RIGHT JOIN Mirrors Logic</a:t>
            </a:r>
            <a:endParaRPr lang="en-US" sz="1600" dirty="0"/>
          </a:p>
        </p:txBody>
      </p:sp>
      <p:pic>
        <p:nvPicPr>
          <p:cNvPr id="5" name="Image 0" descr="https://kimi-img.moonshot.cn/pub/slides/slides_tmpl/image/25-08-27-20:09:13-d2nfaq98bjvh7rlj0itg.png"/>
          <p:cNvPicPr>
            <a:picLocks noChangeAspect="1"/>
          </p:cNvPicPr>
          <p:nvPr/>
        </p:nvPicPr>
        <p:blipFill>
          <a:blip r:embed="rId3"/>
          <a:stretch>
            <a:fillRect/>
          </a:stretch>
        </p:blipFill>
        <p:spPr>
          <a:xfrm>
            <a:off x="-6920" y="2115819"/>
            <a:ext cx="6348430" cy="4814878"/>
          </a:xfrm>
          <a:prstGeom prst="rect">
            <a:avLst/>
          </a:prstGeom>
        </p:spPr>
      </p:pic>
      <p:sp>
        <p:nvSpPr>
          <p:cNvPr id="6" name="Text 3"/>
          <p:cNvSpPr/>
          <p:nvPr/>
        </p:nvSpPr>
        <p:spPr>
          <a:xfrm>
            <a:off x="5963285" y="1749425"/>
            <a:ext cx="5843905" cy="398780"/>
          </a:xfrm>
          <a:prstGeom prst="rect">
            <a:avLst/>
          </a:prstGeom>
          <a:noFill/>
          <a:ln/>
        </p:spPr>
        <p:txBody>
          <a:bodyPr wrap="square" lIns="91440" tIns="45720" rIns="91440" bIns="45720" rtlCol="0" anchor="t">
            <a:spAutoFit/>
          </a:bodyPr>
          <a:lstStyle/>
          <a:p>
            <a:pPr>
              <a:lnSpc>
                <a:spcPct val="100000"/>
              </a:lnSpc>
            </a:pPr>
            <a:r>
              <a:rPr lang="en-US" sz="2000" dirty="0">
                <a:solidFill>
                  <a:srgbClr val="FFFFFF"/>
                </a:solidFill>
                <a:latin typeface="Source Han Sans SC" pitchFamily="34" charset="0"/>
                <a:ea typeface="Source Han Sans SC" pitchFamily="34" charset="-122"/>
                <a:cs typeface="Source Han Sans SC" pitchFamily="34" charset="-120"/>
              </a:rPr>
              <a:t>RIGHT JOIN Definition</a:t>
            </a:r>
            <a:endParaRPr lang="en-US" sz="1600" dirty="0"/>
          </a:p>
        </p:txBody>
      </p:sp>
      <p:sp>
        <p:nvSpPr>
          <p:cNvPr id="7" name="Text 4"/>
          <p:cNvSpPr/>
          <p:nvPr/>
        </p:nvSpPr>
        <p:spPr>
          <a:xfrm>
            <a:off x="5979160" y="2202815"/>
            <a:ext cx="5843905" cy="1476375"/>
          </a:xfrm>
          <a:prstGeom prst="rect">
            <a:avLst/>
          </a:prstGeom>
          <a:noFill/>
          <a:ln/>
        </p:spPr>
        <p:txBody>
          <a:bodyPr wrap="square" lIns="91440" tIns="45720" rIns="91440" bIns="45720" rtlCol="0" anchor="t">
            <a:spAutoFit/>
          </a:bodyPr>
          <a:lstStyle/>
          <a:p>
            <a:pPr>
              <a:lnSpc>
                <a:spcPct val="100000"/>
              </a:lnSpc>
            </a:pPr>
            <a:r>
              <a:rPr lang="en-US" sz="1800" dirty="0">
                <a:solidFill>
                  <a:srgbClr val="FFFFFF"/>
                </a:solidFill>
                <a:latin typeface="Source Han Sans SC Normal" pitchFamily="34" charset="0"/>
                <a:ea typeface="Source Han Sans SC Normal" pitchFamily="34" charset="-122"/>
                <a:cs typeface="Source Han Sans SC Normal" pitchFamily="34" charset="-120"/>
              </a:rPr>
              <a:t>A RIGHT JOIN returns all rows from the right table and the matched rows from the left table. It is the opposite of a LEFT JOIN, ensuring all records from the secondary table are included.</a:t>
            </a:r>
            <a:endParaRPr lang="en-US" sz="1600" dirty="0"/>
          </a:p>
        </p:txBody>
      </p:sp>
      <p:sp>
        <p:nvSpPr>
          <p:cNvPr id="8" name="Text 5"/>
          <p:cNvSpPr/>
          <p:nvPr/>
        </p:nvSpPr>
        <p:spPr>
          <a:xfrm>
            <a:off x="5963285" y="4090035"/>
            <a:ext cx="5843905" cy="398780"/>
          </a:xfrm>
          <a:prstGeom prst="rect">
            <a:avLst/>
          </a:prstGeom>
          <a:noFill/>
          <a:ln/>
        </p:spPr>
        <p:txBody>
          <a:bodyPr wrap="square" lIns="91440" tIns="45720" rIns="91440" bIns="45720" rtlCol="0" anchor="t">
            <a:spAutoFit/>
          </a:bodyPr>
          <a:lstStyle/>
          <a:p>
            <a:pPr>
              <a:lnSpc>
                <a:spcPct val="100000"/>
              </a:lnSpc>
            </a:pPr>
            <a:r>
              <a:rPr lang="en-US" sz="2000" dirty="0">
                <a:solidFill>
                  <a:srgbClr val="FFFFFF"/>
                </a:solidFill>
                <a:latin typeface="Source Han Sans SC" pitchFamily="34" charset="0"/>
                <a:ea typeface="Source Han Sans SC" pitchFamily="34" charset="-122"/>
                <a:cs typeface="Source Han Sans SC" pitchFamily="34" charset="-120"/>
              </a:rPr>
              <a:t>Example</a:t>
            </a:r>
            <a:endParaRPr lang="en-US" sz="1600" dirty="0"/>
          </a:p>
        </p:txBody>
      </p:sp>
      <p:sp>
        <p:nvSpPr>
          <p:cNvPr id="9" name="Text 6"/>
          <p:cNvSpPr/>
          <p:nvPr/>
        </p:nvSpPr>
        <p:spPr>
          <a:xfrm>
            <a:off x="5979160" y="4543425"/>
            <a:ext cx="5843905" cy="1476375"/>
          </a:xfrm>
          <a:prstGeom prst="rect">
            <a:avLst/>
          </a:prstGeom>
          <a:noFill/>
          <a:ln/>
        </p:spPr>
        <p:txBody>
          <a:bodyPr wrap="square" lIns="91440" tIns="45720" rIns="91440" bIns="45720" rtlCol="0" anchor="t">
            <a:spAutoFit/>
          </a:bodyPr>
          <a:lstStyle/>
          <a:p>
            <a:pPr>
              <a:lnSpc>
                <a:spcPct val="100000"/>
              </a:lnSpc>
            </a:pPr>
            <a:r>
              <a:rPr lang="en-US" sz="1800" dirty="0">
                <a:solidFill>
                  <a:srgbClr val="FFFFFF"/>
                </a:solidFill>
                <a:latin typeface="Source Han Sans SC Normal" pitchFamily="34" charset="0"/>
                <a:ea typeface="Source Han Sans SC Normal" pitchFamily="34" charset="-122"/>
                <a:cs typeface="Source Han Sans SC Normal" pitchFamily="34" charset="-120"/>
              </a:rPr>
              <a:t>For example, when listing all departments along with employee details, a RIGHT JOIN ensures that even departments without employees are included in the result set.</a:t>
            </a:r>
            <a:endParaRPr lang="en-US" sz="1600" dirty="0"/>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1"/>
            <a:ext cx="12192000" cy="6858001"/>
          </a:xfrm>
          <a:prstGeom prst="rect">
            <a:avLst/>
          </a:prstGeom>
          <a:solidFill>
            <a:srgbClr val="0D0D0D"/>
          </a:solidFill>
          <a:ln/>
        </p:spPr>
      </p:sp>
      <p:sp>
        <p:nvSpPr>
          <p:cNvPr id="3" name="Text 1"/>
          <p:cNvSpPr/>
          <p:nvPr/>
        </p:nvSpPr>
        <p:spPr>
          <a:xfrm>
            <a:off x="0" y="-1"/>
            <a:ext cx="12192000" cy="6858001"/>
          </a:xfrm>
          <a:prstGeom prst="rect">
            <a:avLst/>
          </a:prstGeom>
          <a:noFill/>
          <a:ln/>
        </p:spPr>
        <p:txBody>
          <a:bodyPr wrap="square" lIns="45720" tIns="91440" rIns="91440" bIns="45720" rtlCol="0" anchor="ctr"/>
          <a:lstStyle/>
          <a:p>
            <a:pPr>
              <a:lnSpc>
                <a:spcPct val="100000"/>
              </a:lnSpc>
            </a:pPr>
            <a:endParaRPr lang="en-US" sz="1600" dirty="0"/>
          </a:p>
        </p:txBody>
      </p:sp>
      <p:pic>
        <p:nvPicPr>
          <p:cNvPr id="4" name="Image 0" descr="https://kimi-img.moonshot.cn/pub/slides/slides_tmpl/image/25-08-27-20:09:12-d2nfaq18bjvh7rlj0ir0.jpeg"/>
          <p:cNvPicPr>
            <a:picLocks noChangeAspect="1"/>
          </p:cNvPicPr>
          <p:nvPr/>
        </p:nvPicPr>
        <p:blipFill>
          <a:blip r:embed="rId3"/>
          <a:srcRect/>
          <a:stretch/>
        </p:blipFill>
        <p:spPr>
          <a:xfrm flipH="1">
            <a:off x="408127" y="2521292"/>
            <a:ext cx="6341541" cy="3473039"/>
          </a:xfrm>
          <a:prstGeom prst="rect">
            <a:avLst/>
          </a:prstGeom>
        </p:spPr>
      </p:pic>
      <p:sp>
        <p:nvSpPr>
          <p:cNvPr id="5" name="Text 2"/>
          <p:cNvSpPr/>
          <p:nvPr/>
        </p:nvSpPr>
        <p:spPr>
          <a:xfrm>
            <a:off x="551180" y="492760"/>
            <a:ext cx="6088380" cy="1285875"/>
          </a:xfrm>
          <a:prstGeom prst="rect">
            <a:avLst/>
          </a:prstGeom>
          <a:noFill/>
          <a:ln/>
        </p:spPr>
        <p:txBody>
          <a:bodyPr wrap="square" lIns="91440" tIns="45720" rIns="91440" bIns="45720" rtlCol="0" anchor="t"/>
          <a:lstStyle/>
          <a:p>
            <a:pPr>
              <a:lnSpc>
                <a:spcPct val="100000"/>
              </a:lnSpc>
            </a:pPr>
            <a:r>
              <a:rPr lang="en-US" sz="3400" dirty="0">
                <a:solidFill>
                  <a:srgbClr val="FFFFFF"/>
                </a:solidFill>
                <a:latin typeface="Source Han Sans SC" pitchFamily="34" charset="0"/>
                <a:ea typeface="Source Han Sans SC" pitchFamily="34" charset="-122"/>
                <a:cs typeface="Source Han Sans SC" pitchFamily="34" charset="-120"/>
              </a:rPr>
              <a:t>Simulate FULL JOIN with UNION</a:t>
            </a:r>
            <a:endParaRPr lang="en-US" sz="1600" dirty="0"/>
          </a:p>
        </p:txBody>
      </p:sp>
      <p:sp>
        <p:nvSpPr>
          <p:cNvPr id="6" name="Text 3"/>
          <p:cNvSpPr/>
          <p:nvPr/>
        </p:nvSpPr>
        <p:spPr>
          <a:xfrm>
            <a:off x="408305" y="1774825"/>
            <a:ext cx="5563870" cy="368300"/>
          </a:xfrm>
          <a:prstGeom prst="rect">
            <a:avLst/>
          </a:prstGeom>
          <a:noFill/>
          <a:ln/>
        </p:spPr>
        <p:txBody>
          <a:bodyPr wrap="square" lIns="91440" tIns="45720" rIns="91440" bIns="45720" rtlCol="0" anchor="t">
            <a:spAutoFit/>
          </a:bodyPr>
          <a:lstStyle/>
          <a:p>
            <a:pPr>
              <a:lnSpc>
                <a:spcPct val="100000"/>
              </a:lnSpc>
            </a:pPr>
            <a:r>
              <a:rPr lang="en-US" sz="1800" dirty="0">
                <a:solidFill>
                  <a:srgbClr val="9DB4E1"/>
                </a:solidFill>
                <a:latin typeface="Source Han Sans SC" pitchFamily="34" charset="0"/>
                <a:ea typeface="Source Han Sans SC" pitchFamily="34" charset="-122"/>
                <a:cs typeface="Source Han Sans SC" pitchFamily="34" charset="-120"/>
              </a:rPr>
              <a:t>FULL JOIN Concept</a:t>
            </a:r>
            <a:endParaRPr lang="en-US" sz="1600" dirty="0"/>
          </a:p>
        </p:txBody>
      </p:sp>
      <p:sp>
        <p:nvSpPr>
          <p:cNvPr id="7" name="Text 4"/>
          <p:cNvSpPr/>
          <p:nvPr/>
        </p:nvSpPr>
        <p:spPr>
          <a:xfrm>
            <a:off x="336119" y="2097392"/>
            <a:ext cx="5423544" cy="1322070"/>
          </a:xfrm>
          <a:prstGeom prst="rect">
            <a:avLst/>
          </a:prstGeom>
          <a:noFill/>
          <a:ln/>
        </p:spPr>
        <p:txBody>
          <a:bodyPr wrap="square" lIns="91440" tIns="45720" rIns="91440" bIns="45720" rtlCol="0" anchor="t">
            <a:spAutoFit/>
          </a:bodyPr>
          <a:lstStyle/>
          <a:p>
            <a:pPr>
              <a:lnSpc>
                <a:spcPct val="100000"/>
              </a:lnSpc>
            </a:pPr>
            <a:r>
              <a:rPr lang="en-US" sz="1600" dirty="0">
                <a:solidFill>
                  <a:srgbClr val="FFFFFF"/>
                </a:solidFill>
                <a:latin typeface="Source Han Sans SC Light" pitchFamily="34" charset="0"/>
                <a:ea typeface="Source Han Sans SC Light" pitchFamily="34" charset="-122"/>
                <a:cs typeface="Source Han Sans SC Light" pitchFamily="34" charset="-120"/>
              </a:rPr>
              <a:t>A FULL JOIN retrieves all records when there is a match in either the left or right table. However, MySQL does not natively support FULL JOIN.</a:t>
            </a:r>
            <a:endParaRPr lang="en-US" sz="1600" dirty="0"/>
          </a:p>
        </p:txBody>
      </p:sp>
      <p:sp>
        <p:nvSpPr>
          <p:cNvPr id="8" name="Text 5"/>
          <p:cNvSpPr/>
          <p:nvPr/>
        </p:nvSpPr>
        <p:spPr>
          <a:xfrm>
            <a:off x="6861810" y="676275"/>
            <a:ext cx="4965065" cy="368300"/>
          </a:xfrm>
          <a:prstGeom prst="rect">
            <a:avLst/>
          </a:prstGeom>
          <a:noFill/>
          <a:ln/>
        </p:spPr>
        <p:txBody>
          <a:bodyPr wrap="square" lIns="91440" tIns="45720" rIns="91440" bIns="45720" rtlCol="0" anchor="t">
            <a:spAutoFit/>
          </a:bodyPr>
          <a:lstStyle/>
          <a:p>
            <a:pPr>
              <a:lnSpc>
                <a:spcPct val="100000"/>
              </a:lnSpc>
            </a:pPr>
            <a:r>
              <a:rPr lang="en-US" sz="1800" dirty="0">
                <a:solidFill>
                  <a:srgbClr val="9DB4E1"/>
                </a:solidFill>
                <a:latin typeface="Source Han Sans SC" pitchFamily="34" charset="0"/>
                <a:ea typeface="Source Han Sans SC" pitchFamily="34" charset="-122"/>
                <a:cs typeface="Source Han Sans SC" pitchFamily="34" charset="-120"/>
              </a:rPr>
              <a:t>Workaround</a:t>
            </a:r>
            <a:endParaRPr lang="en-US" sz="1600" dirty="0"/>
          </a:p>
        </p:txBody>
      </p:sp>
      <p:sp>
        <p:nvSpPr>
          <p:cNvPr id="9" name="Text 6"/>
          <p:cNvSpPr/>
          <p:nvPr/>
        </p:nvSpPr>
        <p:spPr>
          <a:xfrm>
            <a:off x="6861810" y="998855"/>
            <a:ext cx="4965700" cy="1322070"/>
          </a:xfrm>
          <a:prstGeom prst="rect">
            <a:avLst/>
          </a:prstGeom>
          <a:noFill/>
          <a:ln/>
        </p:spPr>
        <p:txBody>
          <a:bodyPr wrap="square" lIns="91440" tIns="45720" rIns="91440" bIns="45720" rtlCol="0" anchor="t">
            <a:spAutoFit/>
          </a:bodyPr>
          <a:lstStyle/>
          <a:p>
            <a:pPr>
              <a:lnSpc>
                <a:spcPct val="100000"/>
              </a:lnSpc>
            </a:pPr>
            <a:r>
              <a:rPr lang="en-US" sz="1600" dirty="0">
                <a:solidFill>
                  <a:srgbClr val="FFFFFF"/>
                </a:solidFill>
                <a:latin typeface="Source Han Sans SC Light" pitchFamily="34" charset="0"/>
                <a:ea typeface="Source Han Sans SC Light" pitchFamily="34" charset="-122"/>
                <a:cs typeface="Source Han Sans SC Light" pitchFamily="34" charset="-120"/>
              </a:rPr>
              <a:t>To achieve a FULL JOIN in MySQL, you can combine LEFT JOIN and RIGHT JOIN results using the UNION operator. This ensures all records from both tables are included.</a:t>
            </a:r>
            <a:endParaRPr lang="en-US" sz="1600" dirty="0"/>
          </a:p>
        </p:txBody>
      </p:sp>
      <p:sp>
        <p:nvSpPr>
          <p:cNvPr id="10" name="Text 7"/>
          <p:cNvSpPr/>
          <p:nvPr/>
        </p:nvSpPr>
        <p:spPr>
          <a:xfrm>
            <a:off x="6857365" y="2708910"/>
            <a:ext cx="4959350" cy="368300"/>
          </a:xfrm>
          <a:prstGeom prst="rect">
            <a:avLst/>
          </a:prstGeom>
          <a:noFill/>
          <a:ln/>
        </p:spPr>
        <p:txBody>
          <a:bodyPr wrap="square" lIns="91440" tIns="45720" rIns="91440" bIns="45720" rtlCol="0" anchor="t">
            <a:spAutoFit/>
          </a:bodyPr>
          <a:lstStyle/>
          <a:p>
            <a:pPr>
              <a:lnSpc>
                <a:spcPct val="100000"/>
              </a:lnSpc>
            </a:pPr>
            <a:r>
              <a:rPr lang="en-US" sz="1800" dirty="0">
                <a:solidFill>
                  <a:srgbClr val="9DB4E1"/>
                </a:solidFill>
                <a:latin typeface="Source Han Sans SC" pitchFamily="34" charset="0"/>
                <a:ea typeface="Source Han Sans SC" pitchFamily="34" charset="-122"/>
                <a:cs typeface="Source Han Sans SC" pitchFamily="34" charset="-120"/>
              </a:rPr>
              <a:t>Syntax</a:t>
            </a:r>
            <a:endParaRPr lang="en-US" sz="1600" dirty="0"/>
          </a:p>
        </p:txBody>
      </p:sp>
      <p:sp>
        <p:nvSpPr>
          <p:cNvPr id="11" name="Text 8"/>
          <p:cNvSpPr/>
          <p:nvPr/>
        </p:nvSpPr>
        <p:spPr>
          <a:xfrm>
            <a:off x="6861810" y="3049905"/>
            <a:ext cx="4965700" cy="1322070"/>
          </a:xfrm>
          <a:prstGeom prst="rect">
            <a:avLst/>
          </a:prstGeom>
          <a:noFill/>
          <a:ln/>
        </p:spPr>
        <p:txBody>
          <a:bodyPr wrap="square" lIns="91440" tIns="45720" rIns="91440" bIns="45720" rtlCol="0" anchor="t">
            <a:spAutoFit/>
          </a:bodyPr>
          <a:lstStyle/>
          <a:p>
            <a:pPr>
              <a:lnSpc>
                <a:spcPct val="100000"/>
              </a:lnSpc>
            </a:pPr>
            <a:r>
              <a:rPr lang="en-US" sz="1600" dirty="0">
                <a:solidFill>
                  <a:srgbClr val="FFFFFF"/>
                </a:solidFill>
                <a:latin typeface="Source Han Sans SC Light" pitchFamily="34" charset="0"/>
                <a:ea typeface="Source Han Sans SC Light" pitchFamily="34" charset="-122"/>
                <a:cs typeface="Source Han Sans SC Light" pitchFamily="34" charset="-120"/>
              </a:rPr>
              <a:t>The syntax involves performing a LEFT JOIN and a RIGHT JOIN separately, then combining the results with UNION to mimic the behavior of a FULL JOIN.</a:t>
            </a:r>
            <a:endParaRPr lang="en-US" sz="1600" dirty="0"/>
          </a:p>
        </p:txBody>
      </p:sp>
      <p:sp>
        <p:nvSpPr>
          <p:cNvPr id="12" name="Text 9"/>
          <p:cNvSpPr/>
          <p:nvPr/>
        </p:nvSpPr>
        <p:spPr>
          <a:xfrm>
            <a:off x="6857365" y="4645660"/>
            <a:ext cx="5042535" cy="368300"/>
          </a:xfrm>
          <a:prstGeom prst="rect">
            <a:avLst/>
          </a:prstGeom>
          <a:noFill/>
          <a:ln/>
        </p:spPr>
        <p:txBody>
          <a:bodyPr wrap="square" lIns="91440" tIns="45720" rIns="91440" bIns="45720" rtlCol="0" anchor="t">
            <a:spAutoFit/>
          </a:bodyPr>
          <a:lstStyle/>
          <a:p>
            <a:pPr>
              <a:lnSpc>
                <a:spcPct val="100000"/>
              </a:lnSpc>
            </a:pPr>
            <a:r>
              <a:rPr lang="en-US" sz="1800" dirty="0">
                <a:solidFill>
                  <a:srgbClr val="9DB4E1"/>
                </a:solidFill>
                <a:latin typeface="Source Han Sans SC" pitchFamily="34" charset="0"/>
                <a:ea typeface="Source Han Sans SC" pitchFamily="34" charset="-122"/>
                <a:cs typeface="Source Han Sans SC" pitchFamily="34" charset="-120"/>
              </a:rPr>
              <a:t>Example</a:t>
            </a:r>
            <a:endParaRPr lang="en-US" sz="1600" dirty="0"/>
          </a:p>
        </p:txBody>
      </p:sp>
      <p:sp>
        <p:nvSpPr>
          <p:cNvPr id="13" name="Text 10"/>
          <p:cNvSpPr/>
          <p:nvPr/>
        </p:nvSpPr>
        <p:spPr>
          <a:xfrm>
            <a:off x="6861810" y="5039995"/>
            <a:ext cx="4965700" cy="1322070"/>
          </a:xfrm>
          <a:prstGeom prst="rect">
            <a:avLst/>
          </a:prstGeom>
          <a:noFill/>
          <a:ln/>
        </p:spPr>
        <p:txBody>
          <a:bodyPr wrap="square" lIns="91440" tIns="45720" rIns="91440" bIns="45720" rtlCol="0" anchor="t">
            <a:spAutoFit/>
          </a:bodyPr>
          <a:lstStyle/>
          <a:p>
            <a:pPr>
              <a:lnSpc>
                <a:spcPct val="100000"/>
              </a:lnSpc>
            </a:pPr>
            <a:r>
              <a:rPr lang="en-US" sz="1600" dirty="0">
                <a:solidFill>
                  <a:srgbClr val="FFFFFF"/>
                </a:solidFill>
                <a:latin typeface="Source Han Sans SC Light" pitchFamily="34" charset="0"/>
                <a:ea typeface="Source Han Sans SC Light" pitchFamily="34" charset="-122"/>
                <a:cs typeface="Source Han Sans SC Light" pitchFamily="34" charset="-120"/>
              </a:rPr>
              <a:t>For example, to get all employees and all departments, you can use a combination of LEFT and RIGHT JOIN with UNION to ensure no data is omitted.</a:t>
            </a:r>
            <a:endParaRPr lang="en-US" sz="1600" dirty="0"/>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20:09:11-d2nfapp8bjvh7rlj0in0.jpg"/>
          <p:cNvPicPr>
            <a:picLocks noChangeAspect="1"/>
          </p:cNvPicPr>
          <p:nvPr/>
        </p:nvPicPr>
        <p:blipFill>
          <a:blip r:embed="rId3"/>
          <a:stretch>
            <a:fillRect/>
          </a:stretch>
        </p:blipFill>
        <p:spPr>
          <a:xfrm>
            <a:off x="7519987" y="0"/>
            <a:ext cx="4672013" cy="6858000"/>
          </a:xfrm>
          <a:prstGeom prst="rect">
            <a:avLst/>
          </a:prstGeom>
        </p:spPr>
      </p:pic>
      <p:sp>
        <p:nvSpPr>
          <p:cNvPr id="3" name="Shape 0"/>
          <p:cNvSpPr/>
          <p:nvPr/>
        </p:nvSpPr>
        <p:spPr>
          <a:xfrm>
            <a:off x="0" y="0"/>
            <a:ext cx="7519987" cy="6872844"/>
          </a:xfrm>
          <a:prstGeom prst="rect">
            <a:avLst/>
          </a:prstGeom>
          <a:solidFill>
            <a:srgbClr val="161616"/>
          </a:solidFill>
          <a:ln/>
        </p:spPr>
      </p:sp>
      <p:sp>
        <p:nvSpPr>
          <p:cNvPr id="4" name="Text 1"/>
          <p:cNvSpPr/>
          <p:nvPr/>
        </p:nvSpPr>
        <p:spPr>
          <a:xfrm>
            <a:off x="0" y="0"/>
            <a:ext cx="7519987" cy="6872844"/>
          </a:xfrm>
          <a:prstGeom prst="rect">
            <a:avLst/>
          </a:prstGeom>
          <a:noFill/>
          <a:ln/>
        </p:spPr>
        <p:txBody>
          <a:bodyPr wrap="square" lIns="45720" tIns="91440" rIns="91440" bIns="45720" rtlCol="0" anchor="ctr"/>
          <a:lstStyle/>
          <a:p>
            <a:pPr>
              <a:lnSpc>
                <a:spcPct val="100000"/>
              </a:lnSpc>
            </a:pPr>
            <a:endParaRPr lang="en-US" sz="1600" dirty="0"/>
          </a:p>
        </p:txBody>
      </p:sp>
      <p:sp>
        <p:nvSpPr>
          <p:cNvPr id="5" name="Shape 2"/>
          <p:cNvSpPr/>
          <p:nvPr/>
        </p:nvSpPr>
        <p:spPr>
          <a:xfrm>
            <a:off x="5553773" y="691737"/>
            <a:ext cx="5870202" cy="5474525"/>
          </a:xfrm>
          <a:prstGeom prst="rect">
            <a:avLst/>
          </a:prstGeom>
          <a:solidFill>
            <a:srgbClr val="FFFFFF"/>
          </a:solidFill>
          <a:ln/>
        </p:spPr>
      </p:sp>
      <p:sp>
        <p:nvSpPr>
          <p:cNvPr id="6" name="Text 3"/>
          <p:cNvSpPr/>
          <p:nvPr/>
        </p:nvSpPr>
        <p:spPr>
          <a:xfrm>
            <a:off x="5553773" y="691737"/>
            <a:ext cx="5870202" cy="5474525"/>
          </a:xfrm>
          <a:prstGeom prst="rect">
            <a:avLst/>
          </a:prstGeom>
          <a:noFill/>
          <a:ln/>
        </p:spPr>
        <p:txBody>
          <a:bodyPr wrap="square" lIns="45720" tIns="91440" rIns="91440" bIns="45720" rtlCol="0" anchor="ctr"/>
          <a:lstStyle/>
          <a:p>
            <a:pPr>
              <a:lnSpc>
                <a:spcPct val="100000"/>
              </a:lnSpc>
            </a:pPr>
            <a:endParaRPr lang="en-US" sz="1600" dirty="0"/>
          </a:p>
        </p:txBody>
      </p:sp>
      <p:sp>
        <p:nvSpPr>
          <p:cNvPr id="7" name="Text 4"/>
          <p:cNvSpPr/>
          <p:nvPr/>
        </p:nvSpPr>
        <p:spPr>
          <a:xfrm>
            <a:off x="659768" y="1856646"/>
            <a:ext cx="4118258" cy="1477328"/>
          </a:xfrm>
          <a:prstGeom prst="rect">
            <a:avLst/>
          </a:prstGeom>
          <a:noFill/>
          <a:ln/>
        </p:spPr>
        <p:txBody>
          <a:bodyPr wrap="square" lIns="91440" tIns="45720" rIns="91440" bIns="45720" rtlCol="0" anchor="t">
            <a:spAutoFit/>
          </a:bodyPr>
          <a:lstStyle/>
          <a:p>
            <a:pPr>
              <a:lnSpc>
                <a:spcPct val="100000"/>
              </a:lnSpc>
            </a:pPr>
            <a:r>
              <a:rPr lang="en-US" sz="3600" dirty="0">
                <a:solidFill>
                  <a:srgbClr val="FFFFFF"/>
                </a:solidFill>
                <a:latin typeface="Source Han Sans SC" pitchFamily="34" charset="0"/>
                <a:ea typeface="Source Han Sans SC" pitchFamily="34" charset="-122"/>
                <a:cs typeface="Source Han Sans SC" pitchFamily="34" charset="-120"/>
              </a:rPr>
              <a:t>When to Choose Each Join</a:t>
            </a:r>
            <a:endParaRPr lang="en-US" sz="1600" dirty="0"/>
          </a:p>
        </p:txBody>
      </p:sp>
      <p:pic>
        <p:nvPicPr>
          <p:cNvPr id="8" name="Image 1" descr="https://kimi-img.moonshot.cn/pub/slides/slides_tmpl/image/25-08-27-20:09:10-d2nfaph8bjvh7rlj0ihg.png"/>
          <p:cNvPicPr>
            <a:picLocks noChangeAspect="1"/>
          </p:cNvPicPr>
          <p:nvPr/>
        </p:nvPicPr>
        <p:blipFill>
          <a:blip r:embed="rId4"/>
          <a:stretch>
            <a:fillRect/>
          </a:stretch>
        </p:blipFill>
        <p:spPr>
          <a:xfrm>
            <a:off x="2162257" y="1286340"/>
            <a:ext cx="635000" cy="368300"/>
          </a:xfrm>
          <a:prstGeom prst="rect">
            <a:avLst/>
          </a:prstGeom>
        </p:spPr>
      </p:pic>
      <p:sp>
        <p:nvSpPr>
          <p:cNvPr id="9" name="Text 5"/>
          <p:cNvSpPr/>
          <p:nvPr/>
        </p:nvSpPr>
        <p:spPr>
          <a:xfrm>
            <a:off x="673100" y="3244850"/>
            <a:ext cx="4212590" cy="398780"/>
          </a:xfrm>
          <a:prstGeom prst="rect">
            <a:avLst/>
          </a:prstGeom>
          <a:noFill/>
          <a:ln/>
        </p:spPr>
        <p:txBody>
          <a:bodyPr wrap="square" lIns="91440" tIns="45720" rIns="91440" bIns="45720" rtlCol="0" anchor="t">
            <a:spAutoFit/>
          </a:bodyPr>
          <a:lstStyle/>
          <a:p>
            <a:pPr>
              <a:lnSpc>
                <a:spcPct val="100000"/>
              </a:lnSpc>
            </a:pPr>
            <a:r>
              <a:rPr lang="en-US" sz="2000" dirty="0">
                <a:solidFill>
                  <a:srgbClr val="FFFFFF"/>
                </a:solidFill>
                <a:latin typeface="Source Han Sans SC" pitchFamily="34" charset="0"/>
                <a:ea typeface="Source Han Sans SC" pitchFamily="34" charset="-122"/>
                <a:cs typeface="Source Han Sans SC" pitchFamily="34" charset="-120"/>
              </a:rPr>
              <a:t>INNER JOIN</a:t>
            </a:r>
            <a:endParaRPr lang="en-US" sz="1600" dirty="0"/>
          </a:p>
        </p:txBody>
      </p:sp>
      <p:sp>
        <p:nvSpPr>
          <p:cNvPr id="10" name="Text 6"/>
          <p:cNvSpPr/>
          <p:nvPr/>
        </p:nvSpPr>
        <p:spPr>
          <a:xfrm>
            <a:off x="672843" y="3592270"/>
            <a:ext cx="3613829" cy="1814830"/>
          </a:xfrm>
          <a:prstGeom prst="rect">
            <a:avLst/>
          </a:prstGeom>
          <a:noFill/>
          <a:ln/>
        </p:spPr>
        <p:txBody>
          <a:bodyPr wrap="square" lIns="91440" tIns="45720" rIns="91440" bIns="45720" rtlCol="0" anchor="t">
            <a:spAutoFit/>
          </a:bodyPr>
          <a:lstStyle/>
          <a:p>
            <a:pPr>
              <a:lnSpc>
                <a:spcPct val="100000"/>
              </a:lnSpc>
            </a:pPr>
            <a:r>
              <a:rPr lang="en-US" sz="1600" dirty="0">
                <a:solidFill>
                  <a:srgbClr val="FFFFFF"/>
                </a:solidFill>
                <a:latin typeface="Source Han Sans SC Normal" pitchFamily="34" charset="0"/>
                <a:ea typeface="Source Han Sans SC Normal" pitchFamily="34" charset="-122"/>
                <a:cs typeface="Source Han Sans SC Normal" pitchFamily="34" charset="-120"/>
              </a:rPr>
              <a:t>Use INNER JOIN when you only need matching rows from both tables. This is ideal for reports requiring consistent data across multiple tables.</a:t>
            </a:r>
            <a:endParaRPr lang="en-US" sz="1600" dirty="0"/>
          </a:p>
        </p:txBody>
      </p:sp>
      <p:sp>
        <p:nvSpPr>
          <p:cNvPr id="11" name="Text 7"/>
          <p:cNvSpPr/>
          <p:nvPr/>
        </p:nvSpPr>
        <p:spPr>
          <a:xfrm>
            <a:off x="6309995" y="1484630"/>
            <a:ext cx="4384675" cy="398780"/>
          </a:xfrm>
          <a:prstGeom prst="rect">
            <a:avLst/>
          </a:prstGeom>
          <a:noFill/>
          <a:ln/>
        </p:spPr>
        <p:txBody>
          <a:bodyPr wrap="square" lIns="91440" tIns="45720" rIns="91440" bIns="45720" rtlCol="0" anchor="t">
            <a:spAutoFit/>
          </a:bodyPr>
          <a:lstStyle/>
          <a:p>
            <a:pPr>
              <a:lnSpc>
                <a:spcPct val="100000"/>
              </a:lnSpc>
            </a:pPr>
            <a:r>
              <a:rPr lang="en-US" sz="2000" dirty="0">
                <a:solidFill>
                  <a:srgbClr val="000000"/>
                </a:solidFill>
                <a:latin typeface="Source Han Sans SC" pitchFamily="34" charset="0"/>
                <a:ea typeface="Source Han Sans SC" pitchFamily="34" charset="-122"/>
                <a:cs typeface="Source Han Sans SC" pitchFamily="34" charset="-120"/>
              </a:rPr>
              <a:t>LEFT JOIN</a:t>
            </a:r>
            <a:endParaRPr lang="en-US" sz="1600" dirty="0"/>
          </a:p>
        </p:txBody>
      </p:sp>
      <p:sp>
        <p:nvSpPr>
          <p:cNvPr id="12" name="Text 8"/>
          <p:cNvSpPr/>
          <p:nvPr/>
        </p:nvSpPr>
        <p:spPr>
          <a:xfrm>
            <a:off x="6310009" y="1807120"/>
            <a:ext cx="4710824" cy="1568450"/>
          </a:xfrm>
          <a:prstGeom prst="rect">
            <a:avLst/>
          </a:prstGeom>
          <a:noFill/>
          <a:ln/>
        </p:spPr>
        <p:txBody>
          <a:bodyPr wrap="square" lIns="91440" tIns="45720" rIns="91440" bIns="45720" rtlCol="0" anchor="t">
            <a:spAutoFit/>
          </a:bodyPr>
          <a:lstStyle/>
          <a:p>
            <a:pPr>
              <a:lnSpc>
                <a:spcPct val="100000"/>
              </a:lnSpc>
            </a:pPr>
            <a:r>
              <a:rPr lang="en-US" sz="1600" dirty="0">
                <a:solidFill>
                  <a:srgbClr val="000000"/>
                </a:solidFill>
                <a:latin typeface="Source Han Sans SC Normal" pitchFamily="34" charset="0"/>
                <a:ea typeface="Source Han Sans SC Normal" pitchFamily="34" charset="-122"/>
                <a:cs typeface="Source Han Sans SC Normal" pitchFamily="34" charset="-120"/>
              </a:rPr>
              <a:t>Choose LEFT JOIN when you need all rows from the left table and matching data from the right table. This is useful for master-detail relationships.</a:t>
            </a:r>
            <a:endParaRPr lang="en-US" sz="1600" dirty="0"/>
          </a:p>
        </p:txBody>
      </p:sp>
      <p:sp>
        <p:nvSpPr>
          <p:cNvPr id="13" name="Text 9"/>
          <p:cNvSpPr/>
          <p:nvPr/>
        </p:nvSpPr>
        <p:spPr>
          <a:xfrm>
            <a:off x="6309995" y="3911600"/>
            <a:ext cx="4678045" cy="398780"/>
          </a:xfrm>
          <a:prstGeom prst="rect">
            <a:avLst/>
          </a:prstGeom>
          <a:noFill/>
          <a:ln/>
        </p:spPr>
        <p:txBody>
          <a:bodyPr wrap="square" lIns="91440" tIns="45720" rIns="91440" bIns="45720" rtlCol="0" anchor="t">
            <a:spAutoFit/>
          </a:bodyPr>
          <a:lstStyle/>
          <a:p>
            <a:pPr>
              <a:lnSpc>
                <a:spcPct val="100000"/>
              </a:lnSpc>
            </a:pPr>
            <a:r>
              <a:rPr lang="en-US" sz="2000" dirty="0">
                <a:solidFill>
                  <a:srgbClr val="000000"/>
                </a:solidFill>
                <a:latin typeface="Source Han Sans SC" pitchFamily="34" charset="0"/>
                <a:ea typeface="Source Han Sans SC" pitchFamily="34" charset="-122"/>
                <a:cs typeface="Source Han Sans SC" pitchFamily="34" charset="-120"/>
              </a:rPr>
              <a:t>RIGHT JOIN</a:t>
            </a:r>
            <a:endParaRPr lang="en-US" sz="1600" dirty="0"/>
          </a:p>
        </p:txBody>
      </p:sp>
      <p:sp>
        <p:nvSpPr>
          <p:cNvPr id="14" name="Text 10"/>
          <p:cNvSpPr/>
          <p:nvPr/>
        </p:nvSpPr>
        <p:spPr>
          <a:xfrm>
            <a:off x="6310009" y="4233929"/>
            <a:ext cx="4710824" cy="1568450"/>
          </a:xfrm>
          <a:prstGeom prst="rect">
            <a:avLst/>
          </a:prstGeom>
          <a:noFill/>
          <a:ln/>
        </p:spPr>
        <p:txBody>
          <a:bodyPr wrap="square" lIns="91440" tIns="45720" rIns="91440" bIns="45720" rtlCol="0" anchor="t">
            <a:spAutoFit/>
          </a:bodyPr>
          <a:lstStyle/>
          <a:p>
            <a:pPr>
              <a:lnSpc>
                <a:spcPct val="100000"/>
              </a:lnSpc>
            </a:pPr>
            <a:r>
              <a:rPr lang="en-US" sz="1600" dirty="0">
                <a:solidFill>
                  <a:srgbClr val="000000"/>
                </a:solidFill>
                <a:latin typeface="Source Han Sans SC Normal" pitchFamily="34" charset="0"/>
                <a:ea typeface="Source Han Sans SC Normal" pitchFamily="34" charset="-122"/>
                <a:cs typeface="Source Han Sans SC Normal" pitchFamily="34" charset="-120"/>
              </a:rPr>
              <a:t>RIGHT JOIN is suitable when you need all rows from the right table and matching data from the left table. It’s often used when the secondary table is the primary source of data.</a:t>
            </a:r>
            <a:endParaRPr lang="en-US" sz="1600" dirty="0"/>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51180" y="2952115"/>
            <a:ext cx="5887085" cy="953135"/>
          </a:xfrm>
          <a:prstGeom prst="rect">
            <a:avLst/>
          </a:prstGeom>
          <a:noFill/>
          <a:ln/>
        </p:spPr>
        <p:txBody>
          <a:bodyPr wrap="square" lIns="91440" tIns="45720" rIns="91440" bIns="45720" rtlCol="0" anchor="t">
            <a:spAutoFit/>
          </a:bodyPr>
          <a:lstStyle/>
          <a:p>
            <a:pPr>
              <a:lnSpc>
                <a:spcPct val="100000"/>
              </a:lnSpc>
            </a:pPr>
            <a:r>
              <a:rPr lang="en-US" sz="2800" dirty="0">
                <a:solidFill>
                  <a:srgbClr val="000000"/>
                </a:solidFill>
                <a:latin typeface="Source Han Sans SC" pitchFamily="34" charset="0"/>
                <a:ea typeface="Source Han Sans SC" pitchFamily="34" charset="-122"/>
                <a:cs typeface="Source Han Sans SC" pitchFamily="34" charset="-120"/>
              </a:rPr>
              <a:t>Subquery Power</a:t>
            </a:r>
            <a:endParaRPr lang="en-US" sz="1600" dirty="0"/>
          </a:p>
        </p:txBody>
      </p:sp>
      <p:sp>
        <p:nvSpPr>
          <p:cNvPr id="3" name="Shape 1"/>
          <p:cNvSpPr/>
          <p:nvPr/>
        </p:nvSpPr>
        <p:spPr>
          <a:xfrm>
            <a:off x="711202" y="786574"/>
            <a:ext cx="3434078" cy="0"/>
          </a:xfrm>
          <a:prstGeom prst="line">
            <a:avLst/>
          </a:prstGeom>
          <a:noFill/>
          <a:ln w="15875">
            <a:solidFill>
              <a:srgbClr val="000000"/>
            </a:solidFill>
            <a:prstDash val="solid"/>
            <a:headEnd type="none"/>
            <a:tailEnd type="none"/>
          </a:ln>
        </p:spPr>
      </p:sp>
      <p:pic>
        <p:nvPicPr>
          <p:cNvPr id="4" name="Image 0" descr="https://kimi-img.moonshot.cn/pub/slides/slides_tmpl/image/25-08-27-20:09:03-d2nfanp8bjvh7rlj0i40.jpg"/>
          <p:cNvPicPr>
            <a:picLocks noChangeAspect="1"/>
          </p:cNvPicPr>
          <p:nvPr/>
        </p:nvPicPr>
        <p:blipFill>
          <a:blip r:embed="rId3"/>
          <a:stretch>
            <a:fillRect/>
          </a:stretch>
        </p:blipFill>
        <p:spPr>
          <a:xfrm>
            <a:off x="8046721" y="1008555"/>
            <a:ext cx="3553129" cy="5196386"/>
          </a:xfrm>
          <a:prstGeom prst="rect">
            <a:avLst/>
          </a:prstGeom>
        </p:spPr>
      </p:pic>
      <p:pic>
        <p:nvPicPr>
          <p:cNvPr id="5" name="Image 1" descr="https://kimi-img.moonshot.cn/pub/slides/slides_tmpl/image/25-08-27-20:09:03-d2nfanp8bjvh7rlj0i3g.png"/>
          <p:cNvPicPr>
            <a:picLocks noChangeAspect="1"/>
          </p:cNvPicPr>
          <p:nvPr/>
        </p:nvPicPr>
        <p:blipFill>
          <a:blip r:embed="rId4"/>
          <a:srcRect r="60768" b="-4844"/>
          <a:stretch/>
        </p:blipFill>
        <p:spPr>
          <a:xfrm>
            <a:off x="551180" y="404495"/>
            <a:ext cx="4320336" cy="503981"/>
          </a:xfrm>
          <a:prstGeom prst="rect">
            <a:avLst/>
          </a:prstGeom>
        </p:spPr>
      </p:pic>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847971" y="819082"/>
            <a:ext cx="4677917" cy="5490238"/>
          </a:xfrm>
          <a:prstGeom prst="rect">
            <a:avLst/>
          </a:prstGeom>
          <a:solidFill>
            <a:srgbClr val="161616"/>
          </a:solidFill>
          <a:ln/>
        </p:spPr>
      </p:sp>
      <p:sp>
        <p:nvSpPr>
          <p:cNvPr id="3" name="Text 1"/>
          <p:cNvSpPr/>
          <p:nvPr/>
        </p:nvSpPr>
        <p:spPr>
          <a:xfrm>
            <a:off x="6847971" y="819082"/>
            <a:ext cx="4677917" cy="5490238"/>
          </a:xfrm>
          <a:prstGeom prst="rect">
            <a:avLst/>
          </a:prstGeom>
          <a:noFill/>
          <a:ln/>
        </p:spPr>
        <p:txBody>
          <a:bodyPr wrap="square" lIns="45720" tIns="91440" rIns="91440" bIns="45720" rtlCol="0" anchor="ctr"/>
          <a:lstStyle/>
          <a:p>
            <a:pPr>
              <a:lnSpc>
                <a:spcPct val="100000"/>
              </a:lnSpc>
            </a:pPr>
            <a:endParaRPr lang="en-US" sz="1600" dirty="0"/>
          </a:p>
        </p:txBody>
      </p:sp>
      <p:sp>
        <p:nvSpPr>
          <p:cNvPr id="4" name="Text 2"/>
          <p:cNvSpPr/>
          <p:nvPr/>
        </p:nvSpPr>
        <p:spPr>
          <a:xfrm>
            <a:off x="663575" y="5517515"/>
            <a:ext cx="6209030" cy="780415"/>
          </a:xfrm>
          <a:prstGeom prst="rect">
            <a:avLst/>
          </a:prstGeom>
          <a:noFill/>
          <a:ln/>
        </p:spPr>
        <p:txBody>
          <a:bodyPr wrap="square" lIns="91440" tIns="45720" rIns="91440" bIns="45720" rtlCol="0" anchor="b"/>
          <a:lstStyle/>
          <a:p>
            <a:pPr>
              <a:lnSpc>
                <a:spcPct val="100000"/>
              </a:lnSpc>
            </a:pPr>
            <a:r>
              <a:rPr lang="en-US" sz="3600" dirty="0">
                <a:solidFill>
                  <a:srgbClr val="000000"/>
                </a:solidFill>
                <a:latin typeface="Source Han Sans SC" pitchFamily="34" charset="0"/>
                <a:ea typeface="Source Han Sans SC" pitchFamily="34" charset="-122"/>
                <a:cs typeface="Source Han Sans SC" pitchFamily="34" charset="-120"/>
              </a:rPr>
              <a:t>What Is a Subquery</a:t>
            </a:r>
            <a:endParaRPr lang="en-US" sz="1600" dirty="0"/>
          </a:p>
        </p:txBody>
      </p:sp>
      <p:pic>
        <p:nvPicPr>
          <p:cNvPr id="5" name="Image 0" descr="https://kimi-img.moonshot.cn/pub/slides/slides_tmpl/image/25-08-27-20:09:07-d2nfaop8bjvh7rlj0i9g.jpg"/>
          <p:cNvPicPr>
            <a:picLocks noChangeAspect="1"/>
          </p:cNvPicPr>
          <p:nvPr/>
        </p:nvPicPr>
        <p:blipFill>
          <a:blip r:embed="rId3"/>
          <a:stretch>
            <a:fillRect/>
          </a:stretch>
        </p:blipFill>
        <p:spPr>
          <a:xfrm>
            <a:off x="1797445" y="1597073"/>
            <a:ext cx="4697341" cy="2642254"/>
          </a:xfrm>
          <a:prstGeom prst="rect">
            <a:avLst/>
          </a:prstGeom>
        </p:spPr>
      </p:pic>
      <p:sp>
        <p:nvSpPr>
          <p:cNvPr id="6" name="Shape 3"/>
          <p:cNvSpPr/>
          <p:nvPr/>
        </p:nvSpPr>
        <p:spPr>
          <a:xfrm>
            <a:off x="767408" y="1597073"/>
            <a:ext cx="1030037" cy="631057"/>
          </a:xfrm>
          <a:prstGeom prst="rect">
            <a:avLst/>
          </a:prstGeom>
          <a:solidFill>
            <a:srgbClr val="9DB4E0"/>
          </a:solidFill>
          <a:ln/>
        </p:spPr>
      </p:sp>
      <p:sp>
        <p:nvSpPr>
          <p:cNvPr id="7" name="Text 4"/>
          <p:cNvSpPr/>
          <p:nvPr/>
        </p:nvSpPr>
        <p:spPr>
          <a:xfrm>
            <a:off x="767408" y="1597073"/>
            <a:ext cx="1030037" cy="631057"/>
          </a:xfrm>
          <a:prstGeom prst="rect">
            <a:avLst/>
          </a:prstGeom>
          <a:noFill/>
          <a:ln/>
        </p:spPr>
        <p:txBody>
          <a:bodyPr wrap="square" lIns="45720" tIns="91440" rIns="91440" bIns="45720" rtlCol="0" anchor="ctr"/>
          <a:lstStyle/>
          <a:p>
            <a:pPr>
              <a:lnSpc>
                <a:spcPct val="100000"/>
              </a:lnSpc>
            </a:pPr>
            <a:endParaRPr lang="en-US" sz="1600" dirty="0"/>
          </a:p>
        </p:txBody>
      </p:sp>
      <p:sp>
        <p:nvSpPr>
          <p:cNvPr id="8" name="Shape 5"/>
          <p:cNvSpPr/>
          <p:nvPr/>
        </p:nvSpPr>
        <p:spPr>
          <a:xfrm>
            <a:off x="1127448" y="1916832"/>
            <a:ext cx="288032" cy="0"/>
          </a:xfrm>
          <a:prstGeom prst="straightConnector1">
            <a:avLst/>
          </a:prstGeom>
          <a:noFill/>
          <a:ln w="19050">
            <a:solidFill>
              <a:srgbClr val="000000"/>
            </a:solidFill>
            <a:prstDash val="solid"/>
            <a:headEnd type="none"/>
            <a:tailEnd type="triangle"/>
          </a:ln>
        </p:spPr>
      </p:sp>
      <p:sp>
        <p:nvSpPr>
          <p:cNvPr id="9" name="Text 6"/>
          <p:cNvSpPr/>
          <p:nvPr/>
        </p:nvSpPr>
        <p:spPr>
          <a:xfrm>
            <a:off x="6892290" y="1269365"/>
            <a:ext cx="4576445" cy="718185"/>
          </a:xfrm>
          <a:prstGeom prst="rect">
            <a:avLst/>
          </a:prstGeom>
          <a:noFill/>
          <a:ln/>
        </p:spPr>
        <p:txBody>
          <a:bodyPr wrap="square" lIns="91440" tIns="45720" rIns="91440" bIns="45720" rtlCol="0" anchor="b"/>
          <a:lstStyle/>
          <a:p>
            <a:pPr algn="ctr">
              <a:lnSpc>
                <a:spcPct val="100000"/>
              </a:lnSpc>
            </a:pPr>
            <a:r>
              <a:rPr lang="en-US" sz="2400" dirty="0">
                <a:solidFill>
                  <a:srgbClr val="FFFFFF"/>
                </a:solidFill>
                <a:latin typeface="Source Han Sans SC" pitchFamily="34" charset="0"/>
                <a:ea typeface="Source Han Sans SC" pitchFamily="34" charset="-122"/>
                <a:cs typeface="Source Han Sans SC" pitchFamily="34" charset="-120"/>
              </a:rPr>
              <a:t>Definition</a:t>
            </a:r>
            <a:endParaRPr lang="en-US" sz="1600" dirty="0"/>
          </a:p>
        </p:txBody>
      </p:sp>
      <p:sp>
        <p:nvSpPr>
          <p:cNvPr id="10" name="Text 7"/>
          <p:cNvSpPr/>
          <p:nvPr/>
        </p:nvSpPr>
        <p:spPr>
          <a:xfrm>
            <a:off x="7024688" y="2030506"/>
            <a:ext cx="4263303" cy="1568450"/>
          </a:xfrm>
          <a:prstGeom prst="rect">
            <a:avLst/>
          </a:prstGeom>
          <a:noFill/>
          <a:ln/>
        </p:spPr>
        <p:txBody>
          <a:bodyPr wrap="square" lIns="91440" tIns="45720" rIns="91440" bIns="45720" rtlCol="0" anchor="t">
            <a:spAutoFit/>
          </a:bodyPr>
          <a:lstStyle/>
          <a:p>
            <a:pPr>
              <a:lnSpc>
                <a:spcPct val="100000"/>
              </a:lnSpc>
            </a:pPr>
            <a:r>
              <a:rPr lang="en-US" sz="1600" dirty="0">
                <a:solidFill>
                  <a:srgbClr val="FFFFFF"/>
                </a:solidFill>
                <a:latin typeface="Source Han Sans SC Normal" pitchFamily="34" charset="0"/>
                <a:ea typeface="Source Han Sans SC Normal" pitchFamily="34" charset="-122"/>
                <a:cs typeface="Source Han Sans SC Normal" pitchFamily="34" charset="-120"/>
              </a:rPr>
              <a:t>A subquery is a query nested inside another query. It allows you to perform complex filtering and data retrieval by breaking down the problem into manageable steps.</a:t>
            </a:r>
            <a:endParaRPr lang="en-US" sz="1600" dirty="0"/>
          </a:p>
        </p:txBody>
      </p:sp>
      <p:sp>
        <p:nvSpPr>
          <p:cNvPr id="11" name="Text 8"/>
          <p:cNvSpPr/>
          <p:nvPr/>
        </p:nvSpPr>
        <p:spPr>
          <a:xfrm>
            <a:off x="6882130" y="4077335"/>
            <a:ext cx="4504055" cy="460375"/>
          </a:xfrm>
          <a:prstGeom prst="rect">
            <a:avLst/>
          </a:prstGeom>
          <a:noFill/>
          <a:ln/>
        </p:spPr>
        <p:txBody>
          <a:bodyPr wrap="square" lIns="91440" tIns="45720" rIns="91440" bIns="45720" rtlCol="0" anchor="b">
            <a:spAutoFit/>
          </a:bodyPr>
          <a:lstStyle/>
          <a:p>
            <a:pPr algn="ctr">
              <a:lnSpc>
                <a:spcPct val="100000"/>
              </a:lnSpc>
            </a:pPr>
            <a:r>
              <a:rPr lang="en-US" sz="2400" dirty="0">
                <a:solidFill>
                  <a:srgbClr val="FFFFFF"/>
                </a:solidFill>
                <a:latin typeface="Source Han Sans SC" pitchFamily="34" charset="0"/>
                <a:ea typeface="Source Han Sans SC" pitchFamily="34" charset="-122"/>
                <a:cs typeface="Source Han Sans SC" pitchFamily="34" charset="-120"/>
              </a:rPr>
              <a:t>Purpose</a:t>
            </a:r>
            <a:endParaRPr lang="en-US" sz="1600" dirty="0"/>
          </a:p>
        </p:txBody>
      </p:sp>
      <p:sp>
        <p:nvSpPr>
          <p:cNvPr id="12" name="Text 9"/>
          <p:cNvSpPr/>
          <p:nvPr/>
        </p:nvSpPr>
        <p:spPr>
          <a:xfrm>
            <a:off x="7024688" y="4540101"/>
            <a:ext cx="4263303" cy="1568450"/>
          </a:xfrm>
          <a:prstGeom prst="rect">
            <a:avLst/>
          </a:prstGeom>
          <a:noFill/>
          <a:ln/>
        </p:spPr>
        <p:txBody>
          <a:bodyPr wrap="square" lIns="91440" tIns="45720" rIns="91440" bIns="45720" rtlCol="0" anchor="t">
            <a:spAutoFit/>
          </a:bodyPr>
          <a:lstStyle/>
          <a:p>
            <a:pPr>
              <a:lnSpc>
                <a:spcPct val="100000"/>
              </a:lnSpc>
            </a:pPr>
            <a:r>
              <a:rPr lang="en-US" sz="1600" dirty="0">
                <a:solidFill>
                  <a:srgbClr val="FFFFFF"/>
                </a:solidFill>
                <a:latin typeface="Source Han Sans SC Normal" pitchFamily="34" charset="0"/>
                <a:ea typeface="Source Han Sans SC Normal" pitchFamily="34" charset="-122"/>
                <a:cs typeface="Source Han Sans SC Normal" pitchFamily="34" charset="-120"/>
              </a:rPr>
              <a:t>Subqueries are used to derive values dynamically, filter data based on conditions, and perform calculations that are not possible with a single query.</a:t>
            </a:r>
            <a:endParaRPr lang="en-US" sz="1600" dirty="0"/>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1"/>
            <a:ext cx="12192000" cy="6858001"/>
          </a:xfrm>
          <a:prstGeom prst="rect">
            <a:avLst/>
          </a:prstGeom>
          <a:solidFill>
            <a:srgbClr val="0D0D0D"/>
          </a:solidFill>
          <a:ln/>
        </p:spPr>
      </p:sp>
      <p:sp>
        <p:nvSpPr>
          <p:cNvPr id="3" name="Text 1"/>
          <p:cNvSpPr/>
          <p:nvPr/>
        </p:nvSpPr>
        <p:spPr>
          <a:xfrm>
            <a:off x="0" y="-1"/>
            <a:ext cx="12192000" cy="6858001"/>
          </a:xfrm>
          <a:prstGeom prst="rect">
            <a:avLst/>
          </a:prstGeom>
          <a:noFill/>
          <a:ln/>
        </p:spPr>
        <p:txBody>
          <a:bodyPr wrap="square" lIns="45720" tIns="91440" rIns="91440" bIns="45720" rtlCol="0" anchor="ctr"/>
          <a:lstStyle/>
          <a:p>
            <a:pPr>
              <a:lnSpc>
                <a:spcPct val="100000"/>
              </a:lnSpc>
            </a:pPr>
            <a:endParaRPr lang="en-US" sz="1600" dirty="0"/>
          </a:p>
        </p:txBody>
      </p:sp>
      <p:sp>
        <p:nvSpPr>
          <p:cNvPr id="4" name="Text 2"/>
          <p:cNvSpPr/>
          <p:nvPr/>
        </p:nvSpPr>
        <p:spPr>
          <a:xfrm>
            <a:off x="911225" y="5516880"/>
            <a:ext cx="10132060" cy="768350"/>
          </a:xfrm>
          <a:prstGeom prst="rect">
            <a:avLst/>
          </a:prstGeom>
          <a:noFill/>
          <a:ln/>
        </p:spPr>
        <p:txBody>
          <a:bodyPr wrap="square" lIns="91440" tIns="45720" rIns="91440" bIns="45720" rtlCol="0" anchor="t">
            <a:spAutoFit/>
          </a:bodyPr>
          <a:lstStyle/>
          <a:p>
            <a:pPr>
              <a:lnSpc>
                <a:spcPct val="100000"/>
              </a:lnSpc>
            </a:pPr>
            <a:r>
              <a:rPr lang="en-US" sz="4400" dirty="0">
                <a:solidFill>
                  <a:srgbClr val="FFFFFF"/>
                </a:solidFill>
                <a:latin typeface="Source Han Sans SC" pitchFamily="34" charset="0"/>
                <a:ea typeface="Source Han Sans SC" pitchFamily="34" charset="-122"/>
                <a:cs typeface="Source Han Sans SC" pitchFamily="34" charset="-120"/>
              </a:rPr>
              <a:t>Scalar Multi-row Correlated Forms</a:t>
            </a:r>
            <a:endParaRPr lang="en-US" sz="1600" dirty="0"/>
          </a:p>
        </p:txBody>
      </p:sp>
      <p:sp>
        <p:nvSpPr>
          <p:cNvPr id="5" name="Text 3"/>
          <p:cNvSpPr/>
          <p:nvPr/>
        </p:nvSpPr>
        <p:spPr>
          <a:xfrm>
            <a:off x="839416" y="697741"/>
            <a:ext cx="585125" cy="460375"/>
          </a:xfrm>
          <a:prstGeom prst="rect">
            <a:avLst/>
          </a:prstGeom>
          <a:noFill/>
          <a:ln/>
        </p:spPr>
        <p:txBody>
          <a:bodyPr wrap="square" lIns="91440" tIns="45720" rIns="91440" bIns="45720" rtlCol="0" anchor="t">
            <a:spAutoFit/>
          </a:bodyPr>
          <a:lstStyle/>
          <a:p>
            <a:pPr>
              <a:lnSpc>
                <a:spcPct val="100000"/>
              </a:lnSpc>
            </a:pPr>
            <a:r>
              <a:rPr lang="en-US" sz="2400" dirty="0">
                <a:solidFill>
                  <a:srgbClr val="C2F5E1"/>
                </a:solidFill>
                <a:latin typeface="Source Han Sans SC Medium" pitchFamily="34" charset="0"/>
                <a:ea typeface="Source Han Sans SC Medium" pitchFamily="34" charset="-122"/>
                <a:cs typeface="Source Han Sans SC Medium" pitchFamily="34" charset="-120"/>
              </a:rPr>
              <a:t>01</a:t>
            </a:r>
            <a:endParaRPr lang="en-US" sz="1600" dirty="0"/>
          </a:p>
        </p:txBody>
      </p:sp>
      <p:sp>
        <p:nvSpPr>
          <p:cNvPr id="6" name="Text 4"/>
          <p:cNvSpPr/>
          <p:nvPr/>
        </p:nvSpPr>
        <p:spPr>
          <a:xfrm>
            <a:off x="839470" y="1102360"/>
            <a:ext cx="4965065" cy="414655"/>
          </a:xfrm>
          <a:prstGeom prst="rect">
            <a:avLst/>
          </a:prstGeom>
          <a:noFill/>
          <a:ln/>
        </p:spPr>
        <p:txBody>
          <a:bodyPr wrap="square" lIns="91440" tIns="45720" rIns="91440" bIns="45720" rtlCol="0" anchor="t"/>
          <a:lstStyle/>
          <a:p>
            <a:pPr>
              <a:lnSpc>
                <a:spcPct val="100000"/>
              </a:lnSpc>
            </a:pPr>
            <a:r>
              <a:rPr lang="en-US" sz="2400" dirty="0">
                <a:solidFill>
                  <a:srgbClr val="FFFFFF"/>
                </a:solidFill>
                <a:latin typeface="Source Han Sans SC" pitchFamily="34" charset="0"/>
                <a:ea typeface="Source Han Sans SC" pitchFamily="34" charset="-122"/>
                <a:cs typeface="Source Han Sans SC" pitchFamily="34" charset="-120"/>
              </a:rPr>
              <a:t>Scalar Subqueries</a:t>
            </a:r>
            <a:endParaRPr lang="en-US" sz="1600" dirty="0"/>
          </a:p>
        </p:txBody>
      </p:sp>
      <p:sp>
        <p:nvSpPr>
          <p:cNvPr id="7" name="Text 5"/>
          <p:cNvSpPr/>
          <p:nvPr/>
        </p:nvSpPr>
        <p:spPr>
          <a:xfrm>
            <a:off x="839416" y="1578869"/>
            <a:ext cx="5256584" cy="1322070"/>
          </a:xfrm>
          <a:prstGeom prst="rect">
            <a:avLst/>
          </a:prstGeom>
          <a:noFill/>
          <a:ln/>
        </p:spPr>
        <p:txBody>
          <a:bodyPr wrap="square" lIns="91440" tIns="45720" rIns="91440" bIns="45720" rtlCol="0" anchor="t">
            <a:spAutoFit/>
          </a:bodyPr>
          <a:lstStyle/>
          <a:p>
            <a:pPr>
              <a:lnSpc>
                <a:spcPct val="100000"/>
              </a:lnSpc>
            </a:pPr>
            <a:r>
              <a:rPr lang="en-US" sz="1600" dirty="0">
                <a:solidFill>
                  <a:srgbClr val="FFFFFF"/>
                </a:solidFill>
                <a:latin typeface="Source Han Sans SC Light" pitchFamily="34" charset="0"/>
                <a:ea typeface="Source Han Sans SC Light" pitchFamily="34" charset="-122"/>
                <a:cs typeface="Source Han Sans SC Light" pitchFamily="34" charset="-120"/>
              </a:rPr>
              <a:t>Scalar subqueries return a single value and are often used in the SELECT clause or WHERE clause to filter data based on a specific condition.</a:t>
            </a:r>
            <a:endParaRPr lang="en-US" sz="1600" dirty="0"/>
          </a:p>
        </p:txBody>
      </p:sp>
      <p:sp>
        <p:nvSpPr>
          <p:cNvPr id="8" name="Text 6"/>
          <p:cNvSpPr/>
          <p:nvPr/>
        </p:nvSpPr>
        <p:spPr>
          <a:xfrm>
            <a:off x="6363916" y="697741"/>
            <a:ext cx="585125" cy="460375"/>
          </a:xfrm>
          <a:prstGeom prst="rect">
            <a:avLst/>
          </a:prstGeom>
          <a:noFill/>
          <a:ln/>
        </p:spPr>
        <p:txBody>
          <a:bodyPr wrap="square" lIns="91440" tIns="45720" rIns="91440" bIns="45720" rtlCol="0" anchor="t">
            <a:spAutoFit/>
          </a:bodyPr>
          <a:lstStyle/>
          <a:p>
            <a:pPr>
              <a:lnSpc>
                <a:spcPct val="100000"/>
              </a:lnSpc>
            </a:pPr>
            <a:r>
              <a:rPr lang="en-US" sz="2400" dirty="0">
                <a:solidFill>
                  <a:srgbClr val="C2F5E1"/>
                </a:solidFill>
                <a:latin typeface="Source Han Sans SC Medium" pitchFamily="34" charset="0"/>
                <a:ea typeface="Source Han Sans SC Medium" pitchFamily="34" charset="-122"/>
                <a:cs typeface="Source Han Sans SC Medium" pitchFamily="34" charset="-120"/>
              </a:rPr>
              <a:t>02</a:t>
            </a:r>
            <a:endParaRPr lang="en-US" sz="1600" dirty="0"/>
          </a:p>
        </p:txBody>
      </p:sp>
      <p:sp>
        <p:nvSpPr>
          <p:cNvPr id="9" name="Text 7"/>
          <p:cNvSpPr/>
          <p:nvPr/>
        </p:nvSpPr>
        <p:spPr>
          <a:xfrm>
            <a:off x="6363970" y="1102360"/>
            <a:ext cx="4965065" cy="414655"/>
          </a:xfrm>
          <a:prstGeom prst="rect">
            <a:avLst/>
          </a:prstGeom>
          <a:noFill/>
          <a:ln/>
        </p:spPr>
        <p:txBody>
          <a:bodyPr wrap="square" lIns="91440" tIns="45720" rIns="91440" bIns="45720" rtlCol="0" anchor="t"/>
          <a:lstStyle/>
          <a:p>
            <a:pPr>
              <a:lnSpc>
                <a:spcPct val="100000"/>
              </a:lnSpc>
            </a:pPr>
            <a:r>
              <a:rPr lang="en-US" sz="2400" dirty="0">
                <a:solidFill>
                  <a:srgbClr val="FFFFFF"/>
                </a:solidFill>
                <a:latin typeface="Source Han Sans SC" pitchFamily="34" charset="0"/>
                <a:ea typeface="Source Han Sans SC" pitchFamily="34" charset="-122"/>
                <a:cs typeface="Source Han Sans SC" pitchFamily="34" charset="-120"/>
              </a:rPr>
              <a:t>Multi-row Subqueries</a:t>
            </a:r>
            <a:endParaRPr lang="en-US" sz="1600" dirty="0"/>
          </a:p>
        </p:txBody>
      </p:sp>
      <p:sp>
        <p:nvSpPr>
          <p:cNvPr id="10" name="Text 8"/>
          <p:cNvSpPr/>
          <p:nvPr/>
        </p:nvSpPr>
        <p:spPr>
          <a:xfrm>
            <a:off x="6363916" y="1578869"/>
            <a:ext cx="5256584" cy="1322070"/>
          </a:xfrm>
          <a:prstGeom prst="rect">
            <a:avLst/>
          </a:prstGeom>
          <a:noFill/>
          <a:ln/>
        </p:spPr>
        <p:txBody>
          <a:bodyPr wrap="square" lIns="91440" tIns="45720" rIns="91440" bIns="45720" rtlCol="0" anchor="t">
            <a:spAutoFit/>
          </a:bodyPr>
          <a:lstStyle/>
          <a:p>
            <a:pPr>
              <a:lnSpc>
                <a:spcPct val="100000"/>
              </a:lnSpc>
            </a:pPr>
            <a:r>
              <a:rPr lang="en-US" sz="1600" dirty="0">
                <a:solidFill>
                  <a:srgbClr val="FFFFFF"/>
                </a:solidFill>
                <a:latin typeface="Source Han Sans SC Light" pitchFamily="34" charset="0"/>
                <a:ea typeface="Source Han Sans SC Light" pitchFamily="34" charset="-122"/>
                <a:cs typeface="Source Han Sans SC Light" pitchFamily="34" charset="-120"/>
              </a:rPr>
              <a:t>Multi-row subqueries return multiple values and are used with operators like IN to filter data based on a list of values.</a:t>
            </a:r>
            <a:endParaRPr lang="en-US" sz="1600" dirty="0"/>
          </a:p>
        </p:txBody>
      </p:sp>
      <p:sp>
        <p:nvSpPr>
          <p:cNvPr id="11" name="Text 9"/>
          <p:cNvSpPr/>
          <p:nvPr/>
        </p:nvSpPr>
        <p:spPr>
          <a:xfrm>
            <a:off x="839416" y="2906906"/>
            <a:ext cx="585125" cy="460375"/>
          </a:xfrm>
          <a:prstGeom prst="rect">
            <a:avLst/>
          </a:prstGeom>
          <a:noFill/>
          <a:ln/>
        </p:spPr>
        <p:txBody>
          <a:bodyPr wrap="square" lIns="91440" tIns="45720" rIns="91440" bIns="45720" rtlCol="0" anchor="t">
            <a:spAutoFit/>
          </a:bodyPr>
          <a:lstStyle/>
          <a:p>
            <a:pPr>
              <a:lnSpc>
                <a:spcPct val="100000"/>
              </a:lnSpc>
            </a:pPr>
            <a:r>
              <a:rPr lang="en-US" sz="2400" dirty="0">
                <a:solidFill>
                  <a:srgbClr val="C2F5E1"/>
                </a:solidFill>
                <a:latin typeface="Source Han Sans SC Medium" pitchFamily="34" charset="0"/>
                <a:ea typeface="Source Han Sans SC Medium" pitchFamily="34" charset="-122"/>
                <a:cs typeface="Source Han Sans SC Medium" pitchFamily="34" charset="-120"/>
              </a:rPr>
              <a:t>03</a:t>
            </a:r>
            <a:endParaRPr lang="en-US" sz="1600" dirty="0"/>
          </a:p>
        </p:txBody>
      </p:sp>
      <p:sp>
        <p:nvSpPr>
          <p:cNvPr id="12" name="Text 10"/>
          <p:cNvSpPr/>
          <p:nvPr/>
        </p:nvSpPr>
        <p:spPr>
          <a:xfrm>
            <a:off x="839470" y="3311525"/>
            <a:ext cx="5161915" cy="454025"/>
          </a:xfrm>
          <a:prstGeom prst="rect">
            <a:avLst/>
          </a:prstGeom>
          <a:noFill/>
          <a:ln/>
        </p:spPr>
        <p:txBody>
          <a:bodyPr wrap="square" lIns="91440" tIns="45720" rIns="91440" bIns="45720" rtlCol="0" anchor="t"/>
          <a:lstStyle/>
          <a:p>
            <a:pPr>
              <a:lnSpc>
                <a:spcPct val="100000"/>
              </a:lnSpc>
            </a:pPr>
            <a:r>
              <a:rPr lang="en-US" sz="2400" dirty="0">
                <a:solidFill>
                  <a:srgbClr val="FFFFFF"/>
                </a:solidFill>
                <a:latin typeface="Source Han Sans SC" pitchFamily="34" charset="0"/>
                <a:ea typeface="Source Han Sans SC" pitchFamily="34" charset="-122"/>
                <a:cs typeface="Source Han Sans SC" pitchFamily="34" charset="-120"/>
              </a:rPr>
              <a:t>Correlated Subqueries</a:t>
            </a:r>
            <a:endParaRPr lang="en-US" sz="1600" dirty="0"/>
          </a:p>
        </p:txBody>
      </p:sp>
      <p:sp>
        <p:nvSpPr>
          <p:cNvPr id="13" name="Text 11"/>
          <p:cNvSpPr/>
          <p:nvPr/>
        </p:nvSpPr>
        <p:spPr>
          <a:xfrm>
            <a:off x="839416" y="3716279"/>
            <a:ext cx="5256584" cy="1322070"/>
          </a:xfrm>
          <a:prstGeom prst="rect">
            <a:avLst/>
          </a:prstGeom>
          <a:noFill/>
          <a:ln/>
        </p:spPr>
        <p:txBody>
          <a:bodyPr wrap="square" lIns="91440" tIns="45720" rIns="91440" bIns="45720" rtlCol="0" anchor="t">
            <a:spAutoFit/>
          </a:bodyPr>
          <a:lstStyle/>
          <a:p>
            <a:pPr>
              <a:lnSpc>
                <a:spcPct val="100000"/>
              </a:lnSpc>
            </a:pPr>
            <a:r>
              <a:rPr lang="en-US" sz="1600" dirty="0">
                <a:solidFill>
                  <a:srgbClr val="FFFFFF"/>
                </a:solidFill>
                <a:latin typeface="Source Han Sans SC Light" pitchFamily="34" charset="0"/>
                <a:ea typeface="Source Han Sans SC Light" pitchFamily="34" charset="-122"/>
                <a:cs typeface="Source Han Sans SC Light" pitchFamily="34" charset="-120"/>
              </a:rPr>
              <a:t>Correlated subqueries depend on the outer query and are re-executed for each row in the outer query, allowing dynamic filtering based on row-specific conditions.</a:t>
            </a:r>
            <a:endParaRPr lang="en-US" sz="1600" dirty="0"/>
          </a:p>
        </p:txBody>
      </p:sp>
      <p:sp>
        <p:nvSpPr>
          <p:cNvPr id="14" name="Text 12"/>
          <p:cNvSpPr/>
          <p:nvPr/>
        </p:nvSpPr>
        <p:spPr>
          <a:xfrm>
            <a:off x="6363916" y="2906906"/>
            <a:ext cx="585125" cy="460375"/>
          </a:xfrm>
          <a:prstGeom prst="rect">
            <a:avLst/>
          </a:prstGeom>
          <a:noFill/>
          <a:ln/>
        </p:spPr>
        <p:txBody>
          <a:bodyPr wrap="square" lIns="91440" tIns="45720" rIns="91440" bIns="45720" rtlCol="0" anchor="t">
            <a:spAutoFit/>
          </a:bodyPr>
          <a:lstStyle/>
          <a:p>
            <a:pPr>
              <a:lnSpc>
                <a:spcPct val="100000"/>
              </a:lnSpc>
            </a:pPr>
            <a:r>
              <a:rPr lang="en-US" sz="2400" dirty="0">
                <a:solidFill>
                  <a:srgbClr val="C2F5E1"/>
                </a:solidFill>
                <a:latin typeface="Source Han Sans SC Medium" pitchFamily="34" charset="0"/>
                <a:ea typeface="Source Han Sans SC Medium" pitchFamily="34" charset="-122"/>
                <a:cs typeface="Source Han Sans SC Medium" pitchFamily="34" charset="-120"/>
              </a:rPr>
              <a:t>04</a:t>
            </a:r>
            <a:endParaRPr lang="en-US" sz="1600" dirty="0"/>
          </a:p>
        </p:txBody>
      </p:sp>
      <p:sp>
        <p:nvSpPr>
          <p:cNvPr id="15" name="Text 13"/>
          <p:cNvSpPr/>
          <p:nvPr/>
        </p:nvSpPr>
        <p:spPr>
          <a:xfrm>
            <a:off x="6363970" y="3311525"/>
            <a:ext cx="5161915" cy="454025"/>
          </a:xfrm>
          <a:prstGeom prst="rect">
            <a:avLst/>
          </a:prstGeom>
          <a:noFill/>
          <a:ln/>
        </p:spPr>
        <p:txBody>
          <a:bodyPr wrap="square" lIns="91440" tIns="45720" rIns="91440" bIns="45720" rtlCol="0" anchor="t"/>
          <a:lstStyle/>
          <a:p>
            <a:pPr>
              <a:lnSpc>
                <a:spcPct val="100000"/>
              </a:lnSpc>
            </a:pPr>
            <a:r>
              <a:rPr lang="en-US" sz="2400" dirty="0">
                <a:solidFill>
                  <a:srgbClr val="FFFFFF"/>
                </a:solidFill>
                <a:latin typeface="Source Han Sans SC" pitchFamily="34" charset="0"/>
                <a:ea typeface="Source Han Sans SC" pitchFamily="34" charset="-122"/>
                <a:cs typeface="Source Han Sans SC" pitchFamily="34" charset="-120"/>
              </a:rPr>
              <a:t>Performance Considerations</a:t>
            </a:r>
            <a:endParaRPr lang="en-US" sz="1600" dirty="0"/>
          </a:p>
        </p:txBody>
      </p:sp>
      <p:sp>
        <p:nvSpPr>
          <p:cNvPr id="16" name="Text 14"/>
          <p:cNvSpPr/>
          <p:nvPr/>
        </p:nvSpPr>
        <p:spPr>
          <a:xfrm>
            <a:off x="6363916" y="3716279"/>
            <a:ext cx="5256584" cy="1322070"/>
          </a:xfrm>
          <a:prstGeom prst="rect">
            <a:avLst/>
          </a:prstGeom>
          <a:noFill/>
          <a:ln/>
        </p:spPr>
        <p:txBody>
          <a:bodyPr wrap="square" lIns="91440" tIns="45720" rIns="91440" bIns="45720" rtlCol="0" anchor="t">
            <a:spAutoFit/>
          </a:bodyPr>
          <a:lstStyle/>
          <a:p>
            <a:pPr>
              <a:lnSpc>
                <a:spcPct val="100000"/>
              </a:lnSpc>
            </a:pPr>
            <a:r>
              <a:rPr lang="en-US" sz="1600" dirty="0">
                <a:solidFill>
                  <a:srgbClr val="FFFFFF"/>
                </a:solidFill>
                <a:latin typeface="Source Han Sans SC Light" pitchFamily="34" charset="0"/>
                <a:ea typeface="Source Han Sans SC Light" pitchFamily="34" charset="-122"/>
                <a:cs typeface="Source Han Sans SC Light" pitchFamily="34" charset="-120"/>
              </a:rPr>
              <a:t>While subqueries are powerful, they can impact performance. It’s important to use them judiciously and consider alternatives like joins when appropriate.</a:t>
            </a:r>
            <a:endParaRPr lang="en-US" sz="1600" dirty="0"/>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1"/>
            <a:ext cx="12192000" cy="6858001"/>
          </a:xfrm>
          <a:prstGeom prst="rect">
            <a:avLst/>
          </a:prstGeom>
          <a:solidFill>
            <a:srgbClr val="161616"/>
          </a:solidFill>
          <a:ln/>
        </p:spPr>
      </p:sp>
      <p:sp>
        <p:nvSpPr>
          <p:cNvPr id="3" name="Text 1"/>
          <p:cNvSpPr/>
          <p:nvPr/>
        </p:nvSpPr>
        <p:spPr>
          <a:xfrm>
            <a:off x="0" y="-1"/>
            <a:ext cx="12192000" cy="6858001"/>
          </a:xfrm>
          <a:prstGeom prst="rect">
            <a:avLst/>
          </a:prstGeom>
          <a:noFill/>
          <a:ln/>
        </p:spPr>
        <p:txBody>
          <a:bodyPr wrap="square" lIns="45720" tIns="91440" rIns="91440" bIns="45720" rtlCol="0" anchor="ctr"/>
          <a:lstStyle/>
          <a:p>
            <a:pPr>
              <a:lnSpc>
                <a:spcPct val="100000"/>
              </a:lnSpc>
            </a:pPr>
            <a:endParaRPr lang="en-US" sz="1600" dirty="0"/>
          </a:p>
        </p:txBody>
      </p:sp>
      <p:sp>
        <p:nvSpPr>
          <p:cNvPr id="4" name="Text 2"/>
          <p:cNvSpPr/>
          <p:nvPr/>
        </p:nvSpPr>
        <p:spPr>
          <a:xfrm>
            <a:off x="967105" y="5422900"/>
            <a:ext cx="8810625" cy="1007110"/>
          </a:xfrm>
          <a:prstGeom prst="rect">
            <a:avLst/>
          </a:prstGeom>
          <a:noFill/>
          <a:ln/>
        </p:spPr>
        <p:txBody>
          <a:bodyPr wrap="square" lIns="91440" tIns="45720" rIns="91440" bIns="45720" rtlCol="0" anchor="t"/>
          <a:lstStyle/>
          <a:p>
            <a:pPr>
              <a:lnSpc>
                <a:spcPct val="100000"/>
              </a:lnSpc>
            </a:pPr>
            <a:r>
              <a:rPr lang="en-US" sz="4400" dirty="0">
                <a:solidFill>
                  <a:srgbClr val="FFFFFF"/>
                </a:solidFill>
                <a:latin typeface="Source Han Sans SC" pitchFamily="34" charset="0"/>
                <a:ea typeface="Source Han Sans SC" pitchFamily="34" charset="-122"/>
                <a:cs typeface="Source Han Sans SC" pitchFamily="34" charset="-120"/>
              </a:rPr>
              <a:t>Subqueries Inside WHERE Clause</a:t>
            </a:r>
            <a:endParaRPr lang="en-US" sz="1600" dirty="0"/>
          </a:p>
        </p:txBody>
      </p:sp>
      <p:pic>
        <p:nvPicPr>
          <p:cNvPr id="5" name="Image 0" descr="https://kimi-img.moonshot.cn/pub/slides/slides_tmpl/image/25-08-27-20:09:11-d2nfapp8bjvh7rlj0ilg.png"/>
          <p:cNvPicPr>
            <a:picLocks noChangeAspect="1"/>
          </p:cNvPicPr>
          <p:nvPr/>
        </p:nvPicPr>
        <p:blipFill>
          <a:blip r:embed="rId3"/>
          <a:stretch>
            <a:fillRect/>
          </a:stretch>
        </p:blipFill>
        <p:spPr>
          <a:xfrm>
            <a:off x="565150" y="554355"/>
            <a:ext cx="1414780" cy="1075690"/>
          </a:xfrm>
          <a:prstGeom prst="rect">
            <a:avLst/>
          </a:prstGeom>
        </p:spPr>
      </p:pic>
      <p:pic>
        <p:nvPicPr>
          <p:cNvPr id="6" name="Image 1" descr="https://kimi-img.moonshot.cn/pub/slides/slides_tmpl/image/25-08-27-20:09:11-d2nfapp8bjvh7rlj0im0.png"/>
          <p:cNvPicPr>
            <a:picLocks noChangeAspect="1"/>
          </p:cNvPicPr>
          <p:nvPr/>
        </p:nvPicPr>
        <p:blipFill>
          <a:blip r:embed="rId4"/>
          <a:stretch>
            <a:fillRect/>
          </a:stretch>
        </p:blipFill>
        <p:spPr>
          <a:xfrm>
            <a:off x="4285615" y="554355"/>
            <a:ext cx="1414780" cy="1075690"/>
          </a:xfrm>
          <a:prstGeom prst="rect">
            <a:avLst/>
          </a:prstGeom>
        </p:spPr>
      </p:pic>
      <p:pic>
        <p:nvPicPr>
          <p:cNvPr id="7" name="Image 2" descr="https://kimi-img.moonshot.cn/pub/slides/slides_tmpl/image/25-08-27-20:09:11-d2nfapp8bjvh7rlj0img.png"/>
          <p:cNvPicPr>
            <a:picLocks noChangeAspect="1"/>
          </p:cNvPicPr>
          <p:nvPr/>
        </p:nvPicPr>
        <p:blipFill>
          <a:blip r:embed="rId5"/>
          <a:stretch>
            <a:fillRect/>
          </a:stretch>
        </p:blipFill>
        <p:spPr>
          <a:xfrm>
            <a:off x="7882890" y="559435"/>
            <a:ext cx="1414780" cy="1075690"/>
          </a:xfrm>
          <a:prstGeom prst="rect">
            <a:avLst/>
          </a:prstGeom>
        </p:spPr>
      </p:pic>
      <p:sp>
        <p:nvSpPr>
          <p:cNvPr id="8" name="Text 3"/>
          <p:cNvSpPr/>
          <p:nvPr/>
        </p:nvSpPr>
        <p:spPr>
          <a:xfrm>
            <a:off x="839470" y="1245870"/>
            <a:ext cx="3388360" cy="697230"/>
          </a:xfrm>
          <a:prstGeom prst="rect">
            <a:avLst/>
          </a:prstGeom>
          <a:noFill/>
          <a:ln/>
        </p:spPr>
        <p:txBody>
          <a:bodyPr wrap="square" lIns="91440" tIns="45720" rIns="91440" bIns="45720" rtlCol="0" anchor="t"/>
          <a:lstStyle/>
          <a:p>
            <a:pPr>
              <a:lnSpc>
                <a:spcPct val="100000"/>
              </a:lnSpc>
            </a:pPr>
            <a:r>
              <a:rPr lang="en-US" sz="2800" dirty="0">
                <a:solidFill>
                  <a:srgbClr val="FFFFFF"/>
                </a:solidFill>
                <a:latin typeface="Source Han Sans SC" pitchFamily="34" charset="0"/>
                <a:ea typeface="Source Han Sans SC" pitchFamily="34" charset="-122"/>
                <a:cs typeface="Source Han Sans SC" pitchFamily="34" charset="-120"/>
              </a:rPr>
              <a:t>Example</a:t>
            </a:r>
            <a:endParaRPr lang="en-US" sz="1600" dirty="0"/>
          </a:p>
        </p:txBody>
      </p:sp>
      <p:sp>
        <p:nvSpPr>
          <p:cNvPr id="9" name="Text 4"/>
          <p:cNvSpPr/>
          <p:nvPr/>
        </p:nvSpPr>
        <p:spPr>
          <a:xfrm>
            <a:off x="839470" y="2224405"/>
            <a:ext cx="3239770" cy="2788920"/>
          </a:xfrm>
          <a:prstGeom prst="rect">
            <a:avLst/>
          </a:prstGeom>
          <a:noFill/>
          <a:ln/>
        </p:spPr>
        <p:txBody>
          <a:bodyPr wrap="square" lIns="91440" tIns="45720" rIns="91440" bIns="45720" rtlCol="0" anchor="t"/>
          <a:lstStyle/>
          <a:p>
            <a:pPr>
              <a:lnSpc>
                <a:spcPct val="100000"/>
              </a:lnSpc>
            </a:pPr>
            <a:r>
              <a:rPr lang="en-US" sz="1800" dirty="0">
                <a:solidFill>
                  <a:srgbClr val="FFFFFF"/>
                </a:solidFill>
                <a:latin typeface="Source Han Sans SC Light" pitchFamily="34" charset="0"/>
                <a:ea typeface="Source Han Sans SC Light" pitchFamily="34" charset="-122"/>
                <a:cs typeface="Source Han Sans SC Light" pitchFamily="34" charset="-120"/>
              </a:rPr>
              <a:t>To find employees earning more than the average salary in their department, you can use a correlated subquery in the WHERE clause to dynamically calculate the average salary.</a:t>
            </a:r>
            <a:endParaRPr lang="en-US" sz="1600" dirty="0"/>
          </a:p>
        </p:txBody>
      </p:sp>
      <p:sp>
        <p:nvSpPr>
          <p:cNvPr id="10" name="Text 5"/>
          <p:cNvSpPr/>
          <p:nvPr/>
        </p:nvSpPr>
        <p:spPr>
          <a:xfrm>
            <a:off x="4534535" y="1245870"/>
            <a:ext cx="3388360" cy="697230"/>
          </a:xfrm>
          <a:prstGeom prst="rect">
            <a:avLst/>
          </a:prstGeom>
          <a:noFill/>
          <a:ln/>
        </p:spPr>
        <p:txBody>
          <a:bodyPr wrap="square" lIns="91440" tIns="45720" rIns="91440" bIns="45720" rtlCol="0" anchor="t"/>
          <a:lstStyle/>
          <a:p>
            <a:pPr>
              <a:lnSpc>
                <a:spcPct val="100000"/>
              </a:lnSpc>
            </a:pPr>
            <a:r>
              <a:rPr lang="en-US" sz="2800" dirty="0">
                <a:solidFill>
                  <a:srgbClr val="FFFFFF"/>
                </a:solidFill>
                <a:latin typeface="Source Han Sans SC" pitchFamily="34" charset="0"/>
                <a:ea typeface="Source Han Sans SC" pitchFamily="34" charset="-122"/>
                <a:cs typeface="Source Han Sans SC" pitchFamily="34" charset="-120"/>
              </a:rPr>
              <a:t>Syntax</a:t>
            </a:r>
            <a:endParaRPr lang="en-US" sz="1600" dirty="0"/>
          </a:p>
        </p:txBody>
      </p:sp>
      <p:sp>
        <p:nvSpPr>
          <p:cNvPr id="11" name="Text 6"/>
          <p:cNvSpPr/>
          <p:nvPr/>
        </p:nvSpPr>
        <p:spPr>
          <a:xfrm>
            <a:off x="4534535" y="2224405"/>
            <a:ext cx="3239770" cy="2788920"/>
          </a:xfrm>
          <a:prstGeom prst="rect">
            <a:avLst/>
          </a:prstGeom>
          <a:noFill/>
          <a:ln/>
        </p:spPr>
        <p:txBody>
          <a:bodyPr wrap="square" lIns="91440" tIns="45720" rIns="91440" bIns="45720" rtlCol="0" anchor="t"/>
          <a:lstStyle/>
          <a:p>
            <a:pPr>
              <a:lnSpc>
                <a:spcPct val="100000"/>
              </a:lnSpc>
            </a:pPr>
            <a:r>
              <a:rPr lang="en-US" sz="1800" dirty="0">
                <a:solidFill>
                  <a:srgbClr val="FFFFFF"/>
                </a:solidFill>
                <a:latin typeface="Source Han Sans SC Light" pitchFamily="34" charset="0"/>
                <a:ea typeface="Source Han Sans SC Light" pitchFamily="34" charset="-122"/>
                <a:cs typeface="Source Han Sans SC Light" pitchFamily="34" charset="-120"/>
              </a:rPr>
              <a:t>The syntax involves nesting a subquery that calculates the average salary for each department and comparing it with the employee’s salary in the outer query.</a:t>
            </a:r>
            <a:endParaRPr lang="en-US" sz="1600" dirty="0"/>
          </a:p>
        </p:txBody>
      </p:sp>
      <p:sp>
        <p:nvSpPr>
          <p:cNvPr id="12" name="Text 7"/>
          <p:cNvSpPr/>
          <p:nvPr/>
        </p:nvSpPr>
        <p:spPr>
          <a:xfrm>
            <a:off x="8161655" y="1245870"/>
            <a:ext cx="3477260" cy="953135"/>
          </a:xfrm>
          <a:prstGeom prst="rect">
            <a:avLst/>
          </a:prstGeom>
          <a:noFill/>
          <a:ln/>
        </p:spPr>
        <p:txBody>
          <a:bodyPr wrap="square" lIns="91440" tIns="45720" rIns="91440" bIns="45720" rtlCol="0" anchor="t">
            <a:spAutoFit/>
          </a:bodyPr>
          <a:lstStyle/>
          <a:p>
            <a:pPr>
              <a:lnSpc>
                <a:spcPct val="100000"/>
              </a:lnSpc>
            </a:pPr>
            <a:r>
              <a:rPr lang="en-US" sz="2800" dirty="0">
                <a:solidFill>
                  <a:srgbClr val="FFFFFF"/>
                </a:solidFill>
                <a:latin typeface="Source Han Sans SC" pitchFamily="34" charset="0"/>
                <a:ea typeface="Source Han Sans SC" pitchFamily="34" charset="-122"/>
                <a:cs typeface="Source Han Sans SC" pitchFamily="34" charset="-120"/>
              </a:rPr>
              <a:t>Benefits</a:t>
            </a:r>
            <a:endParaRPr lang="en-US" sz="1600" dirty="0"/>
          </a:p>
        </p:txBody>
      </p:sp>
      <p:sp>
        <p:nvSpPr>
          <p:cNvPr id="13" name="Text 8"/>
          <p:cNvSpPr/>
          <p:nvPr/>
        </p:nvSpPr>
        <p:spPr>
          <a:xfrm>
            <a:off x="8161655" y="2224405"/>
            <a:ext cx="3239770" cy="2788920"/>
          </a:xfrm>
          <a:prstGeom prst="rect">
            <a:avLst/>
          </a:prstGeom>
          <a:noFill/>
          <a:ln/>
        </p:spPr>
        <p:txBody>
          <a:bodyPr wrap="square" lIns="91440" tIns="45720" rIns="91440" bIns="45720" rtlCol="0" anchor="t"/>
          <a:lstStyle/>
          <a:p>
            <a:pPr>
              <a:lnSpc>
                <a:spcPct val="100000"/>
              </a:lnSpc>
            </a:pPr>
            <a:r>
              <a:rPr lang="en-US" sz="1800" dirty="0">
                <a:solidFill>
                  <a:srgbClr val="FFFFFF"/>
                </a:solidFill>
                <a:latin typeface="Source Han Sans SC Light" pitchFamily="34" charset="0"/>
                <a:ea typeface="Source Han Sans SC Light" pitchFamily="34" charset="-122"/>
                <a:cs typeface="Source Han Sans SC Light" pitchFamily="34" charset="-120"/>
              </a:rPr>
              <a:t>This approach ensures that the threshold for comparison is dynamic and adapts to changes in the underlying data, providing accurate results.</a:t>
            </a:r>
            <a:endParaRPr lang="en-US" sz="1600" dirty="0"/>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41728"/>
          </a:xfrm>
          <a:prstGeom prst="rect">
            <a:avLst/>
          </a:prstGeom>
          <a:gradFill flip="none" rotWithShape="1">
            <a:gsLst>
              <a:gs pos="0">
                <a:srgbClr val="2F5596"/>
              </a:gs>
              <a:gs pos="27000">
                <a:srgbClr val="7095BC"/>
              </a:gs>
              <a:gs pos="72000">
                <a:srgbClr val="B0D5E1"/>
              </a:gs>
              <a:gs pos="100000">
                <a:srgbClr val="C2F5E1"/>
              </a:gs>
            </a:gsLst>
            <a:lin ang="4800000" scaled="1"/>
          </a:gradFill>
          <a:ln w="12700">
            <a:solidFill>
              <a:srgbClr val="09111E"/>
            </a:solidFill>
            <a:prstDash val="solid"/>
          </a:ln>
        </p:spPr>
      </p:sp>
      <p:sp>
        <p:nvSpPr>
          <p:cNvPr id="3" name="Text 1"/>
          <p:cNvSpPr/>
          <p:nvPr/>
        </p:nvSpPr>
        <p:spPr>
          <a:xfrm>
            <a:off x="0" y="0"/>
            <a:ext cx="12192000" cy="6841728"/>
          </a:xfrm>
          <a:prstGeom prst="rect">
            <a:avLst/>
          </a:prstGeom>
          <a:noFill/>
          <a:ln/>
        </p:spPr>
        <p:txBody>
          <a:bodyPr wrap="square" lIns="45720" tIns="91440" rIns="91440" bIns="45720" rtlCol="0" anchor="ctr"/>
          <a:lstStyle/>
          <a:p>
            <a:pPr>
              <a:lnSpc>
                <a:spcPct val="100000"/>
              </a:lnSpc>
            </a:pPr>
            <a:endParaRPr lang="en-US" sz="1600" dirty="0"/>
          </a:p>
        </p:txBody>
      </p:sp>
      <p:pic>
        <p:nvPicPr>
          <p:cNvPr id="4" name="Image 0" descr="https://kimi-img.moonshot.cn/pub/slides/slides_tmpl/image/25-08-27-20:09:10-d2nfaph8bjvh7rlj0ii0.png"/>
          <p:cNvPicPr>
            <a:picLocks noChangeAspect="1"/>
          </p:cNvPicPr>
          <p:nvPr/>
        </p:nvPicPr>
        <p:blipFill>
          <a:blip r:embed="rId3"/>
          <a:stretch>
            <a:fillRect/>
          </a:stretch>
        </p:blipFill>
        <p:spPr>
          <a:xfrm>
            <a:off x="0" y="4216202"/>
            <a:ext cx="12192000" cy="2625526"/>
          </a:xfrm>
          <a:prstGeom prst="rect">
            <a:avLst/>
          </a:prstGeom>
        </p:spPr>
      </p:pic>
      <p:sp>
        <p:nvSpPr>
          <p:cNvPr id="5" name="Text 2"/>
          <p:cNvSpPr/>
          <p:nvPr/>
        </p:nvSpPr>
        <p:spPr>
          <a:xfrm>
            <a:off x="695960" y="738505"/>
            <a:ext cx="9124950" cy="645160"/>
          </a:xfrm>
          <a:prstGeom prst="rect">
            <a:avLst/>
          </a:prstGeom>
          <a:noFill/>
          <a:ln/>
        </p:spPr>
        <p:txBody>
          <a:bodyPr wrap="square" lIns="91440" tIns="45720" rIns="91440" bIns="45720" rtlCol="0" anchor="t">
            <a:spAutoFit/>
          </a:bodyPr>
          <a:lstStyle/>
          <a:p>
            <a:pPr>
              <a:lnSpc>
                <a:spcPct val="100000"/>
              </a:lnSpc>
            </a:pPr>
            <a:r>
              <a:rPr lang="en-US" sz="3600" dirty="0">
                <a:solidFill>
                  <a:srgbClr val="FFFFFF"/>
                </a:solidFill>
                <a:latin typeface="Source Han Sans SC" pitchFamily="34" charset="0"/>
                <a:ea typeface="Source Han Sans SC" pitchFamily="34" charset="-122"/>
                <a:cs typeface="Source Han Sans SC" pitchFamily="34" charset="-120"/>
              </a:rPr>
              <a:t>Subqueries Inside SELECT Clause</a:t>
            </a:r>
            <a:endParaRPr lang="en-US" sz="1600" dirty="0"/>
          </a:p>
        </p:txBody>
      </p:sp>
      <p:sp>
        <p:nvSpPr>
          <p:cNvPr id="6" name="Shape 3"/>
          <p:cNvSpPr/>
          <p:nvPr/>
        </p:nvSpPr>
        <p:spPr>
          <a:xfrm>
            <a:off x="10056440" y="983258"/>
            <a:ext cx="1106564" cy="0"/>
          </a:xfrm>
          <a:prstGeom prst="straightConnector1">
            <a:avLst/>
          </a:prstGeom>
          <a:noFill/>
          <a:ln w="15875">
            <a:solidFill>
              <a:srgbClr val="FFFFFF"/>
            </a:solidFill>
            <a:prstDash val="solid"/>
            <a:headEnd type="none"/>
            <a:tailEnd type="triangle"/>
          </a:ln>
        </p:spPr>
      </p:sp>
      <p:sp>
        <p:nvSpPr>
          <p:cNvPr id="7" name="Text 4"/>
          <p:cNvSpPr/>
          <p:nvPr/>
        </p:nvSpPr>
        <p:spPr>
          <a:xfrm>
            <a:off x="695960" y="1735455"/>
            <a:ext cx="5632450" cy="460375"/>
          </a:xfrm>
          <a:prstGeom prst="rect">
            <a:avLst/>
          </a:prstGeom>
          <a:noFill/>
          <a:ln/>
        </p:spPr>
        <p:txBody>
          <a:bodyPr wrap="square" lIns="91440" tIns="45720" rIns="91440" bIns="45720" rtlCol="0" anchor="t">
            <a:spAutoFit/>
          </a:bodyPr>
          <a:lstStyle/>
          <a:p>
            <a:pPr>
              <a:lnSpc>
                <a:spcPct val="100000"/>
              </a:lnSpc>
            </a:pPr>
            <a:r>
              <a:rPr lang="en-US" sz="2400" dirty="0">
                <a:solidFill>
                  <a:srgbClr val="FFFFFF"/>
                </a:solidFill>
                <a:latin typeface="Source Han Sans SC" pitchFamily="34" charset="0"/>
                <a:ea typeface="Source Han Sans SC" pitchFamily="34" charset="-122"/>
                <a:cs typeface="Source Han Sans SC" pitchFamily="34" charset="-120"/>
              </a:rPr>
              <a:t>Example</a:t>
            </a:r>
            <a:endParaRPr lang="en-US" sz="1600" dirty="0"/>
          </a:p>
        </p:txBody>
      </p:sp>
      <p:sp>
        <p:nvSpPr>
          <p:cNvPr id="8" name="Text 5"/>
          <p:cNvSpPr/>
          <p:nvPr/>
        </p:nvSpPr>
        <p:spPr>
          <a:xfrm>
            <a:off x="695960" y="2493010"/>
            <a:ext cx="5067935" cy="1753235"/>
          </a:xfrm>
          <a:prstGeom prst="rect">
            <a:avLst/>
          </a:prstGeom>
          <a:noFill/>
          <a:ln/>
        </p:spPr>
        <p:txBody>
          <a:bodyPr wrap="square" lIns="91440" tIns="45720" rIns="91440" bIns="45720" rtlCol="0" anchor="t">
            <a:spAutoFit/>
          </a:bodyPr>
          <a:lstStyle/>
          <a:p>
            <a:pPr>
              <a:lnSpc>
                <a:spcPct val="100000"/>
              </a:lnSpc>
            </a:pPr>
            <a:r>
              <a:rPr lang="en-US" sz="1800" dirty="0">
                <a:solidFill>
                  <a:srgbClr val="000000"/>
                </a:solidFill>
                <a:latin typeface="Source Han Sans SC Light" pitchFamily="34" charset="0"/>
                <a:ea typeface="Source Han Sans SC Light" pitchFamily="34" charset="-122"/>
                <a:cs typeface="Source Han Sans SC Light" pitchFamily="34" charset="-120"/>
              </a:rPr>
              <a:t>To display the highest salary in each department, you can use a subquery in the SELECT clause to calculate the maximum salary for each department.</a:t>
            </a:r>
            <a:endParaRPr lang="en-US" sz="1600" dirty="0"/>
          </a:p>
        </p:txBody>
      </p:sp>
      <p:sp>
        <p:nvSpPr>
          <p:cNvPr id="9" name="Text 6"/>
          <p:cNvSpPr/>
          <p:nvPr/>
        </p:nvSpPr>
        <p:spPr>
          <a:xfrm>
            <a:off x="6456045" y="1749425"/>
            <a:ext cx="5152390" cy="460375"/>
          </a:xfrm>
          <a:prstGeom prst="rect">
            <a:avLst/>
          </a:prstGeom>
          <a:noFill/>
          <a:ln/>
        </p:spPr>
        <p:txBody>
          <a:bodyPr wrap="square" lIns="91440" tIns="45720" rIns="91440" bIns="45720" rtlCol="0" anchor="t">
            <a:spAutoFit/>
          </a:bodyPr>
          <a:lstStyle/>
          <a:p>
            <a:pPr>
              <a:lnSpc>
                <a:spcPct val="100000"/>
              </a:lnSpc>
            </a:pPr>
            <a:r>
              <a:rPr lang="en-US" sz="2400" dirty="0">
                <a:solidFill>
                  <a:srgbClr val="FFFFFF"/>
                </a:solidFill>
                <a:latin typeface="Source Han Sans SC" pitchFamily="34" charset="0"/>
                <a:ea typeface="Source Han Sans SC" pitchFamily="34" charset="-122"/>
                <a:cs typeface="Source Han Sans SC" pitchFamily="34" charset="-120"/>
              </a:rPr>
              <a:t>Advantages</a:t>
            </a:r>
            <a:endParaRPr lang="en-US" sz="1600" dirty="0"/>
          </a:p>
        </p:txBody>
      </p:sp>
      <p:sp>
        <p:nvSpPr>
          <p:cNvPr id="10" name="Text 7"/>
          <p:cNvSpPr/>
          <p:nvPr/>
        </p:nvSpPr>
        <p:spPr>
          <a:xfrm>
            <a:off x="6456045" y="2493010"/>
            <a:ext cx="5067935" cy="1753235"/>
          </a:xfrm>
          <a:prstGeom prst="rect">
            <a:avLst/>
          </a:prstGeom>
          <a:noFill/>
          <a:ln/>
        </p:spPr>
        <p:txBody>
          <a:bodyPr wrap="square" lIns="91440" tIns="45720" rIns="91440" bIns="45720" rtlCol="0" anchor="t">
            <a:spAutoFit/>
          </a:bodyPr>
          <a:lstStyle/>
          <a:p>
            <a:pPr>
              <a:lnSpc>
                <a:spcPct val="100000"/>
              </a:lnSpc>
            </a:pPr>
            <a:r>
              <a:rPr lang="en-US" sz="1800" dirty="0">
                <a:solidFill>
                  <a:srgbClr val="000000"/>
                </a:solidFill>
                <a:latin typeface="Source Han Sans SC Light" pitchFamily="34" charset="0"/>
                <a:ea typeface="Source Han Sans SC Light" pitchFamily="34" charset="-122"/>
                <a:cs typeface="Source Han Sans SC Light" pitchFamily="34" charset="-120"/>
              </a:rPr>
              <a:t>This method keeps the query modular and readable, allowing you to include aggregated insights alongside regular columns without additional joins.</a:t>
            </a:r>
            <a:endParaRPr lang="en-US" sz="1600" dirty="0"/>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83904" y="406688"/>
            <a:ext cx="5512096" cy="1477328"/>
          </a:xfrm>
          <a:prstGeom prst="rect">
            <a:avLst/>
          </a:prstGeom>
          <a:noFill/>
          <a:ln/>
        </p:spPr>
        <p:txBody>
          <a:bodyPr wrap="square" lIns="91440" tIns="45720" rIns="91440" bIns="45720" rtlCol="0" anchor="t">
            <a:spAutoFit/>
          </a:bodyPr>
          <a:lstStyle/>
          <a:p>
            <a:pPr>
              <a:lnSpc>
                <a:spcPct val="100000"/>
              </a:lnSpc>
            </a:pPr>
            <a:r>
              <a:rPr lang="en-US" sz="3600" dirty="0">
                <a:solidFill>
                  <a:srgbClr val="000000"/>
                </a:solidFill>
                <a:latin typeface="Source Han Sans SC" pitchFamily="34" charset="0"/>
                <a:ea typeface="Source Han Sans SC" pitchFamily="34" charset="-122"/>
                <a:cs typeface="Source Han Sans SC" pitchFamily="34" charset="-120"/>
              </a:rPr>
              <a:t>Blend Joins with Subqueries</a:t>
            </a:r>
            <a:endParaRPr lang="en-US" sz="1600" dirty="0"/>
          </a:p>
        </p:txBody>
      </p:sp>
      <p:sp>
        <p:nvSpPr>
          <p:cNvPr id="3" name="Shape 1"/>
          <p:cNvSpPr/>
          <p:nvPr/>
        </p:nvSpPr>
        <p:spPr>
          <a:xfrm>
            <a:off x="5757545" y="836930"/>
            <a:ext cx="5850890" cy="741045"/>
          </a:xfrm>
          <a:prstGeom prst="rect">
            <a:avLst/>
          </a:prstGeom>
          <a:solidFill>
            <a:srgbClr val="DAE3F3"/>
          </a:solidFill>
          <a:ln/>
        </p:spPr>
      </p:sp>
      <p:sp>
        <p:nvSpPr>
          <p:cNvPr id="4" name="Text 2"/>
          <p:cNvSpPr/>
          <p:nvPr/>
        </p:nvSpPr>
        <p:spPr>
          <a:xfrm>
            <a:off x="5757545" y="836930"/>
            <a:ext cx="5850890" cy="741045"/>
          </a:xfrm>
          <a:prstGeom prst="rect">
            <a:avLst/>
          </a:prstGeom>
          <a:noFill/>
          <a:ln/>
        </p:spPr>
        <p:txBody>
          <a:bodyPr wrap="square" lIns="45720" tIns="91440" rIns="91440" bIns="45720" rtlCol="0" anchor="ctr"/>
          <a:lstStyle/>
          <a:p>
            <a:pPr>
              <a:lnSpc>
                <a:spcPct val="100000"/>
              </a:lnSpc>
            </a:pPr>
            <a:endParaRPr lang="en-US" sz="1600" dirty="0"/>
          </a:p>
        </p:txBody>
      </p:sp>
      <p:pic>
        <p:nvPicPr>
          <p:cNvPr id="5" name="Image 0" descr="https://kimi-img.moonshot.cn/pub/slides/slides_tmpl/image/25-08-27-20:09:09-d2nfap98bjvh7rlj0icg.jpg"/>
          <p:cNvPicPr>
            <a:picLocks noChangeAspect="1"/>
          </p:cNvPicPr>
          <p:nvPr/>
        </p:nvPicPr>
        <p:blipFill>
          <a:blip r:embed="rId3"/>
          <a:srcRect/>
          <a:stretch/>
        </p:blipFill>
        <p:spPr>
          <a:xfrm>
            <a:off x="767408" y="3133931"/>
            <a:ext cx="10840688" cy="3153933"/>
          </a:xfrm>
          <a:prstGeom prst="rect">
            <a:avLst/>
          </a:prstGeom>
        </p:spPr>
      </p:pic>
      <p:sp>
        <p:nvSpPr>
          <p:cNvPr id="6" name="Text 3"/>
          <p:cNvSpPr/>
          <p:nvPr/>
        </p:nvSpPr>
        <p:spPr>
          <a:xfrm>
            <a:off x="5735955" y="954405"/>
            <a:ext cx="5760720" cy="499745"/>
          </a:xfrm>
          <a:prstGeom prst="rect">
            <a:avLst/>
          </a:prstGeom>
          <a:noFill/>
          <a:ln/>
        </p:spPr>
        <p:txBody>
          <a:bodyPr wrap="square" lIns="91440" tIns="45720" rIns="91440" bIns="45720" rtlCol="0" anchor="ctr"/>
          <a:lstStyle/>
          <a:p>
            <a:pPr>
              <a:lnSpc>
                <a:spcPct val="100000"/>
              </a:lnSpc>
            </a:pPr>
            <a:r>
              <a:rPr lang="en-US" sz="2400" dirty="0">
                <a:solidFill>
                  <a:srgbClr val="000000"/>
                </a:solidFill>
                <a:latin typeface="Source Han Sans SC" pitchFamily="34" charset="0"/>
                <a:ea typeface="Source Han Sans SC" pitchFamily="34" charset="-122"/>
                <a:cs typeface="Source Han Sans SC" pitchFamily="34" charset="-120"/>
              </a:rPr>
              <a:t>Hybrid Query Example</a:t>
            </a:r>
            <a:endParaRPr lang="en-US" sz="1600" dirty="0"/>
          </a:p>
        </p:txBody>
      </p:sp>
      <p:sp>
        <p:nvSpPr>
          <p:cNvPr id="7" name="Text 4"/>
          <p:cNvSpPr/>
          <p:nvPr/>
        </p:nvSpPr>
        <p:spPr>
          <a:xfrm>
            <a:off x="5735955" y="1628775"/>
            <a:ext cx="5897245" cy="1330325"/>
          </a:xfrm>
          <a:prstGeom prst="rect">
            <a:avLst/>
          </a:prstGeom>
          <a:noFill/>
          <a:ln/>
        </p:spPr>
        <p:txBody>
          <a:bodyPr wrap="square" lIns="91440" tIns="45720" rIns="91440" bIns="45720" rtlCol="0" anchor="t"/>
          <a:lstStyle/>
          <a:p>
            <a:pPr>
              <a:lnSpc>
                <a:spcPct val="100000"/>
              </a:lnSpc>
            </a:pPr>
            <a:r>
              <a:rPr lang="en-US" sz="1600" dirty="0">
                <a:solidFill>
                  <a:srgbClr val="000000"/>
                </a:solidFill>
                <a:latin typeface="Source Han Sans SC Normal" pitchFamily="34" charset="0"/>
                <a:ea typeface="Source Han Sans SC Normal" pitchFamily="34" charset="-122"/>
                <a:cs typeface="Source Han Sans SC Normal" pitchFamily="34" charset="-120"/>
              </a:rPr>
              <a:t>Combining joins and subqueries allows you to identify key records using subqueries and then enrich the results with additional data through joins, optimizing both clarity and performance.</a:t>
            </a:r>
            <a:endParaRPr lang="en-US" sz="1600" dirty="0"/>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51180" y="2952115"/>
            <a:ext cx="5887085" cy="953135"/>
          </a:xfrm>
          <a:prstGeom prst="rect">
            <a:avLst/>
          </a:prstGeom>
          <a:noFill/>
          <a:ln/>
        </p:spPr>
        <p:txBody>
          <a:bodyPr wrap="square" lIns="91440" tIns="45720" rIns="91440" bIns="45720" rtlCol="0" anchor="t">
            <a:spAutoFit/>
          </a:bodyPr>
          <a:lstStyle/>
          <a:p>
            <a:pPr>
              <a:lnSpc>
                <a:spcPct val="100000"/>
              </a:lnSpc>
            </a:pPr>
            <a:r>
              <a:rPr lang="en-US" sz="2800" dirty="0">
                <a:solidFill>
                  <a:srgbClr val="000000"/>
                </a:solidFill>
                <a:latin typeface="Source Han Sans SC" pitchFamily="34" charset="0"/>
                <a:ea typeface="Source Han Sans SC" pitchFamily="34" charset="-122"/>
                <a:cs typeface="Source Han Sans SC" pitchFamily="34" charset="-120"/>
              </a:rPr>
              <a:t>Practice &amp; Wrap-up</a:t>
            </a:r>
            <a:endParaRPr lang="en-US" sz="1600" dirty="0"/>
          </a:p>
        </p:txBody>
      </p:sp>
      <p:sp>
        <p:nvSpPr>
          <p:cNvPr id="3" name="Shape 1"/>
          <p:cNvSpPr/>
          <p:nvPr/>
        </p:nvSpPr>
        <p:spPr>
          <a:xfrm>
            <a:off x="711202" y="786574"/>
            <a:ext cx="3434078" cy="0"/>
          </a:xfrm>
          <a:prstGeom prst="line">
            <a:avLst/>
          </a:prstGeom>
          <a:noFill/>
          <a:ln w="15875">
            <a:solidFill>
              <a:srgbClr val="000000"/>
            </a:solidFill>
            <a:prstDash val="solid"/>
            <a:headEnd type="none"/>
            <a:tailEnd type="none"/>
          </a:ln>
        </p:spPr>
      </p:sp>
      <p:pic>
        <p:nvPicPr>
          <p:cNvPr id="4" name="Image 0" descr="https://kimi-img.moonshot.cn/pub/slides/slides_tmpl/image/25-08-27-20:09:03-d2nfanp8bjvh7rlj0i40.jpg"/>
          <p:cNvPicPr>
            <a:picLocks noChangeAspect="1"/>
          </p:cNvPicPr>
          <p:nvPr/>
        </p:nvPicPr>
        <p:blipFill>
          <a:blip r:embed="rId3"/>
          <a:stretch>
            <a:fillRect/>
          </a:stretch>
        </p:blipFill>
        <p:spPr>
          <a:xfrm>
            <a:off x="8046721" y="1008555"/>
            <a:ext cx="3553129" cy="5196386"/>
          </a:xfrm>
          <a:prstGeom prst="rect">
            <a:avLst/>
          </a:prstGeom>
        </p:spPr>
      </p:pic>
      <p:pic>
        <p:nvPicPr>
          <p:cNvPr id="5" name="Image 1" descr="https://kimi-img.moonshot.cn/pub/slides/slides_tmpl/image/25-08-27-20:09:03-d2nfanp8bjvh7rlj0i3g.png"/>
          <p:cNvPicPr>
            <a:picLocks noChangeAspect="1"/>
          </p:cNvPicPr>
          <p:nvPr/>
        </p:nvPicPr>
        <p:blipFill>
          <a:blip r:embed="rId4"/>
          <a:srcRect r="60768" b="-4844"/>
          <a:stretch/>
        </p:blipFill>
        <p:spPr>
          <a:xfrm>
            <a:off x="551180" y="404495"/>
            <a:ext cx="4320336" cy="503981"/>
          </a:xfrm>
          <a:prstGeom prst="rect">
            <a:avLst/>
          </a:prstGeom>
        </p:spPr>
      </p:pic>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flip="none" rotWithShape="1">
            <a:gsLst>
              <a:gs pos="0">
                <a:srgbClr val="2F5596"/>
              </a:gs>
              <a:gs pos="56000">
                <a:srgbClr val="7095BC"/>
              </a:gs>
              <a:gs pos="91000">
                <a:srgbClr val="B0D5E1"/>
              </a:gs>
              <a:gs pos="100000">
                <a:srgbClr val="C2F5E1"/>
              </a:gs>
            </a:gsLst>
            <a:lin ang="4800000" scaled="1"/>
          </a:gradFill>
          <a:ln w="12700">
            <a:solidFill>
              <a:srgbClr val="09111E"/>
            </a:solidFill>
            <a:prstDash val="solid"/>
          </a:ln>
        </p:spPr>
      </p:sp>
      <p:sp>
        <p:nvSpPr>
          <p:cNvPr id="3" name="Text 1"/>
          <p:cNvSpPr/>
          <p:nvPr/>
        </p:nvSpPr>
        <p:spPr>
          <a:xfrm>
            <a:off x="0" y="0"/>
            <a:ext cx="12192000" cy="6858000"/>
          </a:xfrm>
          <a:prstGeom prst="rect">
            <a:avLst/>
          </a:prstGeom>
          <a:noFill/>
          <a:ln/>
        </p:spPr>
        <p:txBody>
          <a:bodyPr wrap="square" lIns="45720" tIns="91440" rIns="91440" bIns="45720" rtlCol="0" anchor="ctr"/>
          <a:lstStyle/>
          <a:p>
            <a:pPr>
              <a:lnSpc>
                <a:spcPct val="100000"/>
              </a:lnSpc>
            </a:pPr>
            <a:endParaRPr lang="en-US" sz="1600" dirty="0"/>
          </a:p>
        </p:txBody>
      </p:sp>
      <p:pic>
        <p:nvPicPr>
          <p:cNvPr id="4" name="Image 0" descr="https://kimi-img.moonshot.cn/pub/slides/slides_tmpl/image/25-08-27-20:09:12-d2nfaq18bjvh7rlj0iqg.png"/>
          <p:cNvPicPr>
            <a:picLocks noChangeAspect="1"/>
          </p:cNvPicPr>
          <p:nvPr/>
        </p:nvPicPr>
        <p:blipFill>
          <a:blip r:embed="rId3">
            <a:alphaModFix amt="76000"/>
          </a:blip>
          <a:srcRect/>
          <a:stretch/>
        </p:blipFill>
        <p:spPr>
          <a:xfrm>
            <a:off x="3454805" y="1700726"/>
            <a:ext cx="5953563" cy="5157274"/>
          </a:xfrm>
          <a:prstGeom prst="rect">
            <a:avLst/>
          </a:prstGeom>
        </p:spPr>
      </p:pic>
      <p:sp>
        <p:nvSpPr>
          <p:cNvPr id="5" name="Text 2"/>
          <p:cNvSpPr/>
          <p:nvPr/>
        </p:nvSpPr>
        <p:spPr>
          <a:xfrm>
            <a:off x="592149" y="749211"/>
            <a:ext cx="6208735" cy="800219"/>
          </a:xfrm>
          <a:prstGeom prst="rect">
            <a:avLst/>
          </a:prstGeom>
          <a:noFill/>
          <a:ln/>
        </p:spPr>
        <p:txBody>
          <a:bodyPr wrap="square" lIns="91440" tIns="45720" rIns="91440" bIns="45720" rtlCol="0" anchor="t">
            <a:spAutoFit/>
          </a:bodyPr>
          <a:lstStyle/>
          <a:p>
            <a:pPr>
              <a:lnSpc>
                <a:spcPct val="100000"/>
              </a:lnSpc>
            </a:pPr>
            <a:r>
              <a:rPr lang="en-US" sz="2800" b="1" dirty="0">
                <a:solidFill>
                  <a:srgbClr val="FFFFFF"/>
                </a:solidFill>
                <a:latin typeface="Source Han Sans SC" pitchFamily="34" charset="0"/>
                <a:ea typeface="Source Han Sans SC" pitchFamily="34" charset="-122"/>
                <a:cs typeface="Source Han Sans SC" pitchFamily="34" charset="-120"/>
              </a:rPr>
              <a:t>Hands-on Lab Instructions</a:t>
            </a:r>
            <a:endParaRPr lang="en-US" sz="1600" dirty="0"/>
          </a:p>
        </p:txBody>
      </p:sp>
      <p:pic>
        <p:nvPicPr>
          <p:cNvPr id="6" name="Image 1" descr="https://kimi-img.moonshot.cn/pub/slides/slides_tmpl/image/25-08-27-20:09:12-d2nfaq18bjvh7rlj0iog.png"/>
          <p:cNvPicPr>
            <a:picLocks noChangeAspect="1"/>
          </p:cNvPicPr>
          <p:nvPr/>
        </p:nvPicPr>
        <p:blipFill>
          <a:blip r:embed="rId4"/>
          <a:stretch>
            <a:fillRect/>
          </a:stretch>
        </p:blipFill>
        <p:spPr>
          <a:xfrm>
            <a:off x="695019" y="1413090"/>
            <a:ext cx="6731000" cy="2819400"/>
          </a:xfrm>
          <a:prstGeom prst="rect">
            <a:avLst/>
          </a:prstGeom>
        </p:spPr>
      </p:pic>
      <p:sp>
        <p:nvSpPr>
          <p:cNvPr id="7" name="Shape 3"/>
          <p:cNvSpPr/>
          <p:nvPr/>
        </p:nvSpPr>
        <p:spPr>
          <a:xfrm>
            <a:off x="5807968" y="3573775"/>
            <a:ext cx="504056" cy="0"/>
          </a:xfrm>
          <a:prstGeom prst="straightConnector1">
            <a:avLst/>
          </a:prstGeom>
          <a:noFill/>
          <a:ln w="15875">
            <a:solidFill>
              <a:srgbClr val="FFFFFF"/>
            </a:solidFill>
            <a:prstDash val="solid"/>
            <a:headEnd type="none"/>
            <a:tailEnd type="triangle"/>
          </a:ln>
        </p:spPr>
      </p:sp>
      <p:sp>
        <p:nvSpPr>
          <p:cNvPr id="8" name="Text 4"/>
          <p:cNvSpPr/>
          <p:nvPr/>
        </p:nvSpPr>
        <p:spPr>
          <a:xfrm>
            <a:off x="617425" y="2116403"/>
            <a:ext cx="4783771" cy="368300"/>
          </a:xfrm>
          <a:prstGeom prst="rect">
            <a:avLst/>
          </a:prstGeom>
          <a:noFill/>
          <a:ln/>
        </p:spPr>
        <p:txBody>
          <a:bodyPr wrap="square" lIns="91440" tIns="45720" rIns="91440" bIns="45720" rtlCol="0" anchor="t">
            <a:spAutoFit/>
          </a:bodyPr>
          <a:lstStyle/>
          <a:p>
            <a:pPr>
              <a:lnSpc>
                <a:spcPct val="100000"/>
              </a:lnSpc>
            </a:pPr>
            <a:r>
              <a:rPr lang="en-US" sz="1800" dirty="0">
                <a:solidFill>
                  <a:srgbClr val="FFFFFF"/>
                </a:solidFill>
                <a:latin typeface="Source Han Sans SC" pitchFamily="34" charset="0"/>
                <a:ea typeface="Source Han Sans SC" pitchFamily="34" charset="-122"/>
                <a:cs typeface="Source Han Sans SC" pitchFamily="34" charset="-120"/>
              </a:rPr>
              <a:t>Lab Goals</a:t>
            </a:r>
            <a:endParaRPr lang="en-US" sz="1600" dirty="0"/>
          </a:p>
        </p:txBody>
      </p:sp>
      <p:sp>
        <p:nvSpPr>
          <p:cNvPr id="9" name="Text 5"/>
          <p:cNvSpPr/>
          <p:nvPr/>
        </p:nvSpPr>
        <p:spPr>
          <a:xfrm>
            <a:off x="630249" y="2454957"/>
            <a:ext cx="5177719" cy="1322070"/>
          </a:xfrm>
          <a:prstGeom prst="rect">
            <a:avLst/>
          </a:prstGeom>
          <a:noFill/>
          <a:ln/>
        </p:spPr>
        <p:txBody>
          <a:bodyPr wrap="square" lIns="91440" tIns="45720" rIns="91440" bIns="45720" rtlCol="0" anchor="t">
            <a:spAutoFit/>
          </a:bodyPr>
          <a:lstStyle/>
          <a:p>
            <a:pPr>
              <a:lnSpc>
                <a:spcPct val="100000"/>
              </a:lnSpc>
            </a:pPr>
            <a:r>
              <a:rPr lang="en-US" sz="1600" dirty="0">
                <a:solidFill>
                  <a:srgbClr val="FFFFFF"/>
                </a:solidFill>
                <a:latin typeface="Source Han Sans SC Normal" pitchFamily="34" charset="0"/>
                <a:ea typeface="Source Han Sans SC Normal" pitchFamily="34" charset="-122"/>
                <a:cs typeface="Source Han Sans SC Normal" pitchFamily="34" charset="-120"/>
              </a:rPr>
              <a:t>The lab exercise aims to apply what you’ve learned about joins and subqueries to real-world data, ensuring you can confidently perform complex data retrieval tasks.</a:t>
            </a:r>
            <a:endParaRPr lang="en-US" sz="1600" dirty="0"/>
          </a:p>
        </p:txBody>
      </p:sp>
      <p:sp>
        <p:nvSpPr>
          <p:cNvPr id="10" name="Text 6"/>
          <p:cNvSpPr/>
          <p:nvPr/>
        </p:nvSpPr>
        <p:spPr>
          <a:xfrm>
            <a:off x="617425" y="4288103"/>
            <a:ext cx="4783771" cy="368300"/>
          </a:xfrm>
          <a:prstGeom prst="rect">
            <a:avLst/>
          </a:prstGeom>
          <a:noFill/>
          <a:ln/>
        </p:spPr>
        <p:txBody>
          <a:bodyPr wrap="square" lIns="91440" tIns="45720" rIns="91440" bIns="45720" rtlCol="0" anchor="t">
            <a:spAutoFit/>
          </a:bodyPr>
          <a:lstStyle/>
          <a:p>
            <a:pPr>
              <a:lnSpc>
                <a:spcPct val="100000"/>
              </a:lnSpc>
            </a:pPr>
            <a:r>
              <a:rPr lang="en-US" sz="1800" dirty="0">
                <a:solidFill>
                  <a:srgbClr val="FFFFFF"/>
                </a:solidFill>
                <a:latin typeface="Source Han Sans SC" pitchFamily="34" charset="0"/>
                <a:ea typeface="Source Han Sans SC" pitchFamily="34" charset="-122"/>
                <a:cs typeface="Source Han Sans SC" pitchFamily="34" charset="-120"/>
              </a:rPr>
              <a:t>Tasks</a:t>
            </a:r>
            <a:endParaRPr lang="en-US" sz="1600" dirty="0"/>
          </a:p>
        </p:txBody>
      </p:sp>
      <p:sp>
        <p:nvSpPr>
          <p:cNvPr id="11" name="Text 7"/>
          <p:cNvSpPr/>
          <p:nvPr/>
        </p:nvSpPr>
        <p:spPr>
          <a:xfrm>
            <a:off x="630249" y="4626657"/>
            <a:ext cx="5177719" cy="1322070"/>
          </a:xfrm>
          <a:prstGeom prst="rect">
            <a:avLst/>
          </a:prstGeom>
          <a:noFill/>
          <a:ln/>
        </p:spPr>
        <p:txBody>
          <a:bodyPr wrap="square" lIns="91440" tIns="45720" rIns="91440" bIns="45720" rtlCol="0" anchor="t">
            <a:spAutoFit/>
          </a:bodyPr>
          <a:lstStyle/>
          <a:p>
            <a:pPr>
              <a:lnSpc>
                <a:spcPct val="100000"/>
              </a:lnSpc>
            </a:pPr>
            <a:r>
              <a:rPr lang="en-US" sz="1600" dirty="0">
                <a:solidFill>
                  <a:srgbClr val="FFFFFF"/>
                </a:solidFill>
                <a:latin typeface="Source Han Sans SC Normal" pitchFamily="34" charset="0"/>
                <a:ea typeface="Source Han Sans SC Normal" pitchFamily="34" charset="-122"/>
                <a:cs typeface="Source Han Sans SC Normal" pitchFamily="34" charset="-120"/>
              </a:rPr>
              <a:t>You will perform INNER JOIN, LEFT JOIN, and RIGHT JOIN queries, create subqueries for filtering and aggregation, and combine joins with subqueries to solve advanced problems.</a:t>
            </a:r>
            <a:endParaRPr lang="en-US" sz="1600" dirty="0"/>
          </a:p>
        </p:txBody>
      </p:sp>
      <p:sp>
        <p:nvSpPr>
          <p:cNvPr id="12" name="Text 8"/>
          <p:cNvSpPr/>
          <p:nvPr/>
        </p:nvSpPr>
        <p:spPr>
          <a:xfrm>
            <a:off x="6522925" y="1900503"/>
            <a:ext cx="4783771" cy="368300"/>
          </a:xfrm>
          <a:prstGeom prst="rect">
            <a:avLst/>
          </a:prstGeom>
          <a:noFill/>
          <a:ln/>
        </p:spPr>
        <p:txBody>
          <a:bodyPr wrap="square" lIns="91440" tIns="45720" rIns="91440" bIns="45720" rtlCol="0" anchor="t">
            <a:spAutoFit/>
          </a:bodyPr>
          <a:lstStyle/>
          <a:p>
            <a:pPr>
              <a:lnSpc>
                <a:spcPct val="100000"/>
              </a:lnSpc>
            </a:pPr>
            <a:r>
              <a:rPr lang="en-US" sz="1800" dirty="0">
                <a:solidFill>
                  <a:srgbClr val="FFFFFF"/>
                </a:solidFill>
                <a:latin typeface="Source Han Sans SC" pitchFamily="34" charset="0"/>
                <a:ea typeface="Source Han Sans SC" pitchFamily="34" charset="-122"/>
                <a:cs typeface="Source Han Sans SC" pitchFamily="34" charset="-120"/>
              </a:rPr>
              <a:t>Guidance</a:t>
            </a:r>
            <a:endParaRPr lang="en-US" sz="1600" dirty="0"/>
          </a:p>
        </p:txBody>
      </p:sp>
      <p:sp>
        <p:nvSpPr>
          <p:cNvPr id="13" name="Text 9"/>
          <p:cNvSpPr/>
          <p:nvPr/>
        </p:nvSpPr>
        <p:spPr>
          <a:xfrm>
            <a:off x="6535749" y="2239057"/>
            <a:ext cx="5177719" cy="1322070"/>
          </a:xfrm>
          <a:prstGeom prst="rect">
            <a:avLst/>
          </a:prstGeom>
          <a:noFill/>
          <a:ln/>
        </p:spPr>
        <p:txBody>
          <a:bodyPr wrap="square" lIns="91440" tIns="45720" rIns="91440" bIns="45720" rtlCol="0" anchor="t">
            <a:spAutoFit/>
          </a:bodyPr>
          <a:lstStyle/>
          <a:p>
            <a:pPr>
              <a:lnSpc>
                <a:spcPct val="100000"/>
              </a:lnSpc>
            </a:pPr>
            <a:r>
              <a:rPr lang="en-US" sz="1600" dirty="0">
                <a:solidFill>
                  <a:srgbClr val="FFFFFF"/>
                </a:solidFill>
                <a:latin typeface="Source Han Sans SC Normal" pitchFamily="34" charset="0"/>
                <a:ea typeface="Source Han Sans SC Normal" pitchFamily="34" charset="-122"/>
                <a:cs typeface="Source Han Sans SC Normal" pitchFamily="34" charset="-120"/>
              </a:rPr>
              <a:t>Follow the provided checklist to incrementally build your queries. This hands-on practice will reinforce your understanding and prepare you for future database challenges.</a:t>
            </a:r>
            <a:endParaRPr lang="en-US" sz="1600" dirty="0"/>
          </a:p>
        </p:txBody>
      </p:sp>
      <p:sp>
        <p:nvSpPr>
          <p:cNvPr id="14" name="Text 10"/>
          <p:cNvSpPr/>
          <p:nvPr/>
        </p:nvSpPr>
        <p:spPr>
          <a:xfrm>
            <a:off x="6561025" y="4288103"/>
            <a:ext cx="4783771" cy="368300"/>
          </a:xfrm>
          <a:prstGeom prst="rect">
            <a:avLst/>
          </a:prstGeom>
          <a:noFill/>
          <a:ln/>
        </p:spPr>
        <p:txBody>
          <a:bodyPr wrap="square" lIns="91440" tIns="45720" rIns="91440" bIns="45720" rtlCol="0" anchor="t">
            <a:spAutoFit/>
          </a:bodyPr>
          <a:lstStyle/>
          <a:p>
            <a:pPr>
              <a:lnSpc>
                <a:spcPct val="100000"/>
              </a:lnSpc>
            </a:pPr>
            <a:r>
              <a:rPr lang="en-US" sz="1800" dirty="0">
                <a:solidFill>
                  <a:srgbClr val="FFFFFF"/>
                </a:solidFill>
                <a:latin typeface="Source Han Sans SC" pitchFamily="34" charset="0"/>
                <a:ea typeface="Source Han Sans SC" pitchFamily="34" charset="-122"/>
                <a:cs typeface="Source Han Sans SC" pitchFamily="34" charset="-120"/>
              </a:rPr>
              <a:t>Validation</a:t>
            </a:r>
            <a:endParaRPr lang="en-US" sz="1600" dirty="0"/>
          </a:p>
        </p:txBody>
      </p:sp>
      <p:sp>
        <p:nvSpPr>
          <p:cNvPr id="15" name="Text 11"/>
          <p:cNvSpPr/>
          <p:nvPr/>
        </p:nvSpPr>
        <p:spPr>
          <a:xfrm>
            <a:off x="6573849" y="4626657"/>
            <a:ext cx="5177719" cy="1322070"/>
          </a:xfrm>
          <a:prstGeom prst="rect">
            <a:avLst/>
          </a:prstGeom>
          <a:noFill/>
          <a:ln/>
        </p:spPr>
        <p:txBody>
          <a:bodyPr wrap="square" lIns="91440" tIns="45720" rIns="91440" bIns="45720" rtlCol="0" anchor="t">
            <a:spAutoFit/>
          </a:bodyPr>
          <a:lstStyle/>
          <a:p>
            <a:pPr>
              <a:lnSpc>
                <a:spcPct val="100000"/>
              </a:lnSpc>
            </a:pPr>
            <a:r>
              <a:rPr lang="en-US" sz="1600" dirty="0">
                <a:solidFill>
                  <a:srgbClr val="FFFFFF"/>
                </a:solidFill>
                <a:latin typeface="Source Han Sans SC Normal" pitchFamily="34" charset="0"/>
                <a:ea typeface="Source Han Sans SC Normal" pitchFamily="34" charset="-122"/>
                <a:cs typeface="Source Han Sans SC Normal" pitchFamily="34" charset="-120"/>
              </a:rPr>
              <a:t>Verify your results using provided solutions or by comparing with peers. This ensures you leave with validated scripts ready for portfolio or workplace application.</a:t>
            </a:r>
            <a:endParaRPr lang="en-US" sz="1600" dirty="0"/>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20:09:16-d2nfar18bjvh7rlj0iu0.jpg"/>
          <p:cNvPicPr>
            <a:picLocks noChangeAspect="1"/>
          </p:cNvPicPr>
          <p:nvPr/>
        </p:nvPicPr>
        <p:blipFill>
          <a:blip r:embed="rId3"/>
          <a:srcRect/>
          <a:stretch/>
        </p:blipFill>
        <p:spPr>
          <a:xfrm>
            <a:off x="0" y="-1"/>
            <a:ext cx="12192000" cy="6858001"/>
          </a:xfrm>
          <a:prstGeom prst="rect">
            <a:avLst/>
          </a:prstGeom>
        </p:spPr>
      </p:pic>
      <p:sp>
        <p:nvSpPr>
          <p:cNvPr id="3" name="Shape 0"/>
          <p:cNvSpPr/>
          <p:nvPr/>
        </p:nvSpPr>
        <p:spPr>
          <a:xfrm>
            <a:off x="-24680" y="-27384"/>
            <a:ext cx="12232332" cy="6959798"/>
          </a:xfrm>
          <a:prstGeom prst="rect">
            <a:avLst/>
          </a:prstGeom>
          <a:solidFill>
            <a:srgbClr val="333F4F">
              <a:alpha val="47843"/>
            </a:srgbClr>
          </a:solidFill>
          <a:ln/>
        </p:spPr>
      </p:sp>
      <p:sp>
        <p:nvSpPr>
          <p:cNvPr id="4" name="Text 1"/>
          <p:cNvSpPr/>
          <p:nvPr/>
        </p:nvSpPr>
        <p:spPr>
          <a:xfrm>
            <a:off x="-24680" y="-27384"/>
            <a:ext cx="12232332" cy="6959798"/>
          </a:xfrm>
          <a:prstGeom prst="rect">
            <a:avLst/>
          </a:prstGeom>
          <a:noFill/>
          <a:ln/>
        </p:spPr>
        <p:txBody>
          <a:bodyPr wrap="square" lIns="45720" tIns="91440" rIns="91440" bIns="45720" rtlCol="0" anchor="ctr"/>
          <a:lstStyle/>
          <a:p>
            <a:pPr>
              <a:lnSpc>
                <a:spcPct val="100000"/>
              </a:lnSpc>
            </a:pPr>
            <a:endParaRPr lang="en-US" sz="1600" dirty="0"/>
          </a:p>
        </p:txBody>
      </p:sp>
      <p:pic>
        <p:nvPicPr>
          <p:cNvPr id="5" name="Image 1" descr="https://kimi-img.moonshot.cn/pub/slides/slides_tmpl/image/25-08-27-20:09:12-d2nfaq18bjvh7rlj0ing.png"/>
          <p:cNvPicPr>
            <a:picLocks noChangeAspect="1"/>
          </p:cNvPicPr>
          <p:nvPr/>
        </p:nvPicPr>
        <p:blipFill>
          <a:blip r:embed="rId4"/>
          <a:stretch>
            <a:fillRect/>
          </a:stretch>
        </p:blipFill>
        <p:spPr>
          <a:xfrm>
            <a:off x="0" y="4149080"/>
            <a:ext cx="12192000" cy="1561981"/>
          </a:xfrm>
          <a:prstGeom prst="rect">
            <a:avLst/>
          </a:prstGeom>
        </p:spPr>
      </p:pic>
      <p:sp>
        <p:nvSpPr>
          <p:cNvPr id="6" name="Shape 2"/>
          <p:cNvSpPr/>
          <p:nvPr/>
        </p:nvSpPr>
        <p:spPr>
          <a:xfrm rot="10800000">
            <a:off x="1948002" y="4932990"/>
            <a:ext cx="360039" cy="296210"/>
          </a:xfrm>
          <a:prstGeom prst="triangle">
            <a:avLst>
              <a:gd name="adj" fmla="val 50000"/>
            </a:avLst>
          </a:prstGeom>
          <a:solidFill>
            <a:srgbClr val="FFFFFF"/>
          </a:solidFill>
          <a:ln/>
        </p:spPr>
      </p:sp>
      <p:sp>
        <p:nvSpPr>
          <p:cNvPr id="7" name="Text 3"/>
          <p:cNvSpPr/>
          <p:nvPr/>
        </p:nvSpPr>
        <p:spPr>
          <a:xfrm rot="10800000">
            <a:off x="1948002" y="4932990"/>
            <a:ext cx="360039" cy="296210"/>
          </a:xfrm>
          <a:prstGeom prst="rect">
            <a:avLst/>
          </a:prstGeom>
          <a:noFill/>
          <a:ln/>
        </p:spPr>
        <p:txBody>
          <a:bodyPr wrap="square" lIns="45720" tIns="91440" rIns="91440" bIns="45720" rtlCol="0" anchor="ctr"/>
          <a:lstStyle/>
          <a:p>
            <a:pPr>
              <a:lnSpc>
                <a:spcPct val="100000"/>
              </a:lnSpc>
            </a:pPr>
            <a:endParaRPr lang="en-US" sz="1600" dirty="0"/>
          </a:p>
        </p:txBody>
      </p:sp>
      <p:sp>
        <p:nvSpPr>
          <p:cNvPr id="8" name="Shape 4"/>
          <p:cNvSpPr/>
          <p:nvPr/>
        </p:nvSpPr>
        <p:spPr>
          <a:xfrm>
            <a:off x="1948003" y="4767462"/>
            <a:ext cx="360039" cy="63731"/>
          </a:xfrm>
          <a:prstGeom prst="rect">
            <a:avLst/>
          </a:prstGeom>
          <a:solidFill>
            <a:srgbClr val="C2F5E0"/>
          </a:solidFill>
          <a:ln/>
        </p:spPr>
      </p:sp>
      <p:sp>
        <p:nvSpPr>
          <p:cNvPr id="9" name="Text 5"/>
          <p:cNvSpPr/>
          <p:nvPr/>
        </p:nvSpPr>
        <p:spPr>
          <a:xfrm>
            <a:off x="1948003" y="4767462"/>
            <a:ext cx="360039" cy="63731"/>
          </a:xfrm>
          <a:prstGeom prst="rect">
            <a:avLst/>
          </a:prstGeom>
          <a:noFill/>
          <a:ln/>
        </p:spPr>
        <p:txBody>
          <a:bodyPr wrap="square" lIns="45720" tIns="91440" rIns="91440" bIns="45720" rtlCol="0" anchor="ctr"/>
          <a:lstStyle/>
          <a:p>
            <a:pPr>
              <a:lnSpc>
                <a:spcPct val="100000"/>
              </a:lnSpc>
            </a:pPr>
            <a:endParaRPr lang="en-US" sz="1600" dirty="0"/>
          </a:p>
        </p:txBody>
      </p:sp>
      <p:sp>
        <p:nvSpPr>
          <p:cNvPr id="10" name="Shape 6"/>
          <p:cNvSpPr/>
          <p:nvPr/>
        </p:nvSpPr>
        <p:spPr>
          <a:xfrm rot="10800000">
            <a:off x="5928324" y="3759222"/>
            <a:ext cx="360039" cy="296210"/>
          </a:xfrm>
          <a:prstGeom prst="triangle">
            <a:avLst>
              <a:gd name="adj" fmla="val 50000"/>
            </a:avLst>
          </a:prstGeom>
          <a:solidFill>
            <a:srgbClr val="FFFFFF"/>
          </a:solidFill>
          <a:ln/>
        </p:spPr>
      </p:sp>
      <p:sp>
        <p:nvSpPr>
          <p:cNvPr id="11" name="Text 7"/>
          <p:cNvSpPr/>
          <p:nvPr/>
        </p:nvSpPr>
        <p:spPr>
          <a:xfrm rot="10800000">
            <a:off x="5928324" y="3759222"/>
            <a:ext cx="360039" cy="296210"/>
          </a:xfrm>
          <a:prstGeom prst="rect">
            <a:avLst/>
          </a:prstGeom>
          <a:noFill/>
          <a:ln/>
        </p:spPr>
        <p:txBody>
          <a:bodyPr wrap="square" lIns="45720" tIns="91440" rIns="91440" bIns="45720" rtlCol="0" anchor="ctr"/>
          <a:lstStyle/>
          <a:p>
            <a:pPr>
              <a:lnSpc>
                <a:spcPct val="100000"/>
              </a:lnSpc>
            </a:pPr>
            <a:endParaRPr lang="en-US" sz="1600" dirty="0"/>
          </a:p>
        </p:txBody>
      </p:sp>
      <p:sp>
        <p:nvSpPr>
          <p:cNvPr id="12" name="Shape 8"/>
          <p:cNvSpPr/>
          <p:nvPr/>
        </p:nvSpPr>
        <p:spPr>
          <a:xfrm>
            <a:off x="5928325" y="3593694"/>
            <a:ext cx="360039" cy="63731"/>
          </a:xfrm>
          <a:prstGeom prst="rect">
            <a:avLst/>
          </a:prstGeom>
          <a:solidFill>
            <a:srgbClr val="C2F5E0"/>
          </a:solidFill>
          <a:ln/>
        </p:spPr>
      </p:sp>
      <p:sp>
        <p:nvSpPr>
          <p:cNvPr id="13" name="Text 9"/>
          <p:cNvSpPr/>
          <p:nvPr/>
        </p:nvSpPr>
        <p:spPr>
          <a:xfrm>
            <a:off x="5928325" y="3593694"/>
            <a:ext cx="360039" cy="63731"/>
          </a:xfrm>
          <a:prstGeom prst="rect">
            <a:avLst/>
          </a:prstGeom>
          <a:noFill/>
          <a:ln/>
        </p:spPr>
        <p:txBody>
          <a:bodyPr wrap="square" lIns="45720" tIns="91440" rIns="91440" bIns="45720" rtlCol="0" anchor="ctr"/>
          <a:lstStyle/>
          <a:p>
            <a:pPr>
              <a:lnSpc>
                <a:spcPct val="100000"/>
              </a:lnSpc>
            </a:pPr>
            <a:endParaRPr lang="en-US" sz="1600" dirty="0"/>
          </a:p>
        </p:txBody>
      </p:sp>
      <p:sp>
        <p:nvSpPr>
          <p:cNvPr id="14" name="Shape 10"/>
          <p:cNvSpPr/>
          <p:nvPr/>
        </p:nvSpPr>
        <p:spPr>
          <a:xfrm rot="10800000">
            <a:off x="9908654" y="4386616"/>
            <a:ext cx="360039" cy="296210"/>
          </a:xfrm>
          <a:prstGeom prst="triangle">
            <a:avLst>
              <a:gd name="adj" fmla="val 50000"/>
            </a:avLst>
          </a:prstGeom>
          <a:solidFill>
            <a:srgbClr val="FFFFFF"/>
          </a:solidFill>
          <a:ln/>
        </p:spPr>
      </p:sp>
      <p:sp>
        <p:nvSpPr>
          <p:cNvPr id="15" name="Text 11"/>
          <p:cNvSpPr/>
          <p:nvPr/>
        </p:nvSpPr>
        <p:spPr>
          <a:xfrm rot="10800000">
            <a:off x="9908654" y="4386616"/>
            <a:ext cx="360039" cy="296210"/>
          </a:xfrm>
          <a:prstGeom prst="rect">
            <a:avLst/>
          </a:prstGeom>
          <a:noFill/>
          <a:ln/>
        </p:spPr>
        <p:txBody>
          <a:bodyPr wrap="square" lIns="45720" tIns="91440" rIns="91440" bIns="45720" rtlCol="0" anchor="ctr"/>
          <a:lstStyle/>
          <a:p>
            <a:pPr>
              <a:lnSpc>
                <a:spcPct val="100000"/>
              </a:lnSpc>
            </a:pPr>
            <a:endParaRPr lang="en-US" sz="1600" dirty="0"/>
          </a:p>
        </p:txBody>
      </p:sp>
      <p:sp>
        <p:nvSpPr>
          <p:cNvPr id="16" name="Shape 12"/>
          <p:cNvSpPr/>
          <p:nvPr/>
        </p:nvSpPr>
        <p:spPr>
          <a:xfrm>
            <a:off x="9908655" y="4221088"/>
            <a:ext cx="360039" cy="63731"/>
          </a:xfrm>
          <a:prstGeom prst="rect">
            <a:avLst/>
          </a:prstGeom>
          <a:solidFill>
            <a:srgbClr val="C2F5E0"/>
          </a:solidFill>
          <a:ln/>
        </p:spPr>
      </p:sp>
      <p:sp>
        <p:nvSpPr>
          <p:cNvPr id="17" name="Text 13"/>
          <p:cNvSpPr/>
          <p:nvPr/>
        </p:nvSpPr>
        <p:spPr>
          <a:xfrm>
            <a:off x="9908655" y="4221088"/>
            <a:ext cx="360039" cy="63731"/>
          </a:xfrm>
          <a:prstGeom prst="rect">
            <a:avLst/>
          </a:prstGeom>
          <a:noFill/>
          <a:ln/>
        </p:spPr>
        <p:txBody>
          <a:bodyPr wrap="square" lIns="45720" tIns="91440" rIns="91440" bIns="45720" rtlCol="0" anchor="ctr"/>
          <a:lstStyle/>
          <a:p>
            <a:pPr>
              <a:lnSpc>
                <a:spcPct val="100000"/>
              </a:lnSpc>
            </a:pPr>
            <a:endParaRPr lang="en-US" sz="1600" dirty="0"/>
          </a:p>
        </p:txBody>
      </p:sp>
      <p:sp>
        <p:nvSpPr>
          <p:cNvPr id="18" name="Text 14"/>
          <p:cNvSpPr/>
          <p:nvPr/>
        </p:nvSpPr>
        <p:spPr>
          <a:xfrm>
            <a:off x="1858496" y="5783053"/>
            <a:ext cx="8352928" cy="706755"/>
          </a:xfrm>
          <a:prstGeom prst="rect">
            <a:avLst/>
          </a:prstGeom>
          <a:noFill/>
          <a:ln/>
        </p:spPr>
        <p:txBody>
          <a:bodyPr wrap="square" lIns="91440" tIns="45720" rIns="91440" bIns="45720" rtlCol="0" anchor="t">
            <a:spAutoFit/>
          </a:bodyPr>
          <a:lstStyle/>
          <a:p>
            <a:pPr algn="ctr">
              <a:lnSpc>
                <a:spcPct val="100000"/>
              </a:lnSpc>
            </a:pPr>
            <a:r>
              <a:rPr lang="en-US" sz="4000" dirty="0">
                <a:solidFill>
                  <a:srgbClr val="FFFFFF"/>
                </a:solidFill>
                <a:latin typeface="Source Han Sans SC Medium" pitchFamily="34" charset="0"/>
                <a:ea typeface="Source Han Sans SC Medium" pitchFamily="34" charset="-122"/>
                <a:cs typeface="Source Han Sans SC Medium" pitchFamily="34" charset="-120"/>
              </a:rPr>
              <a:t>Key Takeaways Recap</a:t>
            </a:r>
            <a:endParaRPr lang="en-US" sz="1600" dirty="0"/>
          </a:p>
        </p:txBody>
      </p:sp>
      <p:sp>
        <p:nvSpPr>
          <p:cNvPr id="19" name="Shape 15"/>
          <p:cNvSpPr/>
          <p:nvPr/>
        </p:nvSpPr>
        <p:spPr>
          <a:xfrm>
            <a:off x="5699956" y="5462750"/>
            <a:ext cx="792088" cy="53532"/>
          </a:xfrm>
          <a:prstGeom prst="rect">
            <a:avLst/>
          </a:prstGeom>
          <a:solidFill>
            <a:srgbClr val="FFFFFF"/>
          </a:solidFill>
          <a:ln/>
        </p:spPr>
      </p:sp>
      <p:sp>
        <p:nvSpPr>
          <p:cNvPr id="20" name="Text 16"/>
          <p:cNvSpPr/>
          <p:nvPr/>
        </p:nvSpPr>
        <p:spPr>
          <a:xfrm>
            <a:off x="5699956" y="5462750"/>
            <a:ext cx="792088" cy="53532"/>
          </a:xfrm>
          <a:prstGeom prst="rect">
            <a:avLst/>
          </a:prstGeom>
          <a:noFill/>
          <a:ln/>
        </p:spPr>
        <p:txBody>
          <a:bodyPr wrap="square" lIns="45720" tIns="91440" rIns="91440" bIns="45720" rtlCol="0" anchor="ctr"/>
          <a:lstStyle/>
          <a:p>
            <a:pPr>
              <a:lnSpc>
                <a:spcPct val="100000"/>
              </a:lnSpc>
            </a:pPr>
            <a:endParaRPr lang="en-US" sz="1600" dirty="0"/>
          </a:p>
        </p:txBody>
      </p:sp>
      <p:sp>
        <p:nvSpPr>
          <p:cNvPr id="21" name="Shape 17"/>
          <p:cNvSpPr/>
          <p:nvPr/>
        </p:nvSpPr>
        <p:spPr>
          <a:xfrm>
            <a:off x="4079776" y="1107270"/>
            <a:ext cx="0" cy="2740316"/>
          </a:xfrm>
          <a:prstGeom prst="straightConnector1">
            <a:avLst/>
          </a:prstGeom>
          <a:noFill/>
          <a:ln w="31750">
            <a:solidFill>
              <a:srgbClr val="C2F5E1">
                <a:alpha val="38824"/>
              </a:srgbClr>
            </a:solidFill>
            <a:prstDash val="solid"/>
            <a:headEnd type="none"/>
            <a:tailEnd type="triangle"/>
          </a:ln>
        </p:spPr>
      </p:sp>
      <p:sp>
        <p:nvSpPr>
          <p:cNvPr id="22" name="Shape 18"/>
          <p:cNvSpPr/>
          <p:nvPr/>
        </p:nvSpPr>
        <p:spPr>
          <a:xfrm>
            <a:off x="8060105" y="963760"/>
            <a:ext cx="0" cy="2740316"/>
          </a:xfrm>
          <a:prstGeom prst="straightConnector1">
            <a:avLst/>
          </a:prstGeom>
          <a:noFill/>
          <a:ln w="31750">
            <a:solidFill>
              <a:srgbClr val="C2F5E1">
                <a:alpha val="38824"/>
              </a:srgbClr>
            </a:solidFill>
            <a:prstDash val="solid"/>
            <a:headEnd type="none"/>
            <a:tailEnd type="triangle"/>
          </a:ln>
        </p:spPr>
      </p:sp>
      <p:pic>
        <p:nvPicPr>
          <p:cNvPr id="23" name="Image 2" descr="https://kimi-img.moonshot.cn/pub/slides/slides_tmpl/image/25-08-27-20:09:11-d2nfapp8bjvh7rlj0ilg.png"/>
          <p:cNvPicPr>
            <a:picLocks noChangeAspect="1"/>
          </p:cNvPicPr>
          <p:nvPr/>
        </p:nvPicPr>
        <p:blipFill>
          <a:blip r:embed="rId5"/>
          <a:stretch>
            <a:fillRect/>
          </a:stretch>
        </p:blipFill>
        <p:spPr>
          <a:xfrm>
            <a:off x="1784985" y="1536700"/>
            <a:ext cx="718185" cy="546100"/>
          </a:xfrm>
          <a:prstGeom prst="rect">
            <a:avLst/>
          </a:prstGeom>
        </p:spPr>
      </p:pic>
      <p:pic>
        <p:nvPicPr>
          <p:cNvPr id="24" name="Image 3" descr="https://kimi-img.moonshot.cn/pub/slides/slides_tmpl/image/25-08-27-20:09:11-d2nfapp8bjvh7rlj0im0.png"/>
          <p:cNvPicPr>
            <a:picLocks noChangeAspect="1"/>
          </p:cNvPicPr>
          <p:nvPr/>
        </p:nvPicPr>
        <p:blipFill>
          <a:blip r:embed="rId6"/>
          <a:stretch>
            <a:fillRect/>
          </a:stretch>
        </p:blipFill>
        <p:spPr>
          <a:xfrm>
            <a:off x="5716270" y="234950"/>
            <a:ext cx="764540" cy="581025"/>
          </a:xfrm>
          <a:prstGeom prst="rect">
            <a:avLst/>
          </a:prstGeom>
        </p:spPr>
      </p:pic>
      <p:pic>
        <p:nvPicPr>
          <p:cNvPr id="25" name="Image 4" descr="https://kimi-img.moonshot.cn/pub/slides/slides_tmpl/image/25-08-27-20:09:11-d2nfapp8bjvh7rlj0img.png"/>
          <p:cNvPicPr>
            <a:picLocks noChangeAspect="1"/>
          </p:cNvPicPr>
          <p:nvPr/>
        </p:nvPicPr>
        <p:blipFill>
          <a:blip r:embed="rId7"/>
          <a:stretch>
            <a:fillRect/>
          </a:stretch>
        </p:blipFill>
        <p:spPr>
          <a:xfrm>
            <a:off x="9665335" y="982980"/>
            <a:ext cx="717550" cy="545465"/>
          </a:xfrm>
          <a:prstGeom prst="rect">
            <a:avLst/>
          </a:prstGeom>
        </p:spPr>
      </p:pic>
      <p:sp>
        <p:nvSpPr>
          <p:cNvPr id="26" name="Text 19"/>
          <p:cNvSpPr/>
          <p:nvPr/>
        </p:nvSpPr>
        <p:spPr>
          <a:xfrm>
            <a:off x="354330" y="2011045"/>
            <a:ext cx="3538220" cy="398780"/>
          </a:xfrm>
          <a:prstGeom prst="rect">
            <a:avLst/>
          </a:prstGeom>
          <a:noFill/>
          <a:ln/>
        </p:spPr>
        <p:txBody>
          <a:bodyPr wrap="square" lIns="91440" tIns="45720" rIns="91440" bIns="45720" rtlCol="0" anchor="t">
            <a:spAutoFit/>
          </a:bodyPr>
          <a:lstStyle/>
          <a:p>
            <a:pPr algn="ctr">
              <a:lnSpc>
                <a:spcPct val="100000"/>
              </a:lnSpc>
            </a:pPr>
            <a:r>
              <a:rPr lang="en-US" sz="2000" dirty="0">
                <a:solidFill>
                  <a:srgbClr val="C2F5E1"/>
                </a:solidFill>
                <a:latin typeface="Source Han Sans SC" pitchFamily="34" charset="0"/>
                <a:ea typeface="Source Han Sans SC" pitchFamily="34" charset="-122"/>
                <a:cs typeface="Source Han Sans SC" pitchFamily="34" charset="-120"/>
              </a:rPr>
              <a:t>Joins</a:t>
            </a:r>
            <a:endParaRPr lang="en-US" sz="1600" dirty="0"/>
          </a:p>
        </p:txBody>
      </p:sp>
      <p:sp>
        <p:nvSpPr>
          <p:cNvPr id="27" name="Text 20"/>
          <p:cNvSpPr/>
          <p:nvPr/>
        </p:nvSpPr>
        <p:spPr>
          <a:xfrm>
            <a:off x="577850" y="2434590"/>
            <a:ext cx="3090545" cy="2061210"/>
          </a:xfrm>
          <a:prstGeom prst="rect">
            <a:avLst/>
          </a:prstGeom>
          <a:noFill/>
          <a:ln/>
        </p:spPr>
        <p:txBody>
          <a:bodyPr wrap="square" lIns="91440" tIns="45720" rIns="91440" bIns="45720" rtlCol="0" anchor="t">
            <a:spAutoFit/>
          </a:bodyPr>
          <a:lstStyle/>
          <a:p>
            <a:pPr>
              <a:lnSpc>
                <a:spcPct val="100000"/>
              </a:lnSpc>
            </a:pPr>
            <a:r>
              <a:rPr lang="en-US" sz="1600" dirty="0">
                <a:solidFill>
                  <a:srgbClr val="FFFFFF"/>
                </a:solidFill>
                <a:latin typeface="Source Han Sans SC Light" pitchFamily="34" charset="0"/>
                <a:ea typeface="Source Han Sans SC Light" pitchFamily="34" charset="-122"/>
                <a:cs typeface="Source Han Sans SC Light" pitchFamily="34" charset="-120"/>
              </a:rPr>
              <a:t>Joins are essential for combining related data from different tables. Each join type serves a specific purpose, allowing you to tailor your queries to your data retrieval needs.</a:t>
            </a:r>
            <a:endParaRPr lang="en-US" sz="1600" dirty="0"/>
          </a:p>
        </p:txBody>
      </p:sp>
      <p:sp>
        <p:nvSpPr>
          <p:cNvPr id="28" name="Text 21"/>
          <p:cNvSpPr/>
          <p:nvPr/>
        </p:nvSpPr>
        <p:spPr>
          <a:xfrm>
            <a:off x="4079875" y="765810"/>
            <a:ext cx="3979545" cy="398780"/>
          </a:xfrm>
          <a:prstGeom prst="rect">
            <a:avLst/>
          </a:prstGeom>
          <a:noFill/>
          <a:ln/>
        </p:spPr>
        <p:txBody>
          <a:bodyPr wrap="square" lIns="91440" tIns="45720" rIns="91440" bIns="45720" rtlCol="0" anchor="t">
            <a:spAutoFit/>
          </a:bodyPr>
          <a:lstStyle/>
          <a:p>
            <a:pPr algn="ctr">
              <a:lnSpc>
                <a:spcPct val="100000"/>
              </a:lnSpc>
            </a:pPr>
            <a:r>
              <a:rPr lang="en-US" sz="2000" dirty="0">
                <a:solidFill>
                  <a:srgbClr val="C2F5E1"/>
                </a:solidFill>
                <a:latin typeface="Source Han Sans SC" pitchFamily="34" charset="0"/>
                <a:ea typeface="Source Han Sans SC" pitchFamily="34" charset="-122"/>
                <a:cs typeface="Source Han Sans SC" pitchFamily="34" charset="-120"/>
              </a:rPr>
              <a:t>Subqueries</a:t>
            </a:r>
            <a:endParaRPr lang="en-US" sz="1600" dirty="0"/>
          </a:p>
        </p:txBody>
      </p:sp>
      <p:sp>
        <p:nvSpPr>
          <p:cNvPr id="29" name="Text 22"/>
          <p:cNvSpPr/>
          <p:nvPr/>
        </p:nvSpPr>
        <p:spPr>
          <a:xfrm>
            <a:off x="4468495" y="1188720"/>
            <a:ext cx="3231515" cy="2061210"/>
          </a:xfrm>
          <a:prstGeom prst="rect">
            <a:avLst/>
          </a:prstGeom>
          <a:noFill/>
          <a:ln/>
        </p:spPr>
        <p:txBody>
          <a:bodyPr wrap="square" lIns="91440" tIns="45720" rIns="91440" bIns="45720" rtlCol="0" anchor="t">
            <a:spAutoFit/>
          </a:bodyPr>
          <a:lstStyle/>
          <a:p>
            <a:pPr>
              <a:lnSpc>
                <a:spcPct val="100000"/>
              </a:lnSpc>
            </a:pPr>
            <a:r>
              <a:rPr lang="en-US" sz="1600" dirty="0">
                <a:solidFill>
                  <a:srgbClr val="FFFFFF"/>
                </a:solidFill>
                <a:latin typeface="Source Han Sans SC Light" pitchFamily="34" charset="0"/>
                <a:ea typeface="Source Han Sans SC Light" pitchFamily="34" charset="-122"/>
                <a:cs typeface="Source Han Sans SC Light" pitchFamily="34" charset="-120"/>
              </a:rPr>
              <a:t>Subqueries enable complex data filtering and calculations by breaking down problems into modular steps. They can be used in various clauses to enhance query functionality.</a:t>
            </a:r>
            <a:endParaRPr lang="en-US" sz="1600" dirty="0"/>
          </a:p>
        </p:txBody>
      </p:sp>
      <p:sp>
        <p:nvSpPr>
          <p:cNvPr id="30" name="Text 23"/>
          <p:cNvSpPr/>
          <p:nvPr/>
        </p:nvSpPr>
        <p:spPr>
          <a:xfrm>
            <a:off x="8275320" y="1451610"/>
            <a:ext cx="3448685" cy="398780"/>
          </a:xfrm>
          <a:prstGeom prst="rect">
            <a:avLst/>
          </a:prstGeom>
          <a:noFill/>
          <a:ln/>
        </p:spPr>
        <p:txBody>
          <a:bodyPr wrap="square" lIns="91440" tIns="45720" rIns="91440" bIns="45720" rtlCol="0" anchor="t">
            <a:spAutoFit/>
          </a:bodyPr>
          <a:lstStyle/>
          <a:p>
            <a:pPr algn="ctr">
              <a:lnSpc>
                <a:spcPct val="100000"/>
              </a:lnSpc>
            </a:pPr>
            <a:r>
              <a:rPr lang="en-US" sz="2000" dirty="0">
                <a:solidFill>
                  <a:srgbClr val="C2F5E1"/>
                </a:solidFill>
                <a:latin typeface="Source Han Sans SC" pitchFamily="34" charset="0"/>
                <a:ea typeface="Source Han Sans SC" pitchFamily="34" charset="-122"/>
                <a:cs typeface="Source Han Sans SC" pitchFamily="34" charset="-120"/>
              </a:rPr>
              <a:t>Hybrid Approaches</a:t>
            </a:r>
            <a:endParaRPr lang="en-US" sz="1600" dirty="0"/>
          </a:p>
        </p:txBody>
      </p:sp>
      <p:sp>
        <p:nvSpPr>
          <p:cNvPr id="31" name="Text 24"/>
          <p:cNvSpPr/>
          <p:nvPr/>
        </p:nvSpPr>
        <p:spPr>
          <a:xfrm>
            <a:off x="8431530" y="1874520"/>
            <a:ext cx="3185160" cy="2061210"/>
          </a:xfrm>
          <a:prstGeom prst="rect">
            <a:avLst/>
          </a:prstGeom>
          <a:noFill/>
          <a:ln/>
        </p:spPr>
        <p:txBody>
          <a:bodyPr wrap="square" lIns="91440" tIns="45720" rIns="91440" bIns="45720" rtlCol="0" anchor="t">
            <a:spAutoFit/>
          </a:bodyPr>
          <a:lstStyle/>
          <a:p>
            <a:pPr>
              <a:lnSpc>
                <a:spcPct val="100000"/>
              </a:lnSpc>
            </a:pPr>
            <a:r>
              <a:rPr lang="en-US" sz="1600" dirty="0">
                <a:solidFill>
                  <a:srgbClr val="FFFFFF"/>
                </a:solidFill>
                <a:latin typeface="Source Han Sans SC Light" pitchFamily="34" charset="0"/>
                <a:ea typeface="Source Han Sans SC Light" pitchFamily="34" charset="-122"/>
                <a:cs typeface="Source Han Sans SC Light" pitchFamily="34" charset="-120"/>
              </a:rPr>
              <a:t>Combining joins and subqueries maximizes flexibility and efficiency in data retrieval. This hybrid approach allows you to tackle advanced analytical tasks with confidence.</a:t>
            </a:r>
            <a:endParaRPr lang="en-US" sz="1600" dirty="0"/>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45608" y="0"/>
            <a:ext cx="2122800" cy="1916832"/>
          </a:xfrm>
          <a:prstGeom prst="rect">
            <a:avLst/>
          </a:prstGeom>
          <a:gradFill flip="none" rotWithShape="1">
            <a:gsLst>
              <a:gs pos="0">
                <a:srgbClr val="9DB4E1"/>
              </a:gs>
              <a:gs pos="100000">
                <a:srgbClr val="C2F5E1"/>
              </a:gs>
            </a:gsLst>
            <a:lin ang="4200000" scaled="1"/>
          </a:gradFill>
          <a:ln/>
        </p:spPr>
      </p:sp>
      <p:sp>
        <p:nvSpPr>
          <p:cNvPr id="3" name="Text 1"/>
          <p:cNvSpPr/>
          <p:nvPr/>
        </p:nvSpPr>
        <p:spPr>
          <a:xfrm>
            <a:off x="7645608" y="0"/>
            <a:ext cx="2122800" cy="1916832"/>
          </a:xfrm>
          <a:prstGeom prst="rect">
            <a:avLst/>
          </a:prstGeom>
          <a:noFill/>
          <a:ln/>
        </p:spPr>
        <p:txBody>
          <a:bodyPr wrap="square" lIns="45720" tIns="91440" rIns="91440" bIns="45720" rtlCol="0" anchor="ctr"/>
          <a:lstStyle/>
          <a:p>
            <a:pPr>
              <a:lnSpc>
                <a:spcPct val="100000"/>
              </a:lnSpc>
            </a:pPr>
            <a:endParaRPr lang="en-US" sz="1600" dirty="0"/>
          </a:p>
        </p:txBody>
      </p:sp>
      <p:sp>
        <p:nvSpPr>
          <p:cNvPr id="4" name="Text 2"/>
          <p:cNvSpPr/>
          <p:nvPr/>
        </p:nvSpPr>
        <p:spPr>
          <a:xfrm>
            <a:off x="583905" y="1180673"/>
            <a:ext cx="3956100" cy="1477328"/>
          </a:xfrm>
          <a:prstGeom prst="rect">
            <a:avLst/>
          </a:prstGeom>
          <a:noFill/>
          <a:ln/>
        </p:spPr>
        <p:txBody>
          <a:bodyPr wrap="square" lIns="91440" tIns="45720" rIns="91440" bIns="45720" rtlCol="0" anchor="t">
            <a:spAutoFit/>
          </a:bodyPr>
          <a:lstStyle/>
          <a:p>
            <a:pPr>
              <a:lnSpc>
                <a:spcPct val="100000"/>
              </a:lnSpc>
            </a:pPr>
            <a:r>
              <a:rPr lang="en-US" sz="3600" dirty="0">
                <a:solidFill>
                  <a:srgbClr val="000000"/>
                </a:solidFill>
                <a:latin typeface="Source Han Sans SC" pitchFamily="34" charset="0"/>
                <a:ea typeface="Source Han Sans SC" pitchFamily="34" charset="-122"/>
                <a:cs typeface="Source Han Sans SC" pitchFamily="34" charset="-120"/>
              </a:rPr>
              <a:t>Open Q&amp;A Session</a:t>
            </a:r>
            <a:endParaRPr lang="en-US" sz="1600" dirty="0"/>
          </a:p>
        </p:txBody>
      </p:sp>
      <p:pic>
        <p:nvPicPr>
          <p:cNvPr id="5" name="Image 0" descr="https://kimi-img.moonshot.cn/pub/slides/slides_tmpl/image/25-08-27-20:09:09-d2nfap98bjvh7rlj0ig0.jpg"/>
          <p:cNvPicPr>
            <a:picLocks noChangeAspect="1"/>
          </p:cNvPicPr>
          <p:nvPr/>
        </p:nvPicPr>
        <p:blipFill>
          <a:blip r:embed="rId3"/>
          <a:stretch>
            <a:fillRect/>
          </a:stretch>
        </p:blipFill>
        <p:spPr>
          <a:xfrm>
            <a:off x="7994729" y="1081968"/>
            <a:ext cx="3501871" cy="5261026"/>
          </a:xfrm>
          <a:prstGeom prst="rect">
            <a:avLst/>
          </a:prstGeom>
        </p:spPr>
      </p:pic>
      <p:sp>
        <p:nvSpPr>
          <p:cNvPr id="6" name="Shape 3"/>
          <p:cNvSpPr/>
          <p:nvPr/>
        </p:nvSpPr>
        <p:spPr>
          <a:xfrm>
            <a:off x="10776520" y="4784347"/>
            <a:ext cx="723458" cy="1574168"/>
          </a:xfrm>
          <a:prstGeom prst="rect">
            <a:avLst/>
          </a:prstGeom>
          <a:gradFill flip="none" rotWithShape="1">
            <a:gsLst>
              <a:gs pos="0">
                <a:srgbClr val="C2F5E1"/>
              </a:gs>
              <a:gs pos="28000">
                <a:srgbClr val="C2F5E1"/>
              </a:gs>
              <a:gs pos="100000">
                <a:srgbClr val="9DB4E1"/>
              </a:gs>
            </a:gsLst>
            <a:lin ang="2400000" scaled="1"/>
          </a:gradFill>
          <a:ln/>
        </p:spPr>
      </p:sp>
      <p:sp>
        <p:nvSpPr>
          <p:cNvPr id="7" name="Text 4"/>
          <p:cNvSpPr/>
          <p:nvPr/>
        </p:nvSpPr>
        <p:spPr>
          <a:xfrm>
            <a:off x="10776520" y="4784347"/>
            <a:ext cx="723458" cy="1574168"/>
          </a:xfrm>
          <a:prstGeom prst="rect">
            <a:avLst/>
          </a:prstGeom>
          <a:noFill/>
          <a:ln/>
        </p:spPr>
        <p:txBody>
          <a:bodyPr wrap="square" lIns="45720" tIns="91440" rIns="91440" bIns="45720" rtlCol="0" anchor="ctr"/>
          <a:lstStyle/>
          <a:p>
            <a:pPr>
              <a:lnSpc>
                <a:spcPct val="100000"/>
              </a:lnSpc>
            </a:pPr>
            <a:endParaRPr lang="en-US" sz="1600" dirty="0"/>
          </a:p>
        </p:txBody>
      </p:sp>
      <p:sp>
        <p:nvSpPr>
          <p:cNvPr id="8" name="Text 5"/>
          <p:cNvSpPr/>
          <p:nvPr/>
        </p:nvSpPr>
        <p:spPr>
          <a:xfrm>
            <a:off x="693385" y="2907605"/>
            <a:ext cx="6482735" cy="400110"/>
          </a:xfrm>
          <a:prstGeom prst="rect">
            <a:avLst/>
          </a:prstGeom>
          <a:noFill/>
          <a:ln/>
        </p:spPr>
        <p:txBody>
          <a:bodyPr wrap="square" lIns="91440" tIns="45720" rIns="91440" bIns="45720" rtlCol="0" anchor="b">
            <a:spAutoFit/>
          </a:bodyPr>
          <a:lstStyle/>
          <a:p>
            <a:pPr>
              <a:lnSpc>
                <a:spcPct val="100000"/>
              </a:lnSpc>
            </a:pPr>
            <a:r>
              <a:rPr lang="en-US" sz="2000" dirty="0">
                <a:solidFill>
                  <a:srgbClr val="000000"/>
                </a:solidFill>
                <a:latin typeface="Source Han Sans SC" pitchFamily="34" charset="0"/>
                <a:ea typeface="Source Han Sans SC" pitchFamily="34" charset="-122"/>
                <a:cs typeface="Source Han Sans SC" pitchFamily="34" charset="-120"/>
              </a:rPr>
              <a:t>Invitation</a:t>
            </a:r>
            <a:endParaRPr lang="en-US" sz="1600" dirty="0"/>
          </a:p>
        </p:txBody>
      </p:sp>
      <p:sp>
        <p:nvSpPr>
          <p:cNvPr id="9" name="Text 6"/>
          <p:cNvSpPr/>
          <p:nvPr/>
        </p:nvSpPr>
        <p:spPr>
          <a:xfrm>
            <a:off x="693385" y="3435091"/>
            <a:ext cx="3324607" cy="2584450"/>
          </a:xfrm>
          <a:prstGeom prst="rect">
            <a:avLst/>
          </a:prstGeom>
          <a:noFill/>
          <a:ln/>
        </p:spPr>
        <p:txBody>
          <a:bodyPr wrap="square" lIns="91440" tIns="45720" rIns="91440" bIns="45720" rtlCol="0" anchor="t">
            <a:spAutoFit/>
          </a:bodyPr>
          <a:lstStyle/>
          <a:p>
            <a:pPr>
              <a:lnSpc>
                <a:spcPct val="100000"/>
              </a:lnSpc>
            </a:pPr>
            <a:r>
              <a:rPr lang="en-US" sz="1800" dirty="0">
                <a:solidFill>
                  <a:srgbClr val="000000"/>
                </a:solidFill>
                <a:latin typeface="Source Han Sans SC Normal" pitchFamily="34" charset="0"/>
                <a:ea typeface="Source Han Sans SC Normal" pitchFamily="34" charset="-122"/>
                <a:cs typeface="Source Han Sans SC Normal" pitchFamily="34" charset="-120"/>
              </a:rPr>
              <a:t>The floor is now open for any questions or clarifications on joins, subqueries, or any other topics covered today. Feel free to ask about syntax, use cases, or performance considerations.</a:t>
            </a:r>
            <a:endParaRPr lang="en-US" sz="1600" dirty="0"/>
          </a:p>
        </p:txBody>
      </p:sp>
      <p:sp>
        <p:nvSpPr>
          <p:cNvPr id="10" name="Text 7"/>
          <p:cNvSpPr/>
          <p:nvPr/>
        </p:nvSpPr>
        <p:spPr>
          <a:xfrm>
            <a:off x="4321175" y="2902585"/>
            <a:ext cx="3612515" cy="405130"/>
          </a:xfrm>
          <a:prstGeom prst="rect">
            <a:avLst/>
          </a:prstGeom>
          <a:noFill/>
          <a:ln/>
        </p:spPr>
        <p:txBody>
          <a:bodyPr wrap="square" lIns="91440" tIns="45720" rIns="91440" bIns="45720" rtlCol="0" anchor="b"/>
          <a:lstStyle/>
          <a:p>
            <a:pPr>
              <a:lnSpc>
                <a:spcPct val="100000"/>
              </a:lnSpc>
            </a:pPr>
            <a:r>
              <a:rPr lang="en-US" sz="2000" dirty="0">
                <a:solidFill>
                  <a:srgbClr val="000000"/>
                </a:solidFill>
                <a:latin typeface="Source Han Sans SC" pitchFamily="34" charset="0"/>
                <a:ea typeface="Source Han Sans SC" pitchFamily="34" charset="-122"/>
                <a:cs typeface="Source Han Sans SC" pitchFamily="34" charset="-120"/>
              </a:rPr>
              <a:t>Addressing Concerns</a:t>
            </a:r>
            <a:endParaRPr lang="en-US" sz="1600" dirty="0"/>
          </a:p>
        </p:txBody>
      </p:sp>
      <p:sp>
        <p:nvSpPr>
          <p:cNvPr id="11" name="Text 8"/>
          <p:cNvSpPr/>
          <p:nvPr/>
        </p:nvSpPr>
        <p:spPr>
          <a:xfrm>
            <a:off x="4299411" y="3435091"/>
            <a:ext cx="3324607" cy="2584450"/>
          </a:xfrm>
          <a:prstGeom prst="rect">
            <a:avLst/>
          </a:prstGeom>
          <a:noFill/>
          <a:ln/>
        </p:spPr>
        <p:txBody>
          <a:bodyPr wrap="square" lIns="91440" tIns="45720" rIns="91440" bIns="45720" rtlCol="0" anchor="t">
            <a:spAutoFit/>
          </a:bodyPr>
          <a:lstStyle/>
          <a:p>
            <a:pPr>
              <a:lnSpc>
                <a:spcPct val="100000"/>
              </a:lnSpc>
            </a:pPr>
            <a:r>
              <a:rPr lang="en-US" sz="1800" dirty="0">
                <a:solidFill>
                  <a:srgbClr val="000000"/>
                </a:solidFill>
                <a:latin typeface="Source Han Sans SC Normal" pitchFamily="34" charset="0"/>
                <a:ea typeface="Source Han Sans SC Normal" pitchFamily="34" charset="-122"/>
                <a:cs typeface="Source Han Sans SC Normal" pitchFamily="34" charset="-120"/>
              </a:rPr>
              <a:t>We will address common points of confusion and provide deeper insights to ensure you have a solid understanding before moving on to tomorrow’s lesson.</a:t>
            </a:r>
            <a:endParaRPr lang="en-US" sz="1600" dirty="0"/>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63029" y="2857957"/>
            <a:ext cx="7856480" cy="3146642"/>
          </a:xfrm>
          <a:prstGeom prst="rect">
            <a:avLst/>
          </a:prstGeom>
          <a:solidFill>
            <a:srgbClr val="161616"/>
          </a:solidFill>
          <a:ln/>
        </p:spPr>
      </p:sp>
      <p:sp>
        <p:nvSpPr>
          <p:cNvPr id="3" name="Text 1"/>
          <p:cNvSpPr/>
          <p:nvPr/>
        </p:nvSpPr>
        <p:spPr>
          <a:xfrm>
            <a:off x="3263029" y="2857957"/>
            <a:ext cx="7856480" cy="3146642"/>
          </a:xfrm>
          <a:prstGeom prst="rect">
            <a:avLst/>
          </a:prstGeom>
          <a:noFill/>
          <a:ln/>
        </p:spPr>
        <p:txBody>
          <a:bodyPr wrap="square" lIns="45720" tIns="91440" rIns="91440" bIns="45720" rtlCol="0" anchor="ctr"/>
          <a:lstStyle/>
          <a:p>
            <a:pPr>
              <a:lnSpc>
                <a:spcPct val="100000"/>
              </a:lnSpc>
            </a:pPr>
            <a:endParaRPr lang="en-US" sz="1600" dirty="0"/>
          </a:p>
        </p:txBody>
      </p:sp>
      <p:sp>
        <p:nvSpPr>
          <p:cNvPr id="4" name="Text 2"/>
          <p:cNvSpPr/>
          <p:nvPr/>
        </p:nvSpPr>
        <p:spPr>
          <a:xfrm>
            <a:off x="975815" y="548406"/>
            <a:ext cx="8231218" cy="923330"/>
          </a:xfrm>
          <a:prstGeom prst="rect">
            <a:avLst/>
          </a:prstGeom>
          <a:noFill/>
          <a:ln/>
        </p:spPr>
        <p:txBody>
          <a:bodyPr wrap="square" lIns="91440" tIns="45720" rIns="91440" bIns="45720" rtlCol="0" anchor="t">
            <a:spAutoFit/>
          </a:bodyPr>
          <a:lstStyle/>
          <a:p>
            <a:pPr>
              <a:lnSpc>
                <a:spcPct val="100000"/>
              </a:lnSpc>
            </a:pPr>
            <a:r>
              <a:rPr lang="en-US" sz="3600" dirty="0">
                <a:solidFill>
                  <a:srgbClr val="000000"/>
                </a:solidFill>
                <a:latin typeface="Source Han Sans SC" pitchFamily="34" charset="0"/>
                <a:ea typeface="Source Han Sans SC" pitchFamily="34" charset="-122"/>
                <a:cs typeface="Source Han Sans SC" pitchFamily="34" charset="-120"/>
              </a:rPr>
              <a:t>Tomorrow Normalization Awaits</a:t>
            </a:r>
            <a:endParaRPr lang="en-US" sz="1600" dirty="0"/>
          </a:p>
        </p:txBody>
      </p:sp>
      <p:pic>
        <p:nvPicPr>
          <p:cNvPr id="5" name="Image 0" descr="https://kimi-img.moonshot.cn/pub/slides/slides_tmpl/image/25-08-27-20:09:07-d2nfaop8bjvh7rlj0i90.jpg"/>
          <p:cNvPicPr>
            <a:picLocks noChangeAspect="1"/>
          </p:cNvPicPr>
          <p:nvPr/>
        </p:nvPicPr>
        <p:blipFill>
          <a:blip r:embed="rId3"/>
          <a:srcRect/>
          <a:stretch/>
        </p:blipFill>
        <p:spPr>
          <a:xfrm>
            <a:off x="1085392" y="2857957"/>
            <a:ext cx="3582356" cy="3146642"/>
          </a:xfrm>
          <a:prstGeom prst="rect">
            <a:avLst/>
          </a:prstGeom>
        </p:spPr>
      </p:pic>
      <p:sp>
        <p:nvSpPr>
          <p:cNvPr id="6" name="Shape 3"/>
          <p:cNvSpPr/>
          <p:nvPr/>
        </p:nvSpPr>
        <p:spPr>
          <a:xfrm>
            <a:off x="10446432" y="2852936"/>
            <a:ext cx="690128" cy="559777"/>
          </a:xfrm>
          <a:prstGeom prst="rect">
            <a:avLst/>
          </a:prstGeom>
          <a:solidFill>
            <a:srgbClr val="9DB4E0"/>
          </a:solidFill>
          <a:ln/>
        </p:spPr>
      </p:sp>
      <p:sp>
        <p:nvSpPr>
          <p:cNvPr id="7" name="Text 4"/>
          <p:cNvSpPr/>
          <p:nvPr/>
        </p:nvSpPr>
        <p:spPr>
          <a:xfrm>
            <a:off x="10446432" y="2852936"/>
            <a:ext cx="690128" cy="559777"/>
          </a:xfrm>
          <a:prstGeom prst="rect">
            <a:avLst/>
          </a:prstGeom>
          <a:noFill/>
          <a:ln/>
        </p:spPr>
        <p:txBody>
          <a:bodyPr wrap="square" lIns="45720" tIns="91440" rIns="91440" bIns="45720" rtlCol="0" anchor="ctr"/>
          <a:lstStyle/>
          <a:p>
            <a:pPr>
              <a:lnSpc>
                <a:spcPct val="100000"/>
              </a:lnSpc>
            </a:pPr>
            <a:endParaRPr lang="en-US" sz="1600" dirty="0"/>
          </a:p>
        </p:txBody>
      </p:sp>
      <p:sp>
        <p:nvSpPr>
          <p:cNvPr id="8" name="Shape 5"/>
          <p:cNvSpPr/>
          <p:nvPr/>
        </p:nvSpPr>
        <p:spPr>
          <a:xfrm>
            <a:off x="10632504" y="3140968"/>
            <a:ext cx="288032" cy="0"/>
          </a:xfrm>
          <a:prstGeom prst="straightConnector1">
            <a:avLst/>
          </a:prstGeom>
          <a:noFill/>
          <a:ln w="19050">
            <a:solidFill>
              <a:srgbClr val="000000"/>
            </a:solidFill>
            <a:prstDash val="solid"/>
            <a:headEnd type="none"/>
            <a:tailEnd type="triangle"/>
          </a:ln>
        </p:spPr>
      </p:sp>
      <p:sp>
        <p:nvSpPr>
          <p:cNvPr id="9" name="Text 6"/>
          <p:cNvSpPr/>
          <p:nvPr/>
        </p:nvSpPr>
        <p:spPr>
          <a:xfrm>
            <a:off x="4835525" y="3573145"/>
            <a:ext cx="5861050" cy="460375"/>
          </a:xfrm>
          <a:prstGeom prst="rect">
            <a:avLst/>
          </a:prstGeom>
          <a:noFill/>
          <a:ln/>
        </p:spPr>
        <p:txBody>
          <a:bodyPr wrap="square" lIns="91440" tIns="45720" rIns="91440" bIns="45720" rtlCol="0" anchor="t">
            <a:spAutoFit/>
          </a:bodyPr>
          <a:lstStyle/>
          <a:p>
            <a:pPr>
              <a:lnSpc>
                <a:spcPct val="100000"/>
              </a:lnSpc>
            </a:pPr>
            <a:r>
              <a:rPr lang="en-US" sz="2400" dirty="0">
                <a:solidFill>
                  <a:srgbClr val="FFFFFF"/>
                </a:solidFill>
                <a:latin typeface="Source Han Sans SC" pitchFamily="34" charset="0"/>
                <a:ea typeface="Source Han Sans SC" pitchFamily="34" charset="-122"/>
                <a:cs typeface="Source Han Sans SC" pitchFamily="34" charset="-120"/>
              </a:rPr>
              <a:t>Preview</a:t>
            </a:r>
            <a:endParaRPr lang="en-US" sz="1600" dirty="0"/>
          </a:p>
        </p:txBody>
      </p:sp>
      <p:sp>
        <p:nvSpPr>
          <p:cNvPr id="10" name="Text 7"/>
          <p:cNvSpPr/>
          <p:nvPr/>
        </p:nvSpPr>
        <p:spPr>
          <a:xfrm>
            <a:off x="4835525" y="4335145"/>
            <a:ext cx="5915660" cy="1076325"/>
          </a:xfrm>
          <a:prstGeom prst="rect">
            <a:avLst/>
          </a:prstGeom>
          <a:noFill/>
          <a:ln/>
        </p:spPr>
        <p:txBody>
          <a:bodyPr wrap="square" lIns="91440" tIns="45720" rIns="91440" bIns="45720" rtlCol="0" anchor="t">
            <a:spAutoFit/>
          </a:bodyPr>
          <a:lstStyle/>
          <a:p>
            <a:pPr>
              <a:lnSpc>
                <a:spcPct val="100000"/>
              </a:lnSpc>
            </a:pPr>
            <a:r>
              <a:rPr lang="en-US" sz="1600" dirty="0">
                <a:solidFill>
                  <a:srgbClr val="FFFFFF"/>
                </a:solidFill>
                <a:latin typeface="Source Han Sans SC Normal" pitchFamily="34" charset="0"/>
                <a:ea typeface="Source Han Sans SC Normal" pitchFamily="34" charset="-122"/>
                <a:cs typeface="Source Han Sans SC Normal" pitchFamily="34" charset="-120"/>
              </a:rPr>
              <a:t>Tomorrow, we will delve into database normalization and best practices for efficient database design. This will elevate your understanding of how to structure data to minimize redundancy and improve query performance.</a:t>
            </a:r>
            <a:endParaRPr lang="en-US" sz="1600" dirty="0"/>
          </a:p>
        </p:txBody>
      </p:sp>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6941127"/>
          </a:xfrm>
          <a:prstGeom prst="rect">
            <a:avLst/>
          </a:prstGeom>
          <a:solidFill>
            <a:srgbClr val="161616"/>
          </a:solidFill>
          <a:ln/>
        </p:spPr>
      </p:sp>
      <p:sp>
        <p:nvSpPr>
          <p:cNvPr id="3" name="Text 1"/>
          <p:cNvSpPr/>
          <p:nvPr/>
        </p:nvSpPr>
        <p:spPr>
          <a:xfrm>
            <a:off x="0" y="0"/>
            <a:ext cx="12192000" cy="6941127"/>
          </a:xfrm>
          <a:prstGeom prst="rect">
            <a:avLst/>
          </a:prstGeom>
          <a:noFill/>
          <a:ln/>
        </p:spPr>
        <p:txBody>
          <a:bodyPr wrap="square" lIns="45720" tIns="91440" rIns="91440" bIns="45720" rtlCol="0" anchor="ctr"/>
          <a:lstStyle/>
          <a:p>
            <a:pPr>
              <a:lnSpc>
                <a:spcPct val="100000"/>
              </a:lnSpc>
            </a:pPr>
            <a:endParaRPr lang="en-US" sz="1600" dirty="0"/>
          </a:p>
        </p:txBody>
      </p:sp>
      <p:pic>
        <p:nvPicPr>
          <p:cNvPr id="4" name="Image 0" descr="https://kimi-img.moonshot.cn/pub/slides/slides_tmpl/image/25-08-27-20:09:12-d2nfaq18bjvh7rlj0is0.jpeg"/>
          <p:cNvPicPr>
            <a:picLocks noChangeAspect="1"/>
          </p:cNvPicPr>
          <p:nvPr/>
        </p:nvPicPr>
        <p:blipFill>
          <a:blip r:embed="rId3"/>
          <a:stretch>
            <a:fillRect/>
          </a:stretch>
        </p:blipFill>
        <p:spPr>
          <a:xfrm>
            <a:off x="4388617" y="1561401"/>
            <a:ext cx="4553512" cy="3552547"/>
          </a:xfrm>
          <a:prstGeom prst="rect">
            <a:avLst/>
          </a:prstGeom>
        </p:spPr>
      </p:pic>
      <p:pic>
        <p:nvPicPr>
          <p:cNvPr id="5" name="Image 1" descr="https://kimi-img.moonshot.cn/pub/slides/slides_tmpl/image/25-08-27-20:09:12-d2nfaq18bjvh7rlj0isg.jpeg"/>
          <p:cNvPicPr>
            <a:picLocks noChangeAspect="1"/>
          </p:cNvPicPr>
          <p:nvPr/>
        </p:nvPicPr>
        <p:blipFill>
          <a:blip r:embed="rId4"/>
          <a:srcRect/>
          <a:stretch/>
        </p:blipFill>
        <p:spPr>
          <a:xfrm>
            <a:off x="9103121" y="1561401"/>
            <a:ext cx="2434092" cy="2408626"/>
          </a:xfrm>
          <a:prstGeom prst="rect">
            <a:avLst/>
          </a:prstGeom>
        </p:spPr>
      </p:pic>
      <p:sp>
        <p:nvSpPr>
          <p:cNvPr id="6" name="Shape 2"/>
          <p:cNvSpPr/>
          <p:nvPr/>
        </p:nvSpPr>
        <p:spPr>
          <a:xfrm>
            <a:off x="1884213" y="3119957"/>
            <a:ext cx="363255" cy="363255"/>
          </a:xfrm>
          <a:prstGeom prst="ellipse">
            <a:avLst/>
          </a:prstGeom>
          <a:solidFill>
            <a:srgbClr val="000000">
              <a:alpha val="0"/>
            </a:srgbClr>
          </a:solidFill>
          <a:ln w="19050">
            <a:solidFill>
              <a:srgbClr val="FFFFFF"/>
            </a:solidFill>
            <a:prstDash val="solid"/>
          </a:ln>
        </p:spPr>
      </p:sp>
      <p:sp>
        <p:nvSpPr>
          <p:cNvPr id="7" name="Text 3"/>
          <p:cNvSpPr/>
          <p:nvPr/>
        </p:nvSpPr>
        <p:spPr>
          <a:xfrm>
            <a:off x="1884213" y="3119957"/>
            <a:ext cx="363255" cy="363255"/>
          </a:xfrm>
          <a:prstGeom prst="rect">
            <a:avLst/>
          </a:prstGeom>
          <a:noFill/>
          <a:ln/>
        </p:spPr>
        <p:txBody>
          <a:bodyPr wrap="square" lIns="45720" tIns="91440" rIns="91440" bIns="45720" rtlCol="0" anchor="ctr"/>
          <a:lstStyle/>
          <a:p>
            <a:pPr>
              <a:lnSpc>
                <a:spcPct val="100000"/>
              </a:lnSpc>
            </a:pPr>
            <a:endParaRPr lang="en-US" sz="1600" dirty="0"/>
          </a:p>
        </p:txBody>
      </p:sp>
      <p:sp>
        <p:nvSpPr>
          <p:cNvPr id="8" name="Shape 4"/>
          <p:cNvSpPr/>
          <p:nvPr/>
        </p:nvSpPr>
        <p:spPr>
          <a:xfrm>
            <a:off x="2147610" y="3138745"/>
            <a:ext cx="325677" cy="325677"/>
          </a:xfrm>
          <a:prstGeom prst="ellipse">
            <a:avLst/>
          </a:prstGeom>
          <a:solidFill>
            <a:srgbClr val="C2F4E0"/>
          </a:solidFill>
          <a:ln/>
        </p:spPr>
      </p:sp>
      <p:sp>
        <p:nvSpPr>
          <p:cNvPr id="9" name="Text 5"/>
          <p:cNvSpPr/>
          <p:nvPr/>
        </p:nvSpPr>
        <p:spPr>
          <a:xfrm>
            <a:off x="2147610" y="3138745"/>
            <a:ext cx="325677" cy="325677"/>
          </a:xfrm>
          <a:prstGeom prst="rect">
            <a:avLst/>
          </a:prstGeom>
          <a:noFill/>
          <a:ln/>
        </p:spPr>
        <p:txBody>
          <a:bodyPr wrap="square" lIns="45720" tIns="91440" rIns="91440" bIns="45720" rtlCol="0" anchor="ctr"/>
          <a:lstStyle/>
          <a:p>
            <a:pPr>
              <a:lnSpc>
                <a:spcPct val="100000"/>
              </a:lnSpc>
            </a:pPr>
            <a:endParaRPr lang="en-US" sz="1600" dirty="0"/>
          </a:p>
        </p:txBody>
      </p:sp>
      <p:sp>
        <p:nvSpPr>
          <p:cNvPr id="10" name="Shape 6"/>
          <p:cNvSpPr/>
          <p:nvPr/>
        </p:nvSpPr>
        <p:spPr>
          <a:xfrm>
            <a:off x="2209989" y="3287890"/>
            <a:ext cx="225819" cy="1819"/>
          </a:xfrm>
          <a:prstGeom prst="straightConnector1">
            <a:avLst/>
          </a:prstGeom>
          <a:noFill/>
          <a:ln w="12700">
            <a:solidFill>
              <a:srgbClr val="262626"/>
            </a:solidFill>
            <a:prstDash val="solid"/>
            <a:headEnd type="none"/>
            <a:tailEnd type="triangle"/>
          </a:ln>
        </p:spPr>
      </p:sp>
      <p:pic>
        <p:nvPicPr>
          <p:cNvPr id="11" name="Image 2" descr="https://kimi-img.moonshot.cn/pub/slides/slides_tmpl/image/25-08-27-20:09:13-d2nfaq98bjvh7rlj0it0.png"/>
          <p:cNvPicPr>
            <a:picLocks noChangeAspect="1"/>
          </p:cNvPicPr>
          <p:nvPr/>
        </p:nvPicPr>
        <p:blipFill>
          <a:blip r:embed="rId5"/>
          <a:srcRect r="29701" b="29746"/>
          <a:stretch/>
        </p:blipFill>
        <p:spPr>
          <a:xfrm>
            <a:off x="654685" y="1670685"/>
            <a:ext cx="8178063" cy="3702743"/>
          </a:xfrm>
          <a:prstGeom prst="rect">
            <a:avLst/>
          </a:prstGeom>
        </p:spPr>
      </p:pic>
      <p:sp>
        <p:nvSpPr>
          <p:cNvPr id="12" name="Text 7"/>
          <p:cNvSpPr/>
          <p:nvPr/>
        </p:nvSpPr>
        <p:spPr>
          <a:xfrm>
            <a:off x="524237" y="5373975"/>
            <a:ext cx="2254685" cy="398780"/>
          </a:xfrm>
          <a:prstGeom prst="rect">
            <a:avLst/>
          </a:prstGeom>
          <a:noFill/>
          <a:ln/>
        </p:spPr>
        <p:txBody>
          <a:bodyPr wrap="square" lIns="91440" tIns="45720" rIns="91440" bIns="45720" rtlCol="0" anchor="t">
            <a:spAutoFit/>
          </a:bodyPr>
          <a:lstStyle/>
          <a:p>
            <a:pPr>
              <a:lnSpc>
                <a:spcPct val="100000"/>
              </a:lnSpc>
            </a:pPr>
            <a:r>
              <a:rPr lang="en-US" sz="2000">
                <a:solidFill>
                  <a:srgbClr val="FFFFFF"/>
                </a:solidFill>
                <a:latin typeface="Source Han Sans SC" pitchFamily="34" charset="0"/>
                <a:ea typeface="Source Han Sans SC" pitchFamily="34" charset="-122"/>
                <a:cs typeface="Source Han Sans SC" pitchFamily="34" charset="-120"/>
              </a:rPr>
              <a:t>Sean Wong</a:t>
            </a:r>
            <a:endParaRPr lang="en-US" sz="1600" dirty="0"/>
          </a:p>
        </p:txBody>
      </p:sp>
      <p:sp>
        <p:nvSpPr>
          <p:cNvPr id="13" name="Text 8"/>
          <p:cNvSpPr/>
          <p:nvPr/>
        </p:nvSpPr>
        <p:spPr>
          <a:xfrm>
            <a:off x="548274" y="5750335"/>
            <a:ext cx="4323764" cy="398780"/>
          </a:xfrm>
          <a:prstGeom prst="rect">
            <a:avLst/>
          </a:prstGeom>
          <a:noFill/>
          <a:ln/>
        </p:spPr>
        <p:txBody>
          <a:bodyPr wrap="square" lIns="91440" tIns="45720" rIns="91440" bIns="45720" rtlCol="0" anchor="t">
            <a:spAutoFit/>
          </a:bodyPr>
          <a:lstStyle/>
          <a:p>
            <a:pPr>
              <a:lnSpc>
                <a:spcPct val="100000"/>
              </a:lnSpc>
            </a:pPr>
            <a:r>
              <a:rPr lang="en-US" sz="2000" dirty="0">
                <a:solidFill>
                  <a:srgbClr val="FFFFFF"/>
                </a:solidFill>
                <a:latin typeface="Source Han Sans SC" pitchFamily="34" charset="0"/>
                <a:ea typeface="Source Han Sans SC" pitchFamily="34" charset="-122"/>
                <a:cs typeface="Source Han Sans SC" pitchFamily="34" charset="-120"/>
              </a:rPr>
              <a:t>2025/08/04</a:t>
            </a:r>
            <a:endParaRPr lang="en-US" sz="1600" dirty="0"/>
          </a:p>
        </p:txBody>
      </p:sp>
    </p:spTree>
  </p:cSld>
  <p:clrMapOvr>
    <a:masterClrMapping/>
  </p:clrMapOvr>
  <p:transition>
    <p:fade/>
  </p:transition>
</p:sld>
</file>

<file path=ppt/theme/theme1.xml><?xml version="1.0" encoding="utf-8"?>
<a:theme xmlns:a="http://schemas.openxmlformats.org/drawingml/2006/main" name="Custom Theme">
  <a:themeElements>
    <a:clrScheme name="Custom">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1552</Words>
  <Application>Microsoft Office PowerPoint</Application>
  <PresentationFormat>Widescreen</PresentationFormat>
  <Paragraphs>153</Paragraphs>
  <Slides>25</Slides>
  <Notes>25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Source Han Sans SC</vt:lpstr>
      <vt:lpstr>Source Han Sans SC Light</vt:lpstr>
      <vt:lpstr>Source Han Sans SC Medium</vt:lpstr>
      <vt:lpstr>Source Han Sans SC Normal</vt:lpstr>
      <vt:lpstr>Arial</vt:lpstr>
      <vt:lpstr>Custom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MySQL Day 4: Joins &amp; Subqueries</dc:title>
  <dc:subject>MySQL Day 4: Joins &amp; Subqueries</dc:subject>
  <dc:creator>Kimi</dc:creator>
  <cp:lastModifiedBy>Sean</cp:lastModifiedBy>
  <cp:revision>2</cp:revision>
  <dcterms:created xsi:type="dcterms:W3CDTF">2025-12-05T05:22:09Z</dcterms:created>
  <dcterms:modified xsi:type="dcterms:W3CDTF">2025-12-05T05:26:10Z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{"Label":"MySQL Day 4: Joins &amp; Subqueries","ContentProducer":"001191110108MACG2KBH8F10000","ProduceID":"d4p6n4e1bb2hfqmh1bng","ReservedCode1":"","ContentPropagator":"001191110108MACG2KBH8F20000","PropagateID":"d4p6n4e1bb2hfqmh1bng","ReservedCode2":""}</vt:lpwstr>
  </property>
</Properties>
</file>